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7" Type="http://schemas.openxmlformats.org/officeDocument/2006/relationships/slide" Target="slides/slide7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3" Type="http://schemas.openxmlformats.org/officeDocument/2006/relationships/notesMaster" Target="notesMasters/notesMaster1.xml" /><Relationship Id="rId15" Type="http://schemas.openxmlformats.org/officeDocument/2006/relationships/tableStyles" Target="tableStyles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9" Type="http://schemas.openxmlformats.org/officeDocument/2006/relationships/slide" Target="slides/slide9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58px', padding: '22px 80px', backgroundColor: '#F0F5FC', flexDirection: 'row', justifyContent: 'space-between', alignItems: 'center' }}&gt;&#10;        &lt;Text style={{ fontSize: 20, color: '#1A2230' }}&gt;汇报人：×××　×××　　指导教师：×××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5000625"/>
            <a:ext cx="12192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5210175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汇报人：×××　×××　　指导教师：×××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5210175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17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摘要&lt;/Text&gt;&#10;        &lt;Text style={{ fontSize: 15, color: '#8B97A8' }}&gt;02 / 12&lt;/Text&gt;&#10;    &lt;/Box&gt;&#10;    &lt;Box style={{ padding: '20px 40px 0px 40px', flexDirection: 'column', gap: 13 }}&gt;&#10;        &lt;Box style={{ backgroundColor: '#F0F5FC', borderLeft: '5px solid #1E4FA8', padding: '14px 20px', flexDirection: 'column' }}&gt;&#10;            &lt;Text style={{ fontSize: 22, fontWeight: 'bold', color: '#1E4FA8' }}&gt;问题&lt;/Text&gt;&#10;            &lt;Text style={{ fontSize: 22, color: '#1A2230', lineHeight: 1.5, marginTop: 6 }}&gt;3DGS 重建质量高、可实时渲染，但训练前必须由 SfM（COLMAP）离线解算相机位姿；SfM 要等&lt;b&gt;全部图像到齐&lt;/b&gt;，且对&lt;b&gt;乱序采集&lt;/b&gt;敏感。&lt;/Text&gt;&#10;        &lt;/Box&gt;&#10;        &lt;Box style={{ backgroundColor: '#F7F9FC', borderLeft: '5px solid #4A5568', padding: '14px 20px', flexDirection: 'column' }}&gt;&#10;            &lt;Text style={{ fontSize: 22, fontWeight: 'bold', color: '#4A5568' }}&gt;现状缺口&lt;/Text&gt;&#10;            &lt;Text style={{ fontSize: 22, color: '#1A2230', lineHeight: 1.5, marginTop: 6 }}&gt;离线 SfM + 3DGS 质量好、但慢且无现场反馈；SLAM 类增量重建能实时，却&lt;b&gt;假设图像有序&lt;/b&gt;——两者之间没人补齐。&lt;/Text&gt;&#10;        &lt;/Box&gt;&#10;        &lt;Box style={{ backgroundColor: '#F0F5FC', borderLeft: '5px solid #1E4FA8', padding: '14px 20px', flexDirection: 'column' }}&gt;&#10;            &lt;Text style={{ fontSize: 22, fontWeight: 'bold', color: '#1E4FA8' }}&gt;本文做法&lt;/Text&gt;&#10;            &lt;Text style={{ fontSize: 22, color: '#1A2230', lineHeight: 1.5, marginTop: 6 }}&gt;首个面向无序输入、具备全局一致性的即时反馈 3DGS 重建：三级快速匹配 + GPU 局部 BA + 簇级回环图传播 + 渐进式高斯层级。&lt;/Text&gt;&#10;        &lt;/Box&gt;&#10;        &lt;Box style={{ backgroundColor: '#F7F9FC', borderLeft: '5px solid #3D7BD9', padding: '14px 20px', flexDirection: 'column' }}&gt;&#10;            &lt;Text style={{ fontSize: 22, fontWeight: 'bold', color: '#3D7BD9' }}&gt;结果与复现&lt;/Text&gt;&#10;            &lt;Text style={{ fontSize: 22, color: '#1A2230', lineHeight: 1.5, marginTop: 6 }}&gt;MipNeRF360 上 &lt;b&gt;1 分 17 秒&lt;/b&gt;达到 &lt;b&gt;26.29 dB&lt;/b&gt;（离线参考 8 分 50 秒 / 27.52 dB）；输入打乱仅降 &lt;b&gt;0.5 dB&lt;/b&gt;。我们完成了端到端复现：&lt;b&gt;25.95 dB / 62.7 秒 / 185 帧&lt;/b&gt;。&lt;/Text&gt;&#10;        &lt;/Box&gt;&#10;    &lt;/Box&gt;&#10;    &lt;Box style={{ padding: '16px 40px 0px 40px' }}&gt;&#10;        &lt;Text style={{ fontSize: 16, color: '#4A5568' }}&gt;关键词：三维高斯泼溅 · 无序采集 · 即时重建 · 协视图 · 回环闭合 · 渐进式层级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647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摘要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428625" y="9810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381000" y="9810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19125" y="11144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19125" y="14287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重建质量高、可实时渲染，但训练前必须由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COLMAP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）离线解算相机位姿；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要等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全部图像到齐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，且对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乱序采集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敏感。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428625" y="244792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81000" y="244792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19125" y="25812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4A5568"/>
                </a:solidFill>
                <a:latin typeface="Microsoft YaHei"/>
                <a:ea typeface="Microsoft YaHei"/>
              </a:rPr>
              <a:t>现状缺口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19125" y="2895600"/>
            <a:ext cx="11001375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离线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质量好、但慢且无现场反馈；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类增量重建能实时，却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假设图像有序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——两者之间没人补齐。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428625" y="3533775"/>
            <a:ext cx="11430000" cy="13430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381000" y="353377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19125" y="366712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本文做法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19125" y="398145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首个面向无序输入、具备全局一致性的即时反馈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重建：三级快速匹配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GPU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渐进式高斯层级。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28625" y="5000625"/>
            <a:ext cx="11430000" cy="1343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381000" y="5000625"/>
            <a:ext cx="11477625" cy="1343025"/>
          </a:xfrm>
          <a:custGeom>
            <a:pathLst>
              <a:path w="1205" h="141">
                <a:moveTo>
                  <a:pt x="0" y="0"/>
                </a:moveTo>
                <a:lnTo>
                  <a:pt x="5" y="0"/>
                </a:lnTo>
                <a:lnTo>
                  <a:pt x="5" y="141"/>
                </a:lnTo>
                <a:lnTo>
                  <a:pt x="0" y="141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19125" y="5133975"/>
            <a:ext cx="1100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3D7BD9"/>
                </a:solidFill>
                <a:latin typeface="Microsoft YaHei"/>
                <a:ea typeface="Microsoft YaHei"/>
              </a:rPr>
              <a:t>结果与复现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19125" y="5448300"/>
            <a:ext cx="11001375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达到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）；输入打乱仅降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。我们完成了端到端复现：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25.95 dB / 62.7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185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381000" y="6496050"/>
            <a:ext cx="1143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无序采集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即时重建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协视图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回环闭合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9" name="" descr="&lt;Slide style={{ width: '1280px', height: '720px', backgroundColor: '#FFFFFF', padding: '0px', flexDirection: 'column' }}&gt;&#10;    &lt;Box style={{ width: '1280px', height: '8px', backgroundColor: '#1E4FA8' }} /&gt;&#10;    &lt;Box style={{ padding: '34px 40px 0px 40px', flexDirection: 'row', justifyContent: 'space-between', alignItems: 'flex-end' }}&gt;&#10;        &lt;Text style={{ fontSize: 34, fontWeight: 'bold', color: '#1E4FA8' }}&gt;主要贡献点&lt;/Text&gt;&#10;        &lt;Text style={{ fontSize: 15, color: '#8B97A8' }}&gt;03 / 12&lt;/Text&gt;&#10;    &lt;/Box&gt;&#10;    &lt;Box style={{ padding: '22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1&lt;/Text&gt;&#10;                &lt;/Box&gt;&#10;                &lt;Text style={{ fontSize: 24, fontWeight: 'bold', color: '#1A2230' }}&gt;无序序列快速匹配&lt;/Text&gt;&#10;            &lt;/Box&gt;&#10;            &lt;Text style={{ fontSize: 22, color: '#1A2230', lineHeight: 1.55, marginTop: 12 }}&gt;视觉位置识别 → XFeat 粗筛 → LightGlue 精验，三级把匹配代价从 O(n²) 降到常数级。&lt;/Text&gt;&#10;            &lt;Text style={{ fontSize: 20, color: '#1E4FA8', fontWeight: 'bold', marginTop: 14 }}&gt;配加权协视图 + 高连通关键帧贪心选取&lt;/Text&gt;&#10;        &lt;/Box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2&lt;/Text&gt;&#10;                &lt;/Box&gt;&#10;                &lt;Text style={{ fontSize: 24, fontWeight: 'bold', color: '#1A2230' }}&gt;GPU 局部重建&lt;/Text&gt;&#10;            &lt;/Box&gt;&#10;            &lt;Text style={{ fontSize: 22, color: '#1A2230', lineHeight: 1.55, marginTop: 12 }}&gt;自写 BA 核函数（稠密 Schur 补），20 关键帧 / 1 万路标点下比现有优化器快约 5 倍。&lt;/Text&gt;&#10;            &lt;Text style={{ fontSize: 20, color: '#1E4FA8', fontWeight: 'bold', marginTop: 14 }}&gt;分块深度对齐，让高斯贴住真实表面&lt;/Text&gt;&#10;        &lt;/Box&gt;&#10;    &lt;/Box&gt;&#10;    &lt;Box style={{ padding: '20px 40px 0px 40px', flexDirection: 'row', gap: 20 }}&gt;&#10;        &lt;Box style={{ flex: 1, backgroundColor: '#F7F9FC', border: '1px solid #D6DCE5', borderRadius: 6, padding: '18px 20px', flexDirection: 'column' }}&gt;&#10;            &lt;Box style={{ flexDirection: 'row', alignItems: 'center', gap: 10 }}&gt;&#10;                &lt;Box style={{ width: '34px', height: '34px', backgroundColor: '#1E4FA8', borderRadius: 4, alignItems: 'center', justifyContent: 'center' }}&gt;&#10;                    &lt;Text style={{ fontSize: 20, fontWeight: 'bold', color: '#FFFFFF' }}&gt;3&lt;/Text&gt;&#10;                &lt;/Box&gt;&#10;                &lt;Text style={{ fontSize: 24, fontWeight: 'bold', color: '#1A2230' }}&gt;簇级回环闭合&lt;/Text&gt;&#10;            &lt;/Box&gt;&#10;            &lt;Text style={{ fontSize: 22, color: '#1A2230', lineHeight: 1.55, marginTop: 12 }}&gt;用协视图&quot;跳数距离&quot;判回环；焊接窗口 BA + Dijkstra 主干路径测地插值，把 Sim(3) 修正传到全图。&lt;/Text&gt;&#10;            &lt;Text style={{ fontSize: 20, color: '#D9534F', fontWeight: 'bold', marginTop: 14 }}&gt;关键：无需第二次全局优化&lt;/Text&gt;&#10;        &lt;/Box&gt;&#10;        &lt;Box style={{ flex: 1, backgroundColor: '#F0F5FC', border: '1px solid #3D7BD9', borderRadius: 6, padding: '18px 20px', flexDirection: 'column' }}&gt;&#10;            &lt;Box style={{ flexDirection: 'row', alignItems: 'center', gap: 10 }}&gt;&#10;                &lt;Box style={{ width: '34px', height: '34px', backgroundColor: '#0E3F8C', borderRadius: 4, alignItems: 'center', justifyContent: 'center' }}&gt;&#10;                    &lt;Text style={{ fontSize: 20, fontWeight: 'bold', color: '#FFFFFF' }}&gt;4&lt;/Text&gt;&#10;                &lt;/Box&gt;&#10;                &lt;Text style={{ fontSize: 24, fontWeight: 'bold', color: '#1A2230' }}&gt;渐进式高斯层级&lt;/Text&gt;&#10;            &lt;/Box&gt;&#10;            &lt;Text style={{ fontSize: 22, color: '#1A2230', lineHeight: 1.55, marginTop: 12 }}&gt;按屏幕尺寸合并 / 回取，叶节点卸载到 CPU；4050 帧大场景显存仍控制在 12.8 GB 内。&lt;/Text&gt;&#10;            &lt;Text style={{ fontSize: 20, color: '#1E4FA8', fontWeight: 'bold', marginTop: 14 }}&gt;峰值高斯 &amp;lt; 370 万，层级达 8 层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主要贡献点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325225" y="6191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7150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7627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90600" y="1200150"/>
            <a:ext cx="1828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7150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视觉位置识别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XFeat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粗筛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LightGlue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精验，三级把匹配代价从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O(n²)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降到常数级。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7150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配加权协视图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高连通关键帧贪心选取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6191250" y="100012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1" name=""/>
          <p:cNvSpPr/>
          <p:nvPr/>
        </p:nvSpPr>
        <p:spPr>
          <a:xfrm rot="0" flipH="0" flipV="0">
            <a:off x="6381750" y="117157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86525" y="12192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800850" y="1200150"/>
            <a:ext cx="1485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81750" y="160972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补），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万路标点下比现有优化器快约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381750" y="252412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分块深度对齐，让高斯贴住真实表面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38100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57150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7627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990600" y="331470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57150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用协视图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跳数距离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判回环；焊接窗口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Dijkstra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主干路径测地插值，把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修正传到全图。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57150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关键：无需第二次全局优化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191250" y="3114675"/>
            <a:ext cx="5619750" cy="1924050"/>
          </a:xfrm>
          <a:prstGeom prst="roundRect">
            <a:avLst>
              <a:gd name="adj" fmla="val 297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6381750" y="32861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486525" y="33337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00850" y="3314700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381750" y="3724275"/>
            <a:ext cx="523875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按屏幕尺寸合并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帧大场景显存仍控制在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381750" y="4638675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峰值高斯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&lt; 370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万，层级达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研究背景：两条路线之间空着一块&lt;/Text&gt;&#10;        &lt;Text style={{ fontSize: 15, color: '#8B97A8' }}&gt;04 / 12&lt;/Text&gt;&#10;    &lt;/Box&gt;&#10;    &lt;Box style={{ padding: '18px 40px 0px 40px', flexDirection: 'row', gap: 24 }}&gt;&#10;        &lt;Box style={{ flex: 1, backgroundColor: '#F7F9FC', border: '1px solid #D6DCE5', borderRadius: 6, padding: '16px 20px', flexDirection: 'column' }}&gt;&#10;            &lt;Text style={{ fontSize: 26, fontWeight: 'bold', color: '#1A2230' }}&gt;离线 SfM + 3DGS&lt;/Text&gt;&#10;            &lt;Text style={{ fontSize: 19, color: '#4A5568', marginTop: 6 }}&gt;COLMAP / GLOMAP + 3DGS、H3DGS、Octree-GS&lt;/Text&gt;&#10;            &lt;Text style={{ fontSize: 22, color: '#1A2230', lineHeight: 1.55, marginTop: 12 }}&gt;质量高、全局一致。但必须先拿到全部图像才能开始解算，耗时从分钟到小时；用户在拍摄现场无从判断&quot;拍得够不够&quot;。&lt;/Text&gt;&#10;            &lt;Text style={{ fontSize: 21, color: '#1E4FA8', fontWeight: 'bold', marginTop: 12 }}&gt;优点：质量与一致性最强&lt;/Text&gt;&#10;            &lt;Text style={{ fontSize: 21, color: '#D9534F', fontWeight: 'bold', marginTop: 4 }}&gt;代价：无法即时反馈&lt;/Text&gt;&#10;        &lt;/Box&gt;&#10;        &lt;Box style={{ flex: 1, backgroundColor: '#F0F5FC', border: '1px solid #3D7BD9', borderRadius: 6, padding: '16px 20px', flexDirection: 'column' }}&gt;&#10;            &lt;Text style={{ fontSize: 26, fontWeight: 'bold', color: '#1A2230' }}&gt;增量 / 类 SLAM 重建&lt;/Text&gt;&#10;            &lt;Text style={{ fontSize: 19, color: '#4A5568', marginTop: 6 }}&gt;Photo-SLAM、MonoGS、DROID-Splat、LongSplat&lt;/Text&gt;&#10;            &lt;Text style={{ fontSize: 22, color: '#1A2230', lineHeight: 1.55, marginTop: 12 }}&gt;边收边建、可交互。但新帧只与时间上相邻的帧匹配，一旦拍摄者转身回访、或把两段序列拼在一起，匹配就断了。&lt;/Text&gt;&#10;            &lt;Text style={{ fontSize: 21, color: '#1E4FA8', fontWeight: 'bold', marginTop: 12 }}&gt;优点：即时、内存可控&lt;/Text&gt;&#10;            &lt;Text style={{ fontSize: 21, color: '#D9534F', fontWeight: 'bold', marginTop: 4 }}&gt;前提：输入必须有序&lt;/Text&gt;&#10;        &lt;/Box&gt;&#10;    &lt;/Box&gt;&#10;    &lt;Box style={{ margin: '22px 40px 0px 40px', backgroundColor: '#1E4FA8', borderRadius: 6, padding: '18px 24px' }}&gt;&#10;        &lt;Text style={{ fontSize: 24, fontWeight: 'bold', color: '#FFFFFF', lineHeight: 1.5 }}&gt;空缺：既有即时性、又能吃无序输入、还保持全局一致——本文要填的正是这一块。&lt;/Text&gt;&#10;    &lt;/Box&gt;&#10;    &lt;Box style={{ padding: '14px 40px 0px 40px' }}&gt;&#10;        &lt;Text style={{ fontSize: 17, color: '#8B97A8' }}&gt;真实采集几乎总是无序的：绕行、转身、回头补拍角落，覆盖更好，但让 SfM 的匹配与全局优化代价陡增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研究背景：两条路线之间空着一块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381000" y="923925"/>
            <a:ext cx="5600700" cy="2819400"/>
          </a:xfrm>
          <a:prstGeom prst="roundRect">
            <a:avLst>
              <a:gd name="adj" fmla="val 20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571500" y="10763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71500" y="14382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COLMAP / GLOMAP + 3DGS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571500" y="1771650"/>
            <a:ext cx="52197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质量高、全局一致。但必须先拿到全部图像才能开始解算，耗时从分钟到小时；用户在拍摄现场无从判断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拍得够不够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71500" y="3057525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优点：质量与一致性最强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571500" y="3343275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代价：无法即时反馈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210300" y="923925"/>
            <a:ext cx="5600700" cy="2819400"/>
          </a:xfrm>
          <a:prstGeom prst="roundRect">
            <a:avLst>
              <a:gd name="adj" fmla="val 202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400800" y="1076325"/>
            <a:ext cx="5219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增量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重建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400800" y="1438275"/>
            <a:ext cx="5219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400800" y="1771650"/>
            <a:ext cx="52197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边收边建、可交互。但新帧只与时间上相邻的帧匹配，一旦拍摄者转身回访、或把两段序列拼在一起，匹配就断了。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400800" y="3057525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4FA8"/>
                </a:solidFill>
                <a:latin typeface="Microsoft YaHei"/>
                <a:ea typeface="Microsoft YaHei"/>
              </a:rPr>
              <a:t>优点：即时、内存可控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400800" y="3343275"/>
            <a:ext cx="52197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Microsoft YaHei"/>
                <a:ea typeface="Microsoft YaHei"/>
              </a:rPr>
              <a:t>前提：输入必须有序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81000" y="3952875"/>
            <a:ext cx="11430000" cy="762000"/>
          </a:xfrm>
          <a:prstGeom prst="roundRect">
            <a:avLst>
              <a:gd name="adj" fmla="val 7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09600" y="4124325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空缺：既有即时性、又能吃无序输入、还保持全局一致——本文要填的正是这一块。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81000" y="484822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真实采集几乎总是无序的：绕行、转身、回头补拍角落，覆盖更好，但让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的匹配与全局优化代价陡增。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问题定义：无序采集难在哪&lt;/Text&gt;&#10;        &lt;Text style={{ fontSize: 15, color: '#8B97A8' }}&gt;05 / 12&lt;/Text&gt;&#10;    &lt;/Box&gt;&#10;    &lt;Box style={{ padding: '16px 40px 0px 40px' }}&gt;&#10;        &lt;Text style={{ fontSize: 21, color: '#4A5568', lineHeight: 1.5 }}&gt;&quot;有序&quot;指视频抽帧的天然时序；&quot;无序&quot;指手机相册式采集——来回走、回头补拍、两段序列交替。它带来三个必须同时解决的问题：&lt;/Text&gt;&#10;    &lt;/Box&gt;&#10;    &lt;Box style={{ padding: '16px 40px 0px 40px', flexDirection: 'row', gap: 18 }}&gt;&#10;        &lt;Box style={{ flex: 1, backgroundColor: '#F7F9FC', border: '1px solid #D6DCE5', borderRadius: 6, padding: '16px 18px', flexDirection: 'column' }}&gt;&#10;            &lt;Text style={{ fontSize: 40, fontWeight: 'bold', color: '#1E4FA8' }}&gt;01&lt;/Text&gt;&#10;            &lt;Text style={{ fontSize: 24, fontWeight: 'bold', color: '#1A2230', marginTop: 6 }}&gt;找重叠帧&lt;/Text&gt;&#10;            &lt;Text style={{ fontSize: 22, color: '#1A2230', lineHeight: 1.55, marginTop: 10 }}&gt;无序时无法只比相邻帧，两两全比又是 O(n²)；必须在&quot;找得准&quot;与&quot;找得快&quot;之间做级联。&lt;/Text&gt;&#10;            &lt;Text style={{ fontSize: 19, color: '#1E4FA8', fontWeight: 'bold', marginTop: 12 }}&gt;对应：三级匹配&lt;/Text&gt;&#10;        &lt;/Box&gt;&#10;        &lt;Box style={{ flex: 1, backgroundColor: '#F7F9FC', border: '1px solid #D6DCE5', borderRadius: 6, padding: '16px 18px', flexDirection: 'column' }}&gt;&#10;            &lt;Text style={{ fontSize: 40, fontWeight: 'bold', color: '#1E4FA8' }}&gt;02&lt;/Text&gt;&#10;            &lt;Text style={{ fontSize: 24, fontWeight: 'bold', color: '#1A2230', marginTop: 6 }}&gt;控住优化规模&lt;/Text&gt;&#10;            &lt;Text style={{ fontSize: 22, color: '#1A2230', lineHeight: 1.55, marginTop: 10 }}&gt;SLAM 式 5 帧窗口对辐射场不够；帧数一多，观测数又二次膨胀，显存与耗时同时失控。&lt;/Text&gt;&#10;            &lt;Text style={{ fontSize: 19, color: '#1E4FA8', fontWeight: 'bold', marginTop: 12 }}&gt;对应：20 帧 + 协视性约束观测&lt;/Text&gt;&#10;        &lt;/Box&gt;&#10;        &lt;Box style={{ flex: 1, backgroundColor: '#F0F5FC', border: '1px solid #3D7BD9', borderRadius: 6, padding: '16px 18px', flexDirection: 'column' }}&gt;&#10;            &lt;Text style={{ fontSize: 40, fontWeight: 'bold', color: '#1E4FA8' }}&gt;03&lt;/Text&gt;&#10;            &lt;Text style={{ fontSize: 24, fontWeight: 'bold', color: '#1A2230', marginTop: 6 }}&gt;回环不重算&lt;/Text&gt;&#10;            &lt;Text style={{ fontSize: 22, color: '#1A2230', lineHeight: 1.55, marginTop: 10 }}&gt;发现回环后，修正必须同时作用到所有位姿与所有高斯；若重跑全局 BA，实时性立刻归零。&lt;/Text&gt;&#10;            &lt;Text style={{ fontSize: 19, color: '#D9534F', fontWeight: 'bold', marginTop: 12 }}&gt;对应：簇级回环 + 图传播&lt;/Text&gt;&#10;        &lt;/Box&gt;&#10;    &lt;/Box&gt;&#10;    &lt;Box style={{ padding: '16px 40px 0px 40px' }}&gt;&#10;        &lt;Text style={{ fontSize: 18, color: '#8B97A8' }}&gt;三件事互相牵制：要快就得少算，要少算就得选得准，回环又要保证不漂。本文的贡献正落在这三者的平衡点上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问题定义：无序采集难在哪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904875"/>
            <a:ext cx="114300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有序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指视频抽帧的天然时序；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无序</a:t>
            </a:r>
            <a:r>
              <a:rPr lang="en-US" sz="15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指手机相册式采集——来回走、回头补拍、两段序列交替。它带来三个必须同时解决的问题：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381000" y="1781175"/>
            <a:ext cx="3695700" cy="2695575"/>
          </a:xfrm>
          <a:prstGeom prst="roundRect">
            <a:avLst>
              <a:gd name="adj" fmla="val 212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3352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52450" y="24479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找重叠帧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52450" y="2819400"/>
            <a:ext cx="33528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无序时无法只比相邻帧，两两全比又是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O(n²)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；必须在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找得准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找得快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之间做级联。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552450" y="4105275"/>
            <a:ext cx="3352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对应：三级匹配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248150" y="1781175"/>
            <a:ext cx="3695700" cy="2695575"/>
          </a:xfrm>
          <a:prstGeom prst="roundRect">
            <a:avLst>
              <a:gd name="adj" fmla="val 212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19600" y="1933575"/>
            <a:ext cx="3352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419600" y="24479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控住优化规模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419600" y="2819400"/>
            <a:ext cx="33528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帧窗口对辐射场不够；帧数一多，观测数又二次膨胀，显存与耗时同时失控。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419600" y="4105275"/>
            <a:ext cx="3352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对应：</a:t>
            </a: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协视性约束观测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8115300" y="1781175"/>
            <a:ext cx="3695700" cy="2695575"/>
          </a:xfrm>
          <a:prstGeom prst="roundRect">
            <a:avLst>
              <a:gd name="adj" fmla="val 212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86750" y="1933575"/>
            <a:ext cx="3352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86750" y="24479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回环不重算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86750" y="2819400"/>
            <a:ext cx="33528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发现回环后，修正必须同时作用到所有位姿与所有高斯；若重跑全局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，实时性立刻归零。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86750" y="4105275"/>
            <a:ext cx="3352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对应：簇级回环</a:t>
            </a: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4629150"/>
            <a:ext cx="1143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三件事互相牵制：要快就得少算，要少算就得选得准，回环又要保证不漂。本文的贡献正落在这三者的平衡点上。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10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方法总览：每来一个关键帧做什么&lt;/Text&gt;&#10;        &lt;Text style={{ fontSize: 15, color: '#8B97A8' }}&gt;06 / 12&lt;/Text&gt;&#10;    &lt;/Box&gt;&#10;    &lt;Box style={{ padding: '14px 40px 0px 40px' }}&gt;&#10;        &lt;Text style={{ fontSize: 22, color: '#4A5568', lineHeight: 1.5 }}&gt;设计哲学一句话：&lt;b&gt;每帧做小事，偶尔做一次大事&lt;/b&gt;。前者保证实时，后者保证不漂。&lt;/Text&gt;&#10;    &lt;/Box&gt;&#10;    &lt;Box style={{ padding: '18px 40px 0px 40px', flexDirection: 'row', gap: 12 }}&gt;&#10;        &lt;Box style={{ flex: 1, backgroundColor: '#F0F5FC', borderRadius: 6, padding: '14px 12px', flexDirection: 'column' }}&gt;&#10;            &lt;Text style={{ fontSize: 18, fontWeight: 'bold', color: '#1E4FA8' }}&gt;STEP 1&lt;/Text&gt;&#10;            &lt;Text style={{ fontSize: 21, fontWeight: 'bold', color: '#1A2230', marginTop: 6 }}&gt;两级匹配&lt;/Text&gt;&#10;            &lt;Text style={{ fontSize: 19, color: '#1A2230', lineHeight: 1.45, marginTop: 6 }}&gt;检索候选 → 局部特征 → 精验，得到可信帧对&lt;/Text&gt;&#10;        &lt;/Box&gt;&#10;        &lt;Box style={{ flex: 1, backgroundColor: '#F0F5FC', borderRadius: 6, padding: '14px 12px', flexDirection: 'column' }}&gt;&#10;            &lt;Text style={{ fontSize: 18, fontWeight: 'bold', color: '#1E4FA8' }}&gt;STEP 2&lt;/Text&gt;&#10;            &lt;Text style={{ fontSize: 21, fontWeight: 'bold', color: '#1A2230', marginTop: 6 }}&gt;更新协视图&lt;/Text&gt;&#10;            &lt;Text style={{ fontSize: 19, color: '#1A2230', lineHeight: 1.45, marginTop: 6 }}&gt;边权 = 内点数倒数，越可靠越&quot;近&quot;&lt;/Text&gt;&#10;        &lt;/Box&gt;&#10;        &lt;Box style={{ flex: 1, backgroundColor: '#F0F5FC', borderRadius: 6, padding: '14px 12px', flexDirection: 'column' }}&gt;&#10;            &lt;Text style={{ fontSize: 18, fontWeight: 'bold', color: '#1E4FA8' }}&gt;STEP 3&lt;/Text&gt;&#10;            &lt;Text style={{ fontSize: 21, fontWeight: 'bold', color: '#1A2230', marginTop: 6 }}&gt;回环检测&lt;/Text&gt;&#10;            &lt;Text style={{ fontSize: 19, color: '#1A2230', lineHeight: 1.45, marginTop: 6 }}&gt;簇间跳数 &amp;gt; 5 且有效对 &amp;gt; 2 才触发&lt;/Text&gt;&#10;        &lt;/Box&gt;&#10;    &lt;/Box&gt;&#10;    &lt;Box style={{ padding: '12px 40px 0px 40px', flexDirection: 'row', gap: 12 }}&gt;&#10;        &lt;Box style={{ flex: 1, backgroundColor: '#F7F9FC', borderRadius: 6, padding: '14px 12px', flexDirection: 'column' }}&gt;&#10;            &lt;Text style={{ fontSize: 18, fontWeight: 'bold', color: '#1E4FA8' }}&gt;STEP 4&lt;/Text&gt;&#10;            &lt;Text style={{ fontSize: 21, fontWeight: 'bold', color: '#1A2230', marginTop: 6 }}&gt;局部 BA&lt;/Text&gt;&#10;            &lt;Text style={{ fontSize: 19, color: '#1A2230', lineHeight: 1.45, marginTop: 6 }}&gt;选 20 个高连通帧，GPU 上优化位姿&lt;/Text&gt;&#10;        &lt;/Box&gt;&#10;        &lt;Box style={{ flex: 1, backgroundColor: '#F7F9FC', borderRadius: 6, padding: '14px 12px', flexDirection: 'column' }}&gt;&#10;            &lt;Text style={{ fontSize: 18, fontWeight: 'bold', color: '#1E4FA8' }}&gt;STEP 5&lt;/Text&gt;&#10;            &lt;Text style={{ fontSize: 21, fontWeight: 'bold', color: '#1A2230', marginTop: 6 }}&gt;回环修正&lt;/Text&gt;&#10;            &lt;Text style={{ fontSize: 19, color: '#1A2230', lineHeight: 1.45, marginTop: 6 }}&gt;焊接 BA + 主干传播，位姿与高斯一起动&lt;/Text&gt;&#10;        &lt;/Box&gt;&#10;        &lt;Box style={{ flex: 1, backgroundColor: '#F7F9FC', borderRadius: 6, padding: '14px 12px', flexDirection: 'column' }}&gt;&#10;            &lt;Text style={{ fontSize: 18, fontWeight: 'bold', color: '#1E4FA8' }}&gt;STEP 6&lt;/Text&gt;&#10;            &lt;Text style={{ fontSize: 21, fontWeight: 'bold', color: '#1A2230', marginTop: 6 }}&gt;投放与优化&lt;/Text&gt;&#10;            &lt;Text style={{ fontSize: 19, color: '#1A2230', lineHeight: 1.45, marginTop: 6 }}&gt;分块深度对齐投放，每帧固定 30 次迭代&lt;/Text&gt;&#10;        &lt;/Box&gt;&#10;    &lt;/Box&gt;&#10;    &lt;Box style={{ margin: '20px 40px 0px 40px', backgroundColor: '#F0F5FC', borderLeft: '5px solid #1E4FA8', padding: '14px 20px' }}&gt;&#10;        &lt;Text style={{ fontSize: 20, color: '#1A2230', lineHeight: 1.5 }}&gt;另有一步容错：匹配失败的帧先&quot;搁置&quot;，后续相似度足够时再取出重试——这让乱序输入不必强求一次匹配成功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方法总览：每来一个关键帧做什么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81000" y="885825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81000" y="1438275"/>
            <a:ext cx="3733800" cy="1476375"/>
          </a:xfrm>
          <a:prstGeom prst="roundRect">
            <a:avLst>
              <a:gd name="adj" fmla="val 38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495300" y="1571625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1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95300" y="1838325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两级匹配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95300" y="2143125"/>
            <a:ext cx="35052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检索候选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局部特征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精验，得到可信帧对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229100" y="1438275"/>
            <a:ext cx="3733800" cy="1476375"/>
          </a:xfrm>
          <a:prstGeom prst="roundRect">
            <a:avLst>
              <a:gd name="adj" fmla="val 38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343400" y="1571625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2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343400" y="1838325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更新协视图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343400" y="2143125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边权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内点数倒数，越可靠越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近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8077200" y="1438275"/>
            <a:ext cx="3733800" cy="1476375"/>
          </a:xfrm>
          <a:prstGeom prst="roundRect">
            <a:avLst>
              <a:gd name="adj" fmla="val 38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191500" y="1571625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3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91500" y="1838325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回环检测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91500" y="2143125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簇间跳数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且有效对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才触发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81000" y="3028950"/>
            <a:ext cx="3733800" cy="1162050"/>
          </a:xfrm>
          <a:prstGeom prst="roundRect">
            <a:avLst>
              <a:gd name="adj" fmla="val 491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95300" y="3162300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4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95300" y="3429000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95300" y="3733800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选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个高连通帧，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上优化位姿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4229100" y="3028950"/>
            <a:ext cx="3733800" cy="1162050"/>
          </a:xfrm>
          <a:prstGeom prst="roundRect">
            <a:avLst>
              <a:gd name="adj" fmla="val 491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43400" y="3162300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5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343400" y="3429000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343400" y="3733800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焊接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+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主干传播，位姿与高斯一起动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8077200" y="3028950"/>
            <a:ext cx="3733800" cy="1162050"/>
          </a:xfrm>
          <a:prstGeom prst="roundRect">
            <a:avLst>
              <a:gd name="adj" fmla="val 491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191500" y="3162300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STEP 6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191500" y="3429000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投放与优化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8191500" y="3733800"/>
            <a:ext cx="3505200" cy="323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分块深度对齐投放，每帧固定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次迭代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428625" y="4381500"/>
            <a:ext cx="11430000" cy="6096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381000" y="4381500"/>
            <a:ext cx="11477625" cy="609600"/>
          </a:xfrm>
          <a:custGeom>
            <a:pathLst>
              <a:path w="1205" h="64">
                <a:moveTo>
                  <a:pt x="0" y="0"/>
                </a:moveTo>
                <a:lnTo>
                  <a:pt x="5" y="0"/>
                </a:lnTo>
                <a:lnTo>
                  <a:pt x="5" y="64"/>
                </a:lnTo>
                <a:lnTo>
                  <a:pt x="0" y="6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19125" y="4514850"/>
            <a:ext cx="11001375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另有一步容错：匹配失败的帧先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搁置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，后续相似度足够时再取出重试——这让乱序输入不必强求一次匹配成功。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核心一：三级匹配把 O(n²) 压成常数级&lt;/Text&gt;&#10;        &lt;Text style={{ fontSize: 15, color: '#8B97A8' }}&gt;07 / 12&lt;/Text&gt;&#10;    &lt;/Box&gt;&#10;    &lt;Box style={{ padding: '18px 40px 0px 40px', flexDirection: 'column', gap: 0 }}&gt;&#10;        &lt;Box style={{ flexDirection: 'row', backgroundColor: '#1E4FA8', padding: '12px 16px' }}&gt;&#10;            &lt;Text style={{ width: '90px', fontSize: 20, fontWeight: 'bold', color: '#FFFFFF' }}&gt;层级&lt;/Text&gt;&#10;            &lt;Text style={{ flex: 2, fontSize: 20, fontWeight: 'bold', color: '#FFFFFF' }}&gt;方法&lt;/Text&gt;&#10;            &lt;Text style={{ flex: 3, fontSize: 20, fontWeight: 'bold', color: '#FFFFFF' }}&gt;作用&lt;/Text&gt;&#10;            &lt;Text style={{ flex: 1.6, fontSize: 20, fontWeight: 'bold', color: '#FFFFFF' }}&gt;代价&lt;/Text&gt;&#10;        &lt;/Box&gt;&#10;        &lt;Box style={{ flexDirection: 'row', padding: '13px 16px', borderBottom: '1px solid #D6DCE5' }}&gt;&#10;            &lt;Text style={{ width: '90px', fontSize: 20, fontWeight: 'bold', color: '#1E4FA8' }}&gt;1&lt;/Text&gt;&#10;            &lt;Text style={{ flex: 2, fontSize: 20, color: '#1A2230' }}&gt;视觉位置识别（全局描述子）&lt;/Text&gt;&#10;            &lt;Text style={{ flex: 3, fontSize: 20, color: '#1A2230' }}&gt;余弦相似度排序，取 top-20 候选&lt;/Text&gt;&#10;            &lt;Text style={{ flex: 1.6, fontSize: 20, color: '#1A2230' }}&gt;≈1 ms / 1000 对&lt;/Text&gt;&#10;        &lt;/Box&gt;&#10;        &lt;Box style={{ flexDirection: 'row', padding: '13px 16px', backgroundColor: '#F7F9FC', borderBottom: '1px solid #D6DCE5' }}&gt;&#10;            &lt;Text style={{ width: '90px', fontSize: 20, fontWeight: 'bold', color: '#1E4FA8' }}&gt;2&lt;/Text&gt;&#10;            &lt;Text style={{ flex: 2, fontSize: 20, color: '#1A2230' }}&gt;XFeat 轻量局部特征&lt;/Text&gt;&#10;            &lt;Text style={{ flex: 3, fontSize: 20, color: '#1A2230' }}&gt;按内点数从 20 中保留 5 个&lt;/Text&gt;&#10;            &lt;Text style={{ flex: 1.6, fontSize: 20, color: '#1A2230' }}&gt;≈0.5 ms / 对&lt;/Text&gt;&#10;        &lt;/Box&gt;&#10;        &lt;Box style={{ flexDirection: 'row', padding: '13px 16px', borderBottom: '1px solid #D6DCE5' }}&gt;&#10;            &lt;Text style={{ width: '90px', fontSize: 20, fontWeight: 'bold', color: '#1E4FA8' }}&gt;3&lt;/Text&gt;&#10;            &lt;Text style={{ flex: 2, fontSize: 20, color: '#1A2230' }}&gt;LightGlue + RANSAC&lt;/Text&gt;&#10;            &lt;Text style={{ flex: 3, fontSize: 20, color: '#1A2230' }}&gt;精确验证，内点数 &amp;gt; 500 才接受&lt;/Text&gt;&#10;            &lt;Text style={{ flex: 1.6, fontSize: 20, color: '#1A2230' }}&gt;≈4 ms / 对&lt;/Text&gt;&#10;        &lt;/Box&gt;&#10;    &lt;/Box&gt;&#10;    &lt;Box style={{ padding: '18px 40px 0px 40px', flexDirection: 'row', gap: 18 }}&gt;&#10;        &lt;Box style={{ flex: 1, backgroundColor: '#F0F5FC', borderRadius: 6, padding: '14px 18px', flexDirection: 'column' }}&gt;&#10;            &lt;Text style={{ fontSize: 22, fontWeight: 'bold', color: '#1E4FA8' }}&gt;加权协视图&lt;/Text&gt;&#10;            &lt;Text style={{ fontSize: 21, color: '#1A2230', lineHeight: 1.5, marginTop: 8 }}&gt;边权取内点数倒数 w = 1/#inliers：内点越多、边越&quot;短&quot;。于是图上的最短路 = 最可靠的位姿链。&lt;/Text&gt;&#10;        &lt;/Box&gt;&#10;        &lt;Box style={{ flex: 1, backgroundColor: '#F0F5FC', borderRadius: 6, padding: '14px 18px', flexDirection: 'column' }}&gt;&#10;            &lt;Text style={{ fontSize: 22, fontWeight: 'bold', color: '#1E4FA8' }}&gt;消融：这一环最关键&lt;/Text&gt;&#10;            &lt;Text style={{ fontSize: 21, color: '#1A2230', lineHeight: 1.5, marginTop: 8 }}&gt;去掉位置识别只比相邻 5 帧：PSNR 26.29 → &lt;b&gt;24.78 dB&lt;/b&gt;；改成优化最后 20 帧：→ &lt;b&gt;24.56 dB&lt;/b&gt;。&lt;/Text&gt;&#10;        &lt;/Box&gt;&#10;    &lt;/Box&gt;&#10;    &lt;Box style={{ padding: '12px 40px 0px 40px' }}&gt;&#10;        &lt;Text style={{ fontSize: 17, color: '#8B97A8' }}&gt;候选集逐级收缩：1000 对 → 20 → 5 → 1，精确匹配只作用在极小候选上，这是&quot;无序也能快&quot;的根本原因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600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核心一：三级匹配把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O(n²)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压成常数级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81000" y="923925"/>
            <a:ext cx="11430000" cy="457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533400" y="10382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层级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390650" y="10382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505325" y="10382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9172575" y="10382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代价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81000" y="138112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533400" y="15049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390650" y="150495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视觉位置识别（全局描述子）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505325" y="150495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余弦相似度排序，取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9172575" y="150495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≈1 ms / 1000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81000" y="1866900"/>
            <a:ext cx="11430000" cy="4857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81000" y="1866900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33400" y="19907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390650" y="1990725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轻量局部特征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4505325" y="1990725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按内点数从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中保留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9172575" y="1990725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≈0.5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381000" y="2352675"/>
            <a:ext cx="11430000" cy="495300"/>
          </a:xfrm>
          <a:custGeom>
            <a:pathLst>
              <a:path w="1200" h="52">
                <a:moveTo>
                  <a:pt x="0" y="51"/>
                </a:moveTo>
                <a:lnTo>
                  <a:pt x="1200" y="51"/>
                </a:lnTo>
                <a:lnTo>
                  <a:pt x="1200" y="52"/>
                </a:lnTo>
                <a:lnTo>
                  <a:pt x="0" y="52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33400" y="24765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390650" y="2476500"/>
            <a:ext cx="3114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LightGlue + RANSAC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4505325" y="2476500"/>
            <a:ext cx="466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精确验证，内点数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才接受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172575" y="2476500"/>
            <a:ext cx="2486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≈4 ms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81000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552450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加权协视图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边权取内点数倒数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w = 1/#inliers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：内点越多、边越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短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。于是图上的最短路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最可靠的位姿链。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181725" y="3009900"/>
            <a:ext cx="5629275" cy="1323975"/>
          </a:xfrm>
          <a:prstGeom prst="roundRect">
            <a:avLst>
              <a:gd name="adj" fmla="val 431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353175" y="3143250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消融：这一环最关键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353175" y="3476625"/>
            <a:ext cx="5286375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去掉位置识别只比相邻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PSNR 26.29 →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24.78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；改成优化最后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帧：→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24.56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81000" y="44481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候选集逐级收缩：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对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20 → 5 → 1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，精确匹配只作用在极小候选上，这是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无序也能快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的根本原因。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76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核心二、三：局部重建与回环修正&lt;/Text&gt;&#10;        &lt;Text style={{ fontSize: 15, color: '#8B97A8' }}&gt;08 / 12&lt;/Text&gt;&#10;    &lt;/Box&gt;&#10;    &lt;Box style={{ padding: '16px 40px 0px 40px', flexDirection: 'row', gap: 20 }}&gt;&#10;        &lt;Box style={{ flex: 1, backgroundColor: '#F7F9FC', border: '1px solid #D6DCE5', borderRadius: 6, padding: '16px 18px', flexDirection: 'column' }}&gt;&#10;            &lt;Text style={{ fontSize: 25, fontWeight: 'bold', color: '#1A2230' }}&gt;GPU 局部重建&lt;/Text&gt;&#10;            &lt;Text style={{ fontSize: 21, color: '#1A2230', lineHeight: 1.55, marginTop: 10 }}&gt;关键帧 &lt;b&gt;N=20&lt;/b&gt;（SLAM 通常只用 5 帧时间窗），路标点固定 &lt;b&gt;1 万&lt;/b&gt;，按被观测次数采样。&lt;/Text&gt;&#10;            &lt;Text style={{ fontSize: 21, color: '#1A2230', lineHeight: 1.55, marginTop: 8 }}&gt;每个路标只允许被协视性选出的固定子集观测，避免观测数随帧数二次增长。&lt;/Text&gt;&#10;            &lt;Text style={{ fontSize: 21, color: '#1A2230', lineHeight: 1.55, marginTop: 8 }}&gt;自写核函数算残差与雅可比，稠密 Schur 补求解。&lt;/Text&gt;&#10;            &lt;Text style={{ fontSize: 22, fontWeight: 'bold', color: '#1E4FA8', marginTop: 12 }}&gt;比 g2o / CUDA-BA 快约 5 倍&lt;/Text&gt;&#10;            &lt;Text style={{ fontSize: 21, color: '#1A2230', lineHeight: 1.55, marginTop: 10 }}&gt;高斯投放改为&lt;b&gt;分块估计深度尺度与偏移&lt;/b&gt;再插值上采样（消融 26.29 → 25.41 dB），落点更贴表面。&lt;/Text&gt;&#10;        &lt;/Box&gt;&#10;        &lt;Box style={{ flex: 1, backgroundColor: '#F0F5FC', border: '1px solid #3D7BD9', borderRadius: 6, padding: '16px 18px', flexDirection: 'column' }}&gt;&#10;            &lt;Text style={{ fontSize: 25, fontWeight: 'bold', color: '#1A2230' }}&gt;簇级回环 + 图传播&lt;/Text&gt;&#10;            &lt;Text style={{ fontSize: 21, color: '#1A2230', lineHeight: 1.55, marginTop: 10 }}&gt;检测：出现两组&quot;内部密、彼此疏&quot;的簇，图上跳数 &amp;gt; 5 且有效匹配对 &amp;gt; 2。&lt;/Text&gt;&#10;            &lt;Text style={{ fontSize: 21, color: '#1A2230', lineHeight: 1.55, marginTop: 8 }}&gt;求解：两簇各扩 N/2 帧组成焊接窗口做局部 BA，由锚点刚体变换与深度尺度得到 &lt;b&gt;Sim(3)&lt;/b&gt;。&lt;/Text&gt;&#10;            &lt;Text style={{ fontSize: 21, color: '#1A2230', lineHeight: 1.55, marginTop: 8 }}&gt;传播：Dijkstra 找累计权重最小的&lt;b&gt;主干路径&lt;/b&gt;，按测地距离比例插值（旋转用 6D、尺度取对数），对全图位姿与高斯套用同一变换。&lt;/Text&gt;&#10;            &lt;Text style={{ fontSize: 22, fontWeight: 'bold', color: '#D9534F', marginTop: 12 }}&gt;代价随场景规模近似线性&lt;/Text&gt;&#10;        &lt;/Box&gt;&#10;    &lt;/Box&gt;&#10;    &lt;Box style={{ margin: '18px 40px 0px 40px', backgroundColor: '#F0F5FC', borderLeft: '5px solid #1E4FA8', padding: '14px 20px' }}&gt;&#10;        &lt;Text style={{ fontSize: 21, color: '#1A2230', lineHeight: 1.5 }}&gt;用&quot;图上的距离&quot;替代&quot;全局优化的解&quot;——这是全文最值得借鉴的工程取舍：牺牲一点精度，换来数量级的实时性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核心二、三：局部重建与回环修正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38100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55245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55245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N=20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通常只用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帧时间窗），路标点固定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，按被观测次数采样。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5245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52450" y="3095625"/>
            <a:ext cx="527685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自写核函数算残差与雅可比，稠密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补求解。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552450" y="359092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比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快约</a:t>
            </a:r>
            <a:r>
              <a:rPr lang="en-US" sz="16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552450" y="39433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高斯投放改为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分块估计深度尺度与偏移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再插值上采样（消融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26.29 → 25.41 dB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），落点更贴表面。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191250" y="904875"/>
            <a:ext cx="5619750" cy="3943350"/>
          </a:xfrm>
          <a:prstGeom prst="roundRect">
            <a:avLst>
              <a:gd name="adj" fmla="val 144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362700" y="1057275"/>
            <a:ext cx="52768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簇级回环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图传播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362700" y="1438275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检测：出现两组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内部密、彼此疏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的簇，图上跳数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且有效匹配对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362700" y="2266950"/>
            <a:ext cx="52768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求解：两簇各扩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帧组成焊接窗口做局部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，由锚点刚体变换与深度尺度得到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Sim(3)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362700" y="3095625"/>
            <a:ext cx="5276850" cy="1123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传播：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找累计权重最小的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主干路径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，按测地距离比例插值（旋转用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6D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、尺度取对数），对全图位姿与高斯套用同一变换。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362700" y="4333875"/>
            <a:ext cx="527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代价随场景规模近似线性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428625" y="5019675"/>
            <a:ext cx="11430000" cy="6286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381000" y="5019675"/>
            <a:ext cx="11477625" cy="628650"/>
          </a:xfrm>
          <a:custGeom>
            <a:pathLst>
              <a:path w="1205" h="66">
                <a:moveTo>
                  <a:pt x="0" y="0"/>
                </a:moveTo>
                <a:lnTo>
                  <a:pt x="5" y="0"/>
                </a:lnTo>
                <a:lnTo>
                  <a:pt x="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19125" y="515302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用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替代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这是全文最值得借鉴的工程取舍：牺牲一点精度，换来数量级的实时性。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97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核心四：让显存不随场景线性爆炸&lt;/Text&gt;&#10;        &lt;Text style={{ fontSize: 15, color: '#8B97A8' }}&gt;09 / 12&lt;/Text&gt;&#10;    &lt;/Box&gt;&#10;    &lt;Box style={{ padding: '20px 40px 0px 40px', flexDirection: 'row', gap: 26 }}&gt;&#10;        &lt;Box style={{ width: '380px', backgroundColor: '#F0F5FC', borderRadius: 6, padding: '22px 20px', flexDirection: 'column' }}&gt;&#10;            &lt;Text style={{ fontSize: 74, fontWeight: 'bold', color: '#1E4FA8', lineHeight: 1.1 }}&gt;0.5 px&lt;/Text&gt;&#10;            &lt;Text style={{ fontSize: 21, color: '#1A2230', lineHeight: 1.5, marginTop: 8 }}&gt;屏幕尺寸小于该值、且这类高斯占比超过 20% 时，触发合并&lt;/Text&gt;&#10;            &lt;Box style={{ width: '100%', height: '1px', backgroundColor: '#D6DCE5', marginTop: 16, marginBottom: 14 }} /&gt;&#10;            &lt;Text style={{ fontSize: 74, fontWeight: 'bold', color: '#1E4FA8', lineHeight: 1.1 }}&gt;1 px&lt;/Text&gt;&#10;            &lt;Text style={{ fontSize: 21, color: '#1A2230', lineHeight: 1.5, marginTop: 8 }}&gt;合并节点的贡献超过该值时，异步回取其子节点（双缓冲防卡顿）&lt;/Text&gt;&#10;        &lt;/Box&gt;&#10;        &lt;Box style={{ flex: 1, flexDirection: 'column', gap: 14 }}&gt;&#10;            &lt;Box style={{ backgroundColor: '#F7F9FC', border: '1px solid #D6DCE5', borderRadius: 6, padding: '14px 18px', flexDirection: 'column' }}&gt;&#10;                &lt;Text style={{ fontSize: 23, fontWeight: 'bold', color: '#1E4FA8' }}&gt;合并怎么做&lt;/Text&gt;&#10;                &lt;Text style={{ fontSize: 21, color: '#1A2230', lineHeight: 1.55, marginTop: 8 }}&gt;KNN 找 4 个最近高斯，按 KL 散度合并成一个父节点；叶节点参数卸载到 CPU 内存，显存只留活跃部分。&lt;/Text&gt;&#10;            &lt;/Box&gt;&#10;            &lt;Box style={{ backgroundColor: '#F7F9FC', border: '1px solid #D6DCE5', borderRadius: 6, padding: '14px 18px', flexDirection: 'column' }}&gt;&#10;                &lt;Text style={{ fontSize: 23, fontWeight: 'bold', color: '#1E4FA8' }}&gt;回环时怎么办&lt;/Text&gt;&#10;                &lt;Text style={{ fontSize: 21, color: '#1A2230', lineHeight: 1.55, marginTop: 8 }}&gt;每个高斯记录&quot;出生关键帧&quot;，回环修正时整棵子树按该关键帧的变换异步移动，不必逐个改。&lt;/Text&gt;&#10;            &lt;/Box&gt;&#10;            &lt;Box style={{ backgroundColor: '#F0F5FC', border: '1px solid #3D7BD9', borderRadius: 6, padding: '14px 18px', flexDirection: 'column' }}&gt;&#10;                &lt;Text style={{ fontSize: 23, fontWeight: 'bold', color: '#1E4FA8' }}&gt;实测效果（论文）&lt;/Text&gt;&#10;                &lt;Text style={{ fontSize: 21, color: '#1A2230', lineHeight: 1.55, marginTop: 8 }}&gt;CityWalk 不用层级：第 &lt;b&gt;795/4050&lt;/b&gt; 帧即 OOM；用后峰值高斯 &amp;lt; &lt;b&gt;370 万&lt;/b&gt;、显存 &amp;lt; &lt;b&gt;12.8 GB&lt;/b&gt;，层级达 &lt;b&gt;8 层&lt;/b&gt;。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核心四：让显存不随场景线性爆炸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381000" y="942975"/>
            <a:ext cx="3619500" cy="4352925"/>
          </a:xfrm>
          <a:prstGeom prst="roundRect">
            <a:avLst>
              <a:gd name="adj" fmla="val 157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571500" y="1152525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0.5 px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71500" y="2162175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屏幕尺寸小于该值、且这类高斯占比超过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20%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时，触发合并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71500" y="3038475"/>
            <a:ext cx="32385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71500" y="3181350"/>
            <a:ext cx="3238500" cy="9334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550" b="1">
                <a:solidFill>
                  <a:srgbClr val="1E4FA8"/>
                </a:solidFill>
                <a:latin typeface="Microsoft YaHei"/>
                <a:ea typeface="Microsoft YaHei"/>
              </a:rPr>
              <a:t>1 px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71500" y="4191000"/>
            <a:ext cx="32385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合并节点的贡献超过该值时，异步回取其子节点（双缓冲防卡顿）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248150" y="94297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419600" y="107632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合并怎么做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419600" y="141922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个最近高斯，按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KL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散度合并成一个父节点；叶节点参数卸载到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内存，显存只留活跃部分。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4248150" y="2438400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419600" y="2571750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回环时怎么办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19600" y="2914650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每个高斯记录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出生关键帧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，回环修正时整棵子树按该关键帧的变换异步移动，不必逐个改。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4248150" y="3933825"/>
            <a:ext cx="7562850" cy="1362075"/>
          </a:xfrm>
          <a:prstGeom prst="roundRect">
            <a:avLst>
              <a:gd name="adj" fmla="val 4196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419600" y="4067175"/>
            <a:ext cx="721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实测效果（论文）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19600" y="4410075"/>
            <a:ext cx="721995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不用层级：第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795/4050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帧即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；用后峰值高斯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370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、显存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12.8 GB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，层级达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层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0 / 12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4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4, fontWeight: 'bold', color: '#1E4FA8' }}&gt;我们的复现：跑通了什么、拿到了什么数&lt;/Text&gt;&#10;        &lt;Text style={{ fontSize: 15, color: '#8B97A8' }}&gt;11 / 12&lt;/Text&gt;&#10;    &lt;/Box&gt;&#10;&#10;    &lt;Box style={{ padding: '16px 40px 0px 40px', flexDirection: 'row', gap: 14 }}&gt;&#10;        &lt;Box style={{ flex: 1, backgroundColor: '#1E4FA8', borderRadius: 6, padding: '12px 14px', flexDirection: 'column' }}&gt;&#10;            &lt;Text style={{ fontSize: 32, fontWeight: 'bold', color: '#FFFFFF' }}&gt;25.95 dB&lt;/Text&gt;&#10;            &lt;Text style={{ fontSize: 16, color: '#D6E4F7' }}&gt;PSNR（SSIM 0.786 / LPIPS 0.206）&lt;/Text&gt;&#10;        &lt;/Box&gt;&#10;        &lt;Box style={{ flex: 1, backgroundColor: '#1E4FA8', borderRadius: 6, padding: '12px 14px', flexDirection: 'column' }}&gt;&#10;            &lt;Text style={{ fontSize: 32, fontWeight: 'bold', color: '#FFFFFF' }}&gt;62.7 s&lt;/Text&gt;&#10;            &lt;Text style={{ fontSize: 16, color: '#D6E4F7' }}&gt;185 帧流式重建，2.95 帧/秒&lt;/Text&gt;&#10;        &lt;/Box&gt;&#10;        &lt;Box style={{ flex: 1, backgroundColor: '#1E4FA8', borderRadius: 6, padding: '12px 14px', flexDirection: 'column' }}&gt;&#10;            &lt;Text style={{ fontSize: 32, fontWeight: 'bold', color: '#FFFFFF' }}&gt;R° 0.16&lt;/Text&gt;&#10;            &lt;Text style={{ fontSize: 16, color: '#D6E4F7' }}&gt;位姿误差（t 1.89，未用 COLMAP 先验）&lt;/Text&gt;&#10;        &lt;/Box&gt;&#10;        &lt;Box style={{ flex: 1, backgroundColor: '#1E4FA8', borderRadius: 6, padding: '12px 14px', flexDirection: 'column' }}&gt;&#10;            &lt;Text style={{ fontSize: 32, fontWeight: 'bold', color: '#FFFFFF' }}&gt;19.5 GB&lt;/Text&gt;&#10;            &lt;Text style={{ fontSize: 16, color: '#D6E4F7' }}&gt;峰值显存（2× 降采样，36.2 万高斯）&lt;/Text&gt;&#10;        &lt;/Box&gt;&#10;    &lt;/Box&gt;&#10;&#10;    &lt;Box style={{ padding: '14px 40px 0px 40px', flexDirection: 'row', gap: 22 }}&gt;&#10;        &lt;Box style={{ width: '430px', flexDirection: 'column', gap: 8 }}&gt;&#10;            &lt;Text style={{ fontSize: 20, fontWeight: 'bold', color: '#1A2230' }}&gt;四步全部走完&lt;/Text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环境搭建：torch 2.7.1+cu126，扩展按 sm_89 编译通过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数据与模型链：185 张图 + 5 个上游权重全部离线可用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端到端重建：156 个关键帧、36.2 万高斯，一次跑通&lt;/Text&gt;&#10;            &lt;/Box&gt;&#10;            &lt;Box style={{ backgroundColor: '#F0F5FC', borderRadius: 6, padding: '9px 12px', flexDirection: 'row', gap: 8 }}&gt;&#10;                &lt;Text style={{ fontSize: 17, color: '#1E4FA8', fontWeight: 'bold' }}&gt;✓&lt;/Text&gt;&#10;                &lt;Text style={{ fontSize: 16, color: '#1A2230', lineHeight: 1.4 }}&gt;评估与可视化：149 帧漫游视频 + 24 张测试视角渲染图&lt;/Text&gt;&#10;            &lt;/Box&gt;&#10;            &lt;Box style={{ backgroundColor: '#FFF6F6', border: '1px solid #E8C4C2', borderRadius: 6, padding: '9px 12px', flexDirection: 'column' }}&gt;&#10;                &lt;Text style={{ fontSize: 15, color: '#D9534F', fontWeight: 'bold' }}&gt;换成 4×RTX 4090 才跑完&lt;/Text&gt;&#10;                &lt;Text style={{ fontSize: 15, color: '#5A6B80', lineHeight: 1.4, marginTop: 2 }}&gt;原 5090 机器长期被他人任务占满，可跑通模块但无法完成整段重建。&lt;/Text&gt;&#10;            &lt;/Box&gt;&#10;        &lt;/Box&gt;&#10;        &lt;Box style={{ flex: 1, flexDirection: 'column', gap: 7 }}&gt;&#10;            &lt;Text style={{ fontSize: 20, fontWeight: 'bold', color: '#1A2230' }}&gt;照 README 装完跑不起来 —— 累计 12 个坑&lt;/Text&gt;&#10;            &lt;Text style={{ fontSize: 16, color: '#1A2230', lineHeight: 1.45 }}&gt;&lt;b&gt;① 架构&lt;/b&gt;　sm_120 要 cu128；换 4090 后要改回 sm_89，否则编译产物不可用&lt;/Text&gt;&#10;            &lt;Text style={{ fontSize: 16, color: '#1A2230', lineHeight: 1.45 }}&gt;&lt;b&gt;② 源码&lt;/b&gt;　嵌套 glm 子模块缺失；DA-V2 子模块为空，改用 codeload tarball&lt;/Text&gt;&#10;            &lt;Text style={{ fontSize: 16, color: '#1A2230', lineHeight: 1.45 }}&gt;&lt;b&gt;③ 网络&lt;/b&gt;　GitHub / HuggingFace 均不可达，权重与 hub 缓存全部本地化&lt;/Text&gt;&#10;            &lt;Text style={{ fontSize: 16, color: '#1A2230', lineHeight: 1.45 }}&gt;&lt;b&gt;④ 精度&lt;/b&gt;　MegaLoc 半精度冲突、VPR 前向硬写 half，改为跟随 dtype&lt;/Text&gt;&#10;            &lt;Text style={{ fontSize: 16, color: '#1A2230', lineHeight: 1.45 }}&gt;&lt;b&gt;⑤ 环境&lt;/b&gt;　必须在 i3dgs/ 下运行；DA3 缺 6 个运行期依赖 + 2 个构建后端&lt;/Text&gt;&#10;            &lt;Text style={{ fontSize: 16, color: '#1A2230', lineHeight: 1.45 }}&gt;&lt;b&gt;⑥ 缓存&lt;/b&gt;　torch.hub 只搬了仓库代码、漏了 checkpoints 与 HF 缓存，一启动就联网&lt;/Text&gt;&#10;            &lt;Text style={{ fontSize: 14, color: '#8B97A8', lineHeight: 1.4, marginTop: 2 }}&gt;12 个坑里真正要改代码的只有 3 处，落在 2 个文件，均标注 [LOCAL PATCH]。&lt;/Text&gt;&#10;        &lt;/Box&gt;&#10;    &lt;/Box&gt;&#10;&#10;    &lt;Box style={{ marginTop: 'auto', marginLeft: 40, marginRight: 40, marginBottom: 26, backgroundColor: '#F7F9FC', border: '1px solid #D6DCE5', borderRadius: 6, padding: '11px 14px', flexDirection: 'row', justifyContent: 'space-between', alignItems: 'center' }}&gt;&#10;        &lt;Text style={{ fontSize: 15, color: '#3A4A5E' }}&gt;一键复现：&lt;b&gt;bash scripts/run_all_14.sh&lt;/b&gt;　（自动挑最空闲的 4090 → 重建 → 渲染漫游视频 → 汇总指标）&lt;/Text&gt;&#10;        &lt;Text style={{ fontSize: 14, color: '#8B97A8' }}&gt;172.88.88.14 / 4×RTX 4090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8293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我们的复现：跑通了什么、拿到了什么数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1325225" y="5429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81000" y="866775"/>
            <a:ext cx="2762250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14350" y="981075"/>
            <a:ext cx="249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4350" y="1352550"/>
            <a:ext cx="249555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PSNR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SSIM 0.786 / LPIPS 0.206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276600" y="866775"/>
            <a:ext cx="2752725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3409950" y="981075"/>
            <a:ext cx="2486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62.7 s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409950" y="1352550"/>
            <a:ext cx="2486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帧流式重建，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2.95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帧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6162675" y="866775"/>
            <a:ext cx="2762250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296025" y="981075"/>
            <a:ext cx="249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R° 0.16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296025" y="1352550"/>
            <a:ext cx="249555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位姿误差（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>t 1.89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，未用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 COLMAP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先验）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9058275" y="866775"/>
            <a:ext cx="2752725" cy="971550"/>
          </a:xfrm>
          <a:prstGeom prst="roundRect">
            <a:avLst>
              <a:gd name="adj" fmla="val 58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9191625" y="981075"/>
            <a:ext cx="2486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FFFFFF"/>
                </a:solidFill>
                <a:latin typeface="Microsoft YaHei"/>
                <a:ea typeface="Microsoft YaHei"/>
              </a:rPr>
              <a:t>19.5 GB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9191625" y="1352550"/>
            <a:ext cx="2486025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峰值显存（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2×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降采样，</a:t>
            </a:r>
            <a:r>
              <a:rPr lang="en-US" sz="1200">
                <a:solidFill>
                  <a:srgbClr val="D6E4F7"/>
                </a:solidFill>
                <a:latin typeface="Microsoft YaHei"/>
                <a:ea typeface="Microsoft YaHei"/>
              </a:rPr>
              <a:t xml:space="preserve">36.2 </a:t>
            </a:r>
            <a:r>
              <a:rPr lang="zh-CN" sz="1200">
                <a:solidFill>
                  <a:srgbClr val="D6E4F7"/>
                </a:solidFill>
                <a:latin typeface="Microsoft YaHei"/>
                <a:ea typeface="Microsoft YaHei"/>
              </a:rPr>
              <a:t>万高斯）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971675"/>
            <a:ext cx="409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四步全部走完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381000" y="2276475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495300" y="2362200"/>
            <a:ext cx="152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23900" y="236220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环境搭建：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torch 2.7.1+cu126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，扩展按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sm_89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编译通过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381000" y="2781300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2867025"/>
            <a:ext cx="16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33425" y="2867025"/>
            <a:ext cx="3629025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数据与模型链：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张图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+ 5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个上游权重全部离线可用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381000" y="3286125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95300" y="3371850"/>
            <a:ext cx="16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33425" y="3371850"/>
            <a:ext cx="35623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端到端重建：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156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个关键帧、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36.2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万高斯，一次跑通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81000" y="3790950"/>
            <a:ext cx="4095750" cy="428625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95300" y="3876675"/>
            <a:ext cx="152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23900" y="3876675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评估与可视化：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149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帧漫游视频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张测试视角渲染图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81000" y="4295775"/>
            <a:ext cx="4095750" cy="847725"/>
          </a:xfrm>
          <a:prstGeom prst="roundRect">
            <a:avLst>
              <a:gd name="adj" fmla="val 6742"/>
            </a:avLst>
          </a:prstGeom>
          <a:solidFill>
            <a:srgbClr val="FFF6F6"/>
          </a:solidFill>
          <a:ln w="12700">
            <a:solidFill>
              <a:srgbClr val="E8C4C2"/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95300" y="4381500"/>
            <a:ext cx="3867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换成</a:t>
            </a: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4×RTX 4090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才跑完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95300" y="4572000"/>
            <a:ext cx="3867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5A6B80"/>
                </a:solidFill>
                <a:latin typeface="Microsoft YaHei"/>
                <a:ea typeface="Microsoft YaHei"/>
              </a:rPr>
              <a:t>原</a:t>
            </a:r>
            <a:r>
              <a:rPr lang="en-US" sz="1125">
                <a:solidFill>
                  <a:srgbClr val="5A6B80"/>
                </a:solidFill>
                <a:latin typeface="Microsoft YaHei"/>
                <a:ea typeface="Microsoft YaHei"/>
              </a:rPr>
              <a:t xml:space="preserve"> 5090 </a:t>
            </a:r>
            <a:r>
              <a:rPr lang="zh-CN" sz="1125">
                <a:solidFill>
                  <a:srgbClr val="5A6B80"/>
                </a:solidFill>
                <a:latin typeface="Microsoft YaHei"/>
                <a:ea typeface="Microsoft YaHei"/>
              </a:rPr>
              <a:t>机器长期被他人任务占满，可跑通模块但无法完成整段重建。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686300" y="1971675"/>
            <a:ext cx="7124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照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装完跑不起来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累计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个坑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686300" y="226695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架构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sm_120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cu128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；换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4090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后要改回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sm_89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，否则编译产物不可用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4686300" y="260032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源码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嵌套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glm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子模块缺失；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DA-V2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子模块为空，改用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codeload tarball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4686300" y="293370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网络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GitHub / HuggingFace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均不可达，权重与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hub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缓存全部本地化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686300" y="326707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半精度冲突、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前向硬写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half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，改为跟随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dtype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4686300" y="3600450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环境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必须在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i3dgs/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下运行；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DA3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缺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个运行期依赖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个构建后端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686300" y="3933825"/>
            <a:ext cx="71247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torch.hub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只搬了仓库代码、漏了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checkpoints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HF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缓存，一启动就联网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686300" y="4286250"/>
            <a:ext cx="71247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个坑里真正要改代码的只有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处，落在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个文件，均标注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[LOCAL PATCH]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381000" y="6229350"/>
            <a:ext cx="11430000" cy="3810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514350" y="6334125"/>
            <a:ext cx="665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一键复现：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>bash scripts/run_all_14.sh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　（自动挑最空闲的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4090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重建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渲染漫游视频</a:t>
            </a:r>
            <a:r>
              <a:rPr lang="en-US" sz="1125">
                <a:solidFill>
                  <a:srgbClr val="3A4A5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3A4A5E"/>
                </a:solidFill>
                <a:latin typeface="Microsoft YaHei"/>
                <a:ea typeface="Microsoft YaHei"/>
              </a:rPr>
              <a:t>汇总指标）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9963150" y="634365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172.88.88.14 / 4×RTX 4090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8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读后感与结论&lt;/Text&gt;&#10;        &lt;Text style={{ fontSize: 15, color: '#8B97A8' }}&gt;12 / 12&lt;/Text&gt;&#10;    &lt;/Box&gt;&#10;    &lt;Box style={{ padding: '18px 40px 0px 40px', flexDirection: 'row', gap: 16 }}&gt;&#10;        &lt;Box style={{ flex: 1, backgroundColor: '#F7F9FC', border: '1px solid #D6DCE5', borderRadius: 6, padding: '14px 16px', flexDirection: 'column' }}&gt;&#10;            &lt;Text style={{ fontSize: 23, fontWeight: 'bold', color: '#1E4FA8' }}&gt;它强在哪&lt;/Text&gt;&#10;            &lt;Text style={{ fontSize: 20, color: '#1A2230', lineHeight: 1.55, marginTop: 8 }}&gt;解决真实采集痛点而非刷指标；乱序只掉 0.5 dB；分钟级 vs 小时级；工程完整、可直接用。&lt;/Text&gt;&#10;        &lt;/Box&gt;&#10;        &lt;Box style={{ flex: 1, backgroundColor: '#F7F9FC', border: '1px solid #D6DCE5', borderRadius: 6, padding: '14px 16px', flexDirection: 'column' }}&gt;&#10;            &lt;Text style={{ fontSize: 23, fontWeight: 'bold', color: '#1E4FA8' }}&gt;它弱在哪&lt;/Text&gt;&#10;            &lt;Text style={{ fontSize: 20, color: '#1A2230', lineHeight: 1.55, marginTop: 8 }}&gt;纯旋转 / 低视差失败；图传播精度不及全局 BA；依赖一长串上游模型；层级阈值靠经验。&lt;/Text&gt;&#10;        &lt;/Box&gt;&#10;        &lt;Box style={{ flex: 1, backgroundColor: '#F0F5FC', border: '1px solid #3D7BD9', borderRadius: 6, padding: '14px 16px', flexDirection: 'column' }}&gt;&#10;            &lt;Text style={{ fontSize: 23, fontWeight: 'bold', color: '#1E4FA8' }}&gt;往哪走&lt;/Text&gt;&#10;            &lt;Text style={{ fontSize: 20, color: '#1A2230', lineHeight: 1.55, marginTop: 8 }}&gt;竞争点从&quot;重建质量&quot;转向&quot;采集体验&quot;：实时提示覆盖不足、重投影误差，甚至主动规划拍摄路径。&lt;/Text&gt;&#10;        &lt;/Box&gt;&#10;    &lt;/Box&gt;&#10;    &lt;Box style={{ margin: '20px 40px 0px 40px', backgroundColor: '#1E4FA8', borderRadius: 6, padding: '18px 22px' }}&gt;&#10;        &lt;Text style={{ fontSize: 23, fontWeight: 'bold', color: '#FFFFFF', lineHeight: 1.5 }}&gt;一句话总结：它用&quot;图上的距离&quot;换掉了&quot;全局优化的解&quot;，把 3DGS 从离线工具变成了采集现场的仪表盘。&lt;/Text&gt;&#10;    &lt;/Box&gt;&#10;    &lt;Box style={{ padding: '16px 40px 0px 40px' }}&gt;&#10;        &lt;Text style={{ fontSize: 19, color: '#4A5568', lineHeight: 1.5 }}&gt;复现心得：真正拖住复现的往往不是论文里的算法，而是 CUDA 架构、子模块层级、权重来源这些&quot;隐性依赖&quot;——这也是课程要求写&quot;代码分析&quot;的意义。&lt;/Text&gt;&#10;    &lt;/Box&gt;&#10;    &lt;Box style={{ padding: '22px 40px 0px 40px', flexDirection: 'row', justifyContent: 'space-between', alignItems: 'center' }}&gt;&#10;        &lt;Text style={{ fontSize: 26, fontWeight: 'bold', color: '#1E4FA8' }}&gt;谢谢，欢迎提问&lt;/Text&gt;&#10;        &lt;Text style={{ fontSize: 15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读后感与结论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923925"/>
            <a:ext cx="3705225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33400" y="1057275"/>
            <a:ext cx="34004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它强在哪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33400" y="1400175"/>
            <a:ext cx="3400425" cy="1066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解决真实采集痛点而非刷指标；乱序只掉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dB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；分钟级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小时级；工程完整、可直接用。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238625" y="923925"/>
            <a:ext cx="3714750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391025" y="1057275"/>
            <a:ext cx="34099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它弱在哪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391025" y="1400175"/>
            <a:ext cx="3409950" cy="1066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纯旋转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低视差失败；图传播精度不及全局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；依赖一长串上游模型；层级阈值靠经验。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8105775" y="923925"/>
            <a:ext cx="3705225" cy="1676400"/>
          </a:xfrm>
          <a:prstGeom prst="roundRect">
            <a:avLst>
              <a:gd name="adj" fmla="val 340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8258175" y="1057275"/>
            <a:ext cx="34004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E4FA8"/>
                </a:solidFill>
                <a:latin typeface="Microsoft YaHei"/>
                <a:ea typeface="Microsoft YaHei"/>
              </a:rPr>
              <a:t>往哪走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8258175" y="1400175"/>
            <a:ext cx="3400425" cy="1066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竞争点从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重建质量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转向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采集体验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：实时提示覆盖不足、重投影误差，甚至主动规划拍摄路径。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81000" y="2790825"/>
            <a:ext cx="11430000" cy="742950"/>
          </a:xfrm>
          <a:prstGeom prst="roundRect">
            <a:avLst>
              <a:gd name="adj" fmla="val 769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90550" y="2962275"/>
            <a:ext cx="11010900" cy="4000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一句话总结：它用</a:t>
            </a:r>
            <a:r>
              <a:rPr lang="en-US" sz="1725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725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换掉了</a:t>
            </a:r>
            <a:r>
              <a:rPr lang="en-US" sz="1725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725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，把</a:t>
            </a:r>
            <a:r>
              <a:rPr lang="en-US" sz="17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725" b="1">
                <a:solidFill>
                  <a:srgbClr val="FFFFFF"/>
                </a:solidFill>
                <a:latin typeface="Microsoft YaHei"/>
                <a:ea typeface="Microsoft YaHei"/>
              </a:rPr>
              <a:t>从离线工具变成了采集现场的仪表盘。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3686175"/>
            <a:ext cx="1143000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复现心得：真正拖住复现的往往不是论文里的算法，而是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CUDA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架构、子模块层级、权重来源这些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隐性依赖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"——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这也是课程要求写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代码分析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的意义。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381000" y="4552950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048375" y="46196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2026-10-26T14:50:16Z</dcterms:created>
  <dcterms:modified xsi:type="dcterms:W3CDTF">2026-10-26T14:50:16Z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{"AIGC":{"Label":"1","ContentProducer":"00119111010856365494821B355","ProduceID":"01a176c320b374ad921f03c111fb7d53","ReservedCode1":"","ContentPropagator":"00119111010856365494821B355","PropagateID":"01a176c320b374ad921f03c111fb7d53","ReservedCode2":""}}</vt:lpwstr>
  </property>
</Properties>
</file>