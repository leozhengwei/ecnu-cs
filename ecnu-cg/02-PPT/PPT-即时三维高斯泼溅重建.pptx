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theme/theme2.xml" ContentType="application/vnd.openxmlformats-officedocument.them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4" Type="http://schemas.openxmlformats.org/officeDocument/2006/relationships/slide" Target="slides/slide14.xml" /><Relationship Id="rId12" Type="http://schemas.openxmlformats.org/officeDocument/2006/relationships/slide" Target="slides/slide12.xml" /><Relationship Id="rId16" Type="http://schemas.openxmlformats.org/officeDocument/2006/relationships/notesMaster" Target="notesMasters/notesMaster1.xml" /><Relationship Id="rId15" Type="http://schemas.openxmlformats.org/officeDocument/2006/relationships/slide" Target="slides/slide15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9" Type="http://schemas.openxmlformats.org/officeDocument/2006/relationships/slide" Target="slides/slide9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png" /><Relationship Id="rId2" Type="http://schemas.openxmlformats.org/officeDocument/2006/relationships/image" Target="media/image16.png" 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media/image18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7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png" /><Relationship Id="rId2" Type="http://schemas.openxmlformats.org/officeDocument/2006/relationships/image" Target="media/image20.pn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22.png" /><Relationship Id="rId1" Type="http://schemas.openxmlformats.org/officeDocument/2006/relationships/image" Target="media/image21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3.png" /><Relationship Id="rId2" Type="http://schemas.openxmlformats.org/officeDocument/2006/relationships/image" Target="media/image24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3" Type="http://schemas.openxmlformats.org/officeDocument/2006/relationships/image" Target="media/image7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Relationship Id="rId2" Type="http://schemas.openxmlformats.org/officeDocument/2006/relationships/image" Target="media/image6.png" /><Relationship Id="rId4" Type="http://schemas.openxmlformats.org/officeDocument/2006/relationships/image" Target="media/image8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png" /><Relationship Id="rId5" Type="http://schemas.openxmlformats.org/officeDocument/2006/relationships/image" Target="media/image13.png" /><Relationship Id="rId2" Type="http://schemas.openxmlformats.org/officeDocument/2006/relationships/image" Target="media/image10.png" /><Relationship Id="rId6" Type="http://schemas.openxmlformats.org/officeDocument/2006/relationships/image" Target="media/image14.png" /><Relationship Id="rId4" Type="http://schemas.openxmlformats.org/officeDocument/2006/relationships/image" Target="media/image12.png" /><Relationship Id="rId3" Type="http://schemas.openxmlformats.org/officeDocument/2006/relationships/image" Target="media/image1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auto', padding: '26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134100"/>
            <a:ext cx="12192000" cy="7239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638175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638175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34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研究背景：两条路都卡在同一个前提上&lt;/Text&gt;&#10;        &lt;Text style={{ fontSize: 15, color: '#8B97A8' }}&gt;02 / 15&lt;/Text&gt;&#10;    &lt;/Box&gt;&#10;    &lt;Box style={{ padding: '8px 40px 0px 40px' }}&gt;&#10;        &lt;Text style={{ fontSize: 20, color: '#4A5568', lineHeight: 1.4 }}&gt;拿到“一组照片 → 一个可漫游的 3D 场景”，过去只有两条路。它们的分歧不在算法细节，而在&lt;b&gt;什么时候允许开始计算&lt;/b&gt;。&lt;/Text&gt;&#10;    &lt;/Box&gt;&#10;&#10;    &lt;Box style={{ padding: '14px 40px 0px 40px', flexDirection: 'row', gap: 22 }}&gt;&#10;        &lt;Box style={{ flex: 1, backgroundColor: '#F7F9FC', border: '1px solid #D6DCE5', borderRadius: 6, padding: '13px 18px', flexDirection: 'column' }}&gt;&#10;            &lt;Text style={{ fontSize: 24, fontWeight: 'bold', color: '#1A2230' }}&gt;路线一　离线 SfM + 3DGS&lt;/Text&gt;&#10;            &lt;Text style={{ fontSize: 16, color: '#4A5568', marginTop: 4 }}&gt;COLMAP / GLOMAP ＋ 3DGS、H3DGS、Octree-GS&lt;/Text&gt;&#10;            &lt;Text style={{ fontSize: 19, color: '#1A2230', lineHeight: 1.5, marginTop: 9 }}&gt;先把所有照片两两匹配、三角化、全局 BA 解出位姿，再训练高斯。质量最高、全局一致，但&lt;b&gt;必须等图全部到齐&lt;/b&gt;。&lt;/Text&gt;&#10;            &lt;Text style={{ fontSize: 19, color: '#1E4FA8', fontWeight: 'bold', marginTop: 8 }}&gt;前提：先有完整的照片集合&lt;/Text&gt;&#10;            &lt;Text style={{ fontSize: 19, color: '#D9534F', fontWeight: 'bold', marginTop: 2 }}&gt;代价：现场给不出任何反馈&lt;/Text&gt;&#10;        &lt;/Box&gt;&#10;        &lt;Box style={{ flex: 1, backgroundColor: '#F0F5FC', border: '1px solid #3D7BD9', borderRadius: 6, padding: '13px 18px', flexDirection: 'column' }}&gt;&#10;            &lt;Text style={{ fontSize: 24, fontWeight: 'bold', color: '#1A2230' }}&gt;路线二　增量 / 类 SLAM&lt;/Text&gt;&#10;            &lt;Text style={{ fontSize: 16, color: '#4A5568', marginTop: 4 }}&gt;Photo-SLAM、MonoGS、Droid-Splat、LongSplat&lt;/Text&gt;&#10;            &lt;Text style={{ fontSize: 19, color: '#1A2230', lineHeight: 1.5, marginTop: 9 }}&gt;边收边建、可交互，但新帧只与&lt;b&gt;时间上相邻&lt;/b&gt;的少数帧匹配（通常 5 帧窗口），转身回访、拼接两段序列就断了。&lt;/Text&gt;&#10;            &lt;Text style={{ fontSize: 19, color: '#1E4FA8', fontWeight: 'bold', marginTop: 8 }}&gt;前提：输入必须是连续视频&lt;/Text&gt;&#10;            &lt;Text style={{ fontSize: 19, color: '#D9534F', fontWeight: 'bold', marginTop: 2 }}&gt;代价：离开时间邻域就失效&lt;/Text&gt;&#10;        &lt;/Box&gt;&#10;    &lt;/Box&gt;&#10;&#10;    &lt;Box style={{ margin: '12px 40px 0px 40px', backgroundColor: '#1E4FA8', borderRadius: 6, padding: '11px 22px' }}&gt;&#10;        &lt;Text style={{ fontSize: 21, fontWeight: 'bold', color: '#FFFFFF', lineHeight: 1.4 }}&gt;两条路的前提是同一个东西：&lt;b&gt;帧序&lt;/b&gt;——一条等它全部确定，一条假设它天然有序，而真实拍摄两样都不满足。&lt;/Text&gt;&#10;    &lt;/Box&gt;&#10;&#10;    &lt;Box style={{ padding: '12px 40px 0px 40px', flexDirection: 'row', gap: 14 }}&gt;&#10;        &lt;Box style={{ flex: 1, backgroundColor: '#F7F9FC', border: '1px solid #D6DCE5', borderRadius: 6, padding: '10px 14px', flexDirection: 'column' }}&gt;&#10;            &lt;Text style={{ fontSize: 21, fontWeight: 'bold', color: '#1A2230' }}&gt;① 等&lt;/Text&gt;&#10;            &lt;Text style={{ fontSize: 16.5, color: '#1A2230', lineHeight: 1.4, marginTop: 5 }}&gt;全部图像就位才能开算，拍完不知道行不行，回家发现漏拍只能重拍。&lt;/Text&gt;&#10;            &lt;Text style={{ fontSize: 15, color: '#D9534F', fontWeight: 'bold', marginTop: 4 }}&gt;返工成本最高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② 乱&lt;/Text&gt;&#10;            &lt;Text style={{ fontSize: 16.5, color: '#1A2230', lineHeight: 1.4, marginTop: 5 }}&gt;随手拍的顺序与空间邻接无关，只能两两匹配：1000 张约 50 万对。&lt;/Text&gt;&#10;            &lt;Text style={{ fontSize: 15, color: '#D9534F', fontWeight: 'bold', marginTop: 4 }}&gt;SfM 从分钟变小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③ 漂&lt;/Text&gt;&#10;            &lt;Text style={{ fontSize: 16.5, color: '#1A2230', lineHeight: 1.4, marginTop: 5 }}&gt;边走边建误差累积，绕一圈回来首尾差半米；传统做法重跑全局 BA。&lt;/Text&gt;&#10;            &lt;Text style={{ fontSize: 15, color: '#D9534F', fontWeight: 'bold', marginTop: 4 }}&gt;实时性当场归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④ 爆&lt;/Text&gt;&#10;            &lt;Text style={{ fontSize: 16.5, color: '#1A2230', lineHeight: 1.4, marginTop: 5 }}&gt;高斯数随场景线性增长：不开层级，CityWalk 到第 795 / 4050 帧就 OOM。&lt;/Text&gt;&#10;            &lt;Text style={{ fontSize: 15, color: '#D9534F', fontWeight: 'bold', marginTop: 4 }}&gt;规模一上来就跑不完&lt;/Text&gt;&#10;        &lt;/Box&gt;&#10;    &lt;/Box&gt;&#10;&#10;    &lt;Box style={{ marginTop: 'auto', margin: '10px 40px 12px 40px', backgroundColor: '#F0F5FC', borderLeft: '5px solid #1E4FA8', padding: '9px 18px' }}&gt;&#10;        &lt;Text style={{ fontSize: 18, color: '#1A2230', lineHeight: 1.4 }}&gt;四个现象收敛成三条必须&lt;b&gt;同时&lt;/b&gt;成立的约束：即时（每帧数百毫秒）· 无序（不依赖帧序）· 全局一致（回环能修）——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3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研究背景：两条路都卡在同一个前提上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拿到“一组照片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场景”，过去只有两条路。它们的分歧不在算法细节，而在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381000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52450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552450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COLMAP / GLOMAP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552450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46" name=""/>
          <p:cNvSpPr/>
          <p:nvPr/>
        </p:nvSpPr>
        <p:spPr>
          <a:xfrm rot="0" flipH="0" flipV="0">
            <a:off x="6200775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6372225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372225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6372225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边收边建、可交互，但新帧只与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帧窗口），转身回访、拼接两段序列就断了。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6372225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372225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52" name=""/>
          <p:cNvSpPr/>
          <p:nvPr/>
        </p:nvSpPr>
        <p:spPr>
          <a:xfrm rot="0" flipH="0" flipV="0">
            <a:off x="381000" y="3362325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590550" y="3467100"/>
            <a:ext cx="11010900" cy="3429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——一条等它全部确定，一条假设它天然有序，而真实拍摄两样都不满足。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381000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14350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514350" y="4419600"/>
            <a:ext cx="24955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全部图像就位才能开算，拍完不知道行不行，回家发现漏拍只能重拍。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514350" y="52578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3276600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3409950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乱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3409950" y="4419600"/>
            <a:ext cx="2486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随手拍的顺序与空间邻接无关，只能两两匹配：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万对。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3409950" y="49911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162675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296025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漂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296025" y="4419600"/>
            <a:ext cx="2495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边走边建误差累积，绕一圈回来首尾差半米；传统做法重跑全局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296025" y="49911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9058275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9191625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爆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191625" y="4419600"/>
            <a:ext cx="24860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高斯数随场景线性增长：不开层级，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795 / 4050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9191625" y="52578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428625" y="5991225"/>
            <a:ext cx="11430000" cy="75247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381000" y="5991225"/>
            <a:ext cx="11477625" cy="752475"/>
          </a:xfrm>
          <a:custGeom>
            <a:pathLst>
              <a:path w="1205" h="79">
                <a:moveTo>
                  <a:pt x="0" y="0"/>
                </a:moveTo>
                <a:lnTo>
                  <a:pt x="5" y="0"/>
                </a:lnTo>
                <a:lnTo>
                  <a:pt x="5" y="79"/>
                </a:lnTo>
                <a:lnTo>
                  <a:pt x="0" y="7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600075" y="6076950"/>
            <a:ext cx="11039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四个现象收敛成三条必须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同时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成立的约束：即时（每帧数百毫秒）·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全局一致（回环能修）——过去的方法最多同时满足两条。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7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摘要与贡献：它把哪件事第一次做成了&lt;/Text&gt;&#13;&#10;        &lt;Text style={{ fontSize: 15, color: '#8B97A8' }}&gt;03 / 15&lt;/Text&gt;&#13;&#10;    &lt;/Box&gt;&#13;&#10;&#13;&#10;    &lt;Box style={{ padding: '20px 40px 0px 40px', flexDirection: 'row', gap: 22 }}&gt;&#13;&#10;        &lt;Box style={{ width: 438, flexDirection: 'column', gap: 13 }}&gt;&#13;&#10;            &lt;Box style={{ backgroundColor: '#F0F5FC', borderLeft: '4px solid #1E4FA8', padding: '12px 15px', flexDirection: 'column' }}&gt;&#13;&#10;                &lt;Text style={{ fontSize: 19, fontWeight: 'bold', color: '#1E4FA8' }}&gt;问题&lt;/Text&gt;&#13;&#10;                &lt;Text style={{ fontSize: 18, color: '#1A2230', lineHeight: 1.45, marginTop: 4 }}&gt;3DGS 质量高、可实时渲染，但训练前必须由 SfM 离线解位姿；SfM 要等图到齐，且对乱序敏感。&lt;/Text&gt;&#13;&#10;            &lt;/Box&gt;&#13;&#10;            &lt;Box style={{ backgroundColor: '#F7F9FC', borderLeft: '4px solid #4A5568', padding: '12px 15px', flexDirection: 'column' }}&gt;&#13;&#10;                &lt;Text style={{ fontSize: 19, fontWeight: 'bold', color: '#4A5568' }}&gt;做法&lt;/Text&gt;&#13;&#10;                &lt;Text style={{ fontSize: 18, color: '#1A2230', lineHeight: 1.45, marginTop: 4 }}&gt;首个面向无序输入、具备全局一致性的即时 3DGS 重建：两级快速匹配 ＋ GPU 局部 BA ＋ 簇级回环图传播 ＋ 渐进式层级。&lt;/Text&gt;&#13;&#10;            &lt;/Box&gt;&#13;&#10;            &lt;Box style={{ backgroundColor: '#F0F5FC', borderLeft: '4px solid #3D7BD9', padding: '12px 15px', flexDirection: 'column' }}&gt;&#13;&#10;                &lt;Text style={{ fontSize: 19, fontWeight: 'bold', color: '#3D7BD9' }}&gt;结果&lt;/Text&gt;&#13;&#10;                &lt;Text style={{ fontSize: 18, color: '#1A2230', lineHeight: 1.45, marginTop: 4 }}&gt;MipNeRF360 上 &lt;b&gt;1 分 17 秒&lt;/b&gt;达 &lt;b&gt;26.29 dB&lt;/b&gt;（离线参考 8 分 50 秒 / 27.52 dB）；输入打乱只掉 &lt;b&gt;0.5 dB&lt;/b&gt;。&lt;/Text&gt;&#13;&#10;            &lt;/Box&gt;&#13;&#10;            &lt;Text style={{ fontSize: 15, color: '#8B97A8', lineHeight: 1.35 }}&gt;关键词：三维高斯泼溅 · 无序采集 · 即时重建 · 协视图 · 回环闭合 · 渐进式层级&lt;/Text&gt;&#13;&#10;        &lt;/Box&gt;&#13;&#10;&#13;&#10;        &lt;Box style={{ flex: 1, flexDirection: 'column', gap: 13 }}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1&lt;/Text&gt;&#13;&#10;                        &lt;/Box&gt;&#13;&#10;                        &lt;Text style={{ fontSize: 21, fontWeight: 'bold', color: '#1A2230' }}&gt;无序序列快速匹配&lt;/Text&gt;&#13;&#10;                    &lt;/Box&gt;&#13;&#10;                    &lt;Text style={{ fontSize: 17.5, color: '#1A2230', lineHeight: 1.45, marginTop: 7 }}&gt;三级串联把候选从 1000 收到 1；配加权协视图 ＋ 高连通贪心选窗。&lt;/Text&gt;&#13;&#10;                    &lt;Text style={{ fontSize: 15.5, color: '#1E4FA8', fontWeight: 'bold', marginTop: 7 }}&gt;治“乱” · 步骤 ①–④&lt;/Text&gt;&#13;&#10;                &lt;/Box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2&lt;/Text&gt;&#13;&#10;                        &lt;/Box&gt;&#13;&#10;                        &lt;Text style={{ fontSize: 21, fontWeight: 'bold', color: '#1A2230' }}&gt;GPU 局部重建&lt;/Text&gt;&#13;&#10;                    &lt;/Box&gt;&#13;&#10;                    &lt;Text style={{ fontSize: 17.5, color: '#1A2230', lineHeight: 1.45, marginTop: 7 }}&gt;自写 BA 核函数（稠密 Schur 补），比现有优化器快约 5 倍；分块深度对齐。&lt;/Text&gt;&#13;&#10;                    &lt;Text style={{ fontSize: 15.5, color: '#1E4FA8', fontWeight: 'bold', marginTop: 7 }}&gt;治“慢” · 步骤 ⑤、⑦&lt;/Text&gt;&#13;&#10;                &lt;/Box&gt;&#13;&#10;            &lt;/Box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3&lt;/Text&gt;&#13;&#10;                        &lt;/Box&gt;&#13;&#10;                        &lt;Text style={{ fontSize: 21, fontWeight: 'bold', color: '#1A2230' }}&gt;簇级回环闭合&lt;/Text&gt;&#13;&#10;                    &lt;/Box&gt;&#13;&#10;                    &lt;Text style={{ fontSize: 17.5, color: '#1A2230', lineHeight: 1.45, marginTop: 7 }}&gt;焊接窗口 BA ＋ Dijkstra 主干测地插值，把 Sim(3) 摊到全图，不跑第二次全局优化。&lt;/Text&gt;&#13;&#10;                    &lt;Text style={{ fontSize: 15.5, color: '#D9534F', fontWeight: 'bold', marginTop: 7 }}&gt;治“漂” · 步骤 ⑥&lt;/Text&gt;&#13;&#10;                &lt;/Box&gt;&#13;&#10;                &lt;Box style={{ flex: 1, backgroundColor: '#F0F5FC', border: '1px solid #3D7BD9', borderRadius: 6, padding: '13px 15px', flexDirection: 'column' }}&gt;&#13;&#10;                    &lt;Box style={{ flexDirection: 'row', alignItems: 'center', gap: 8 }}&gt;&#13;&#10;                        &lt;Box style={{ width: 26, height: 26, backgroundColor: '#0E3F8C', borderRadius: 4, alignItems: 'center', justifyContent: 'center' }}&gt;&#13;&#10;                            &lt;Text style={{ fontSize: 16, fontWeight: 'bold', color: '#FFFFFF' }}&gt;4&lt;/Text&gt;&#13;&#10;                        &lt;/Box&gt;&#13;&#10;                        &lt;Text style={{ fontSize: 21, fontWeight: 'bold', color: '#1A2230' }}&gt;渐进式高斯层级&lt;/Text&gt;&#13;&#10;                    &lt;/Box&gt;&#13;&#10;                    &lt;Text style={{ fontSize: 17.5, color: '#1A2230', lineHeight: 1.45, marginTop: 7 }}&gt;按屏幕投影尺寸合并 / 回取，叶节点卸载到 CPU；4050 帧显存仍控在 12.8 GB 内。&lt;/Text&gt;&#13;&#10;                    &lt;Text style={{ fontSize: 15.5, color: '#1E4FA8', fontWeight: 'bold', marginTop: 7 }}&gt;治“爆” · 步骤 ⑦&lt;/Text&gt;&#13;&#10;                &lt;/Box&gt;&#13;&#10;            &lt;/Box&gt;&#13;&#10;            &lt;Box style={{ backgroundColor: '#FFFFFF', border: '1px solid #D6DCE5', borderRadius: 6, padding: '12px 15px' }}&gt;&#13;&#10;                &lt;Text style={{ fontSize: 17, color: '#4A5568', lineHeight: 1.45 }}&gt;报告里的实测（我们的复现）：MipNeRF360 &lt;b&gt;garden&lt;/b&gt; 2× 降采样 &lt;b&gt;25.95 dB / 62.7 s / 19.5 GB&lt;/b&gt;，185 帧。差距来自分辨率与测试协议，不是方法失效。&lt;/Text&gt;&#13;&#10;            &lt;/Box&gt;&#13;&#10;        &lt;/Box&gt;&#13;&#10;    &lt;/Box&gt;&#13;&#10;&#13;&#10;    &lt;Box style={{ marginTop: 'auto', margin: '12px 40px 12px 40px', backgroundColor: '#1E4FA8', borderRadius: 6, padding: '11px 22px', flexDirection: 'column' }}&gt;&#13;&#10;        &lt;Text style={{ fontSize: 19, fontWeight: 'bold', color: '#FFFFFF', lineHeight: 1.4 }}&gt;创新在哪：&lt;b&gt;不是从零发明&lt;/b&gt;。2025 的直接前作已做到“免位姿 ＋ 大场景 ＋ 即时”，但要求图像有序、且不做回环。&lt;/Text&gt;&#13;&#10;        &lt;Text style={{ fontSize: 19, color: '#D6E4F7', lineHeight: 1.4, marginTop: 3 }}&gt;本文只补这两个假设——在&lt;b&gt;全部历史&lt;/b&gt;里检索重叠帧，用&lt;b&gt;图传播&lt;/b&gt;做不重算的回环。增量不大，但恰好补在前作的假设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7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摘要与贡献：它把哪件事第一次做成了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78" name=""/>
          <p:cNvSpPr/>
          <p:nvPr/>
        </p:nvSpPr>
        <p:spPr>
          <a:xfrm rot="0" flipH="0" flipV="0">
            <a:off x="419100" y="876300"/>
            <a:ext cx="4171950" cy="10858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9" name=""/>
          <p:cNvSpPr/>
          <p:nvPr/>
        </p:nvSpPr>
        <p:spPr>
          <a:xfrm rot="0" flipH="0" flipV="0">
            <a:off x="381000" y="876300"/>
            <a:ext cx="4210050" cy="1085850"/>
          </a:xfrm>
          <a:custGeom>
            <a:pathLst>
              <a:path w="442" h="114">
                <a:moveTo>
                  <a:pt x="0" y="0"/>
                </a:moveTo>
                <a:lnTo>
                  <a:pt x="4" y="0"/>
                </a:lnTo>
                <a:lnTo>
                  <a:pt x="4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561975" y="9906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561975" y="1247775"/>
            <a:ext cx="3848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质量高、可实时渲染，但训练前必须由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离线解位姿；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要等图到齐，且对乱序敏感。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419100" y="2085975"/>
            <a:ext cx="4171950" cy="13811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83" name=""/>
          <p:cNvSpPr/>
          <p:nvPr/>
        </p:nvSpPr>
        <p:spPr>
          <a:xfrm rot="0" flipH="0" flipV="0">
            <a:off x="381000" y="208597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561975" y="22002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A5568"/>
                </a:solidFill>
                <a:latin typeface="Microsoft YaHei"/>
                <a:ea typeface="Microsoft YaHei"/>
              </a:rPr>
              <a:t>做法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61975" y="245745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渐进式层级。</a:t>
            </a:r>
            <a:endParaRPr/>
          </a:p>
        </p:txBody>
      </p:sp>
      <p:sp>
        <p:nvSpPr>
          <p:cNvPr id="286" name=""/>
          <p:cNvSpPr/>
          <p:nvPr/>
        </p:nvSpPr>
        <p:spPr>
          <a:xfrm rot="0" flipH="0" flipV="0">
            <a:off x="419100" y="3590925"/>
            <a:ext cx="4171950" cy="13811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381000" y="359092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561975" y="37052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3D7BD9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975" y="396240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）；输入打乱只掉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5095875"/>
            <a:ext cx="4171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无序采集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即时重建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协视图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回环闭合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4762500" y="876300"/>
            <a:ext cx="3467100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2" name=""/>
          <p:cNvSpPr/>
          <p:nvPr/>
        </p:nvSpPr>
        <p:spPr>
          <a:xfrm rot="0" flipH="0" flipV="0">
            <a:off x="4905375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981575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5229225" y="10001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4905375" y="1314450"/>
            <a:ext cx="31813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三级串联把候选从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1000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收到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；配加权协视图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高连通贪心选窗。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905375" y="196215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治“乱”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①–④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8353425" y="876300"/>
            <a:ext cx="3457575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8496300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572500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8820150" y="1000125"/>
            <a:ext cx="1304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8496300" y="1314450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补），比现有优化器快约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倍；分块深度对齐。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8496300" y="1962150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治“慢”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⑤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、⑦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4762500" y="2390775"/>
            <a:ext cx="3467100" cy="1685925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04" name=""/>
          <p:cNvSpPr/>
          <p:nvPr/>
        </p:nvSpPr>
        <p:spPr>
          <a:xfrm rot="0" flipH="0" flipV="0">
            <a:off x="4905375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981575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5229225" y="2514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4905375" y="2828925"/>
            <a:ext cx="31813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焊接窗口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Dijkstra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主干测地插值，把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摊到全图，不跑第二次全局优化。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4905375" y="377190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⑥</a:t>
            </a:r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8353425" y="2390775"/>
            <a:ext cx="3457575" cy="1685925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10" name=""/>
          <p:cNvSpPr/>
          <p:nvPr/>
        </p:nvSpPr>
        <p:spPr>
          <a:xfrm rot="0" flipH="0" flipV="0">
            <a:off x="8496300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572500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8820150" y="2514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8496300" y="2828925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按屏幕投影尺寸合并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帧显存仍控在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8496300" y="3476625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治“爆”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⑦</a:t>
            </a:r>
            <a:endParaRPr/>
          </a:p>
        </p:txBody>
      </p:sp>
      <p:sp>
        <p:nvSpPr>
          <p:cNvPr id="315" name=""/>
          <p:cNvSpPr/>
          <p:nvPr/>
        </p:nvSpPr>
        <p:spPr>
          <a:xfrm rot="0" flipH="0" flipV="0">
            <a:off x="4762500" y="4200525"/>
            <a:ext cx="7048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4905375" y="4314825"/>
            <a:ext cx="676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报告里的实测（我们的复现）：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garden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2×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降采样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25.95 dB / 62.7 s / 19.5 GB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帧。差距来自分辨率与测试协议，不是方法失效。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381000" y="5895975"/>
            <a:ext cx="11430000" cy="847725"/>
          </a:xfrm>
          <a:prstGeom prst="roundRect">
            <a:avLst>
              <a:gd name="adj" fmla="val 67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590550" y="6000750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创新在哪：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不是从零发明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的直接前作已做到“免位姿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大场景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即时”，但要求图像有序、且不做回环。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90550" y="6334125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本文只补这两个假设——在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全部历史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里检索重叠帧，用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图传播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做不重算的回环。增量不大，但恰好补在前作的假设上。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20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方法总览：一帧进来，走完七步&lt;/Text&gt;&#13;&#10;        &lt;Text style={{ fontSize: 15, color: '#8B97A8' }}&gt;04 / 15&lt;/Text&gt;&#13;&#10;    &lt;/Box&gt;&#13;&#10;    &lt;Box style={{ padding: '8px 40px 0px 40px' }}&gt;&#13;&#10;        &lt;Text style={{ fontSize: 20, color: '#4A5568', lineHeight: 1.4 }}&gt;设计哲学一句话：&lt;b&gt;每帧做小事，偶尔做一次大事&lt;/b&gt;。前者保证实时，后者保证不漂；每一步都对应上一页的一个病症。&lt;/Text&gt;&#13;&#10;    &lt;/Box&gt;&#13;&#10;&#13;&#10;    &lt;Box style={{ padding: '16px 40px 0px 40px', flexDirection: 'row', gap: 10 }}&gt;&#13;&#10;        &lt;Box style={{ flex: 1, backgroundColor: '#F0F5FC', borderRadius: 6, padding: '13px 11px', flexDirection: 'column' }}&gt;&#13;&#10;            &lt;Text style={{ fontSize: 29, fontWeight: 'bold', color: '#1E4FA8' }}&gt;①&lt;/Text&gt;&#13;&#10;            &lt;Text style={{ fontSize: 20, fontWeight: 'bold', color: '#1A2230', marginTop: 3 }}&gt;全局检索&lt;/Text&gt;&#13;&#10;            &lt;Text style={{ fontSize: 16.5, color: '#1A2230', lineHeight: 1.45, marginTop: 6 }}&gt;全局描述子算余弦，取 top-20 候选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②&lt;/Text&gt;&#13;&#10;            &lt;Text style={{ fontSize: 20, fontWeight: 'bold', color: '#1A2230', marginTop: 3 }}&gt;局部粗筛&lt;/Text&gt;&#13;&#10;            &lt;Text style={{ fontSize: 16.5, color: '#1A2230', lineHeight: 1.45, marginTop: 6 }}&gt;XFeat 比内点数，20 → 5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③&lt;/Text&gt;&#13;&#10;            &lt;Text style={{ fontSize: 20, fontWeight: 'bold', color: '#1A2230', marginTop: 3 }}&gt;精验建边&lt;/Text&gt;&#13;&#10;            &lt;Text style={{ fontSize: 16.5, color: '#1A2230', lineHeight: 1.45, marginTop: 6 }}&gt;LightGlue ＋ RANSAC，内点 &amp;gt; 500 才建边&lt;/Text&gt;&#13;&#10;            &lt;Text style={{ fontSize: 15.5, color: '#1D5FC0', fontWeight: 'bold', marginTop: 10 }}&gt;治“乱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④&lt;/Text&gt;&#13;&#10;            &lt;Text style={{ fontSize: 20, fontWeight: 'bold', color: '#1A2230', marginTop: 3 }}&gt;贪心选窗&lt;/Text&gt;&#13;&#10;            &lt;Text style={{ fontSize: 16.5, color: '#1A2230', lineHeight: 1.45, marginTop: 6 }}&gt;式 1 贪心扩张到 N = 20 帧&lt;/Text&gt;&#13;&#10;            &lt;Text style={{ fontSize: 15.5, color: '#1D5FC0', fontWeight: 'bold', marginTop: 10 }}&gt;定变量范围&lt;/Text&gt;&#13;&#10;        &lt;/Box&gt;&#13;&#10;        &lt;Box style={{ flex: 1, backgroundColor: '#1E4FA8', borderRadius: 6, padding: '13px 11px', flexDirection: 'column' }}&gt;&#13;&#10;            &lt;Text style={{ fontSize: 29, fontWeight: 'bold', color: '#FFFFFF' }}&gt;⑤&lt;/Text&gt;&#13;&#10;            &lt;Text style={{ fontSize: 20, fontWeight: 'bold', color: '#FFFFFF', marginTop: 3 }}&gt;局部 BA&lt;/Text&gt;&#13;&#10;            &lt;Text style={{ fontSize: 16.5, color: '#D6E4F7', lineHeight: 1.45, marginTop: 6 }}&gt;LM ＋ Schur 补，解出位姿与三维点&lt;/Text&gt;&#13;&#10;            &lt;Text style={{ fontSize: 15.5, color: '#FFFFFF', fontWeight: 'bold', marginTop: 10 }}&gt;重建本体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⑥&lt;/Text&gt;&#13;&#10;            &lt;Text style={{ fontSize: 20, fontWeight: 'bold', color: '#1A2230', marginTop: 3 }}&gt;回环修正&lt;/Text&gt;&#13;&#10;            &lt;Text style={{ fontSize: 16.5, color: '#1A2230', lineHeight: 1.45, marginTop: 6 }}&gt;图距 &amp;gt; 10 触发，Sim(3) 沿主干摊开&lt;/Text&gt;&#13;&#10;            &lt;Text style={{ fontSize: 15.5, color: '#D9534F', fontWeight: 'bold', marginTop: 10 }}&gt;治“漂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⑦&lt;/Text&gt;&#13;&#10;            &lt;Text style={{ fontSize: 20, fontWeight: 'bold', color: '#1A2230', marginTop: 3 }}&gt;高斯落位&lt;/Text&gt;&#13;&#10;            &lt;Text style={{ fontSize: 16.5, color: '#1A2230', lineHeight: 1.45, marginTop: 6 }}&gt;分块深度对齐 ＋ 层级按屏幕尺寸合并&lt;/Text&gt;&#13;&#10;            &lt;Text style={{ fontSize: 15.5, color: '#1D5FC0', fontWeight: 'bold', marginTop: 10 }}&gt;治“爆”&lt;/Text&gt;&#13;&#10;        &lt;/Box&gt;&#13;&#10;    &lt;/Box&gt;&#13;&#10;&#13;&#10;    &lt;Box style={{ padding: '20px 40px 0px 40px', flexDirection: 'column' }}&gt;&#13;&#10;        &lt;Text style={{ fontSize: 20, color: '#1A2230', lineHeight: 1.5 }}&gt;数据流：&lt;b&gt;关键帧图像&lt;/b&gt;　→　&lt;b&gt;加权协视图 G&lt;/b&gt;　→　&lt;b&gt;位姿 T_i / 三维点 X_j&lt;/b&gt;　→　&lt;b&gt;高斯集合&lt;/b&gt;　→　&lt;b&gt;渐进层级&lt;/b&gt;&lt;/Text&gt;&#13;&#10;        &lt;Text style={{ fontSize: 17, color: '#4A5568', lineHeight: 1.4, marginTop: 4 }}&gt;前三步只产出“约束”，第四五步只产出“位姿”，第六步修位姿，第七步才碰辐射场。&lt;/Text&gt;&#13;&#10;    &lt;/Box&gt;&#13;&#10;&#13;&#10;    &lt;Box style={{ padding: '16px 40px 0px 40px', flexDirection: 'row', gap: 10, alignItems: 'center' }}&gt;&#13;&#10;        &lt;Box style={{ backgroundColor: '#1E4FA8', borderRadius: 4, padding: '6px 12px' }}&gt;&#13;&#10;            &lt;Text style={{ fontSize: 16, fontWeight: 'bold', color: '#FFFFFF' }}&gt;时间账&lt;/Text&gt;&#13;&#10;        &lt;/Box&gt;&#13;&#10;        &lt;Text style={{ fontSize: 17.5, color: '#1A2230', lineHeight: 1.4 }}&gt;视觉前端 &lt;b&gt;27.8 ms&lt;/b&gt;　·　局部 BA &lt;b&gt;40.5 ms&lt;/b&gt;　·　回环摊销 &lt;b&gt;121.6 ms&lt;/b&gt;（仅绕回起点时）　·　渲染 &lt;b&gt;480 fps&lt;/b&gt;&lt;/Text&gt;&#13;&#10;    &lt;/Box&gt;&#13;&#10;    &lt;Box style={{ padding: '4px 40px 0px 40px' }}&gt;&#13;&#10;        &lt;Text style={{ fontSize: 15.5, color: '#8B97A8' }}&gt;以上为论文单关键帧摊销实测；②③ 的候选数已压到 20 / 5，所以前端不是瓶颈——瓶颈是一次回环后的全局修正。&lt;/Text&gt;&#13;&#10;    &lt;/Box&gt;&#13;&#10;&#13;&#10;    &lt;Box style={{ padding: '16px 40px 0px 40px', flexDirection: 'column', gap: 8 }}&gt;&#13;&#10;        &lt;Box style={{ backgroundColor: '#F7F9FC', borderLeft: '5px solid #1E4FA8', padding: '9px 16px' }}&gt;&#13;&#10;            &lt;Text style={{ fontSize: 17.5, color: '#1A2230', lineHeight: 1.4 }}&gt;&lt;b&gt;节奏&lt;/b&gt;　①–⑤ 与 ⑦ 每个关键帧都跑；&lt;b&gt;⑥ 只在检测到回环时跑&lt;/b&gt;——“每帧做小事、偶尔做一次大事”的具体分工。&lt;/Text&gt;&#13;&#10;        &lt;/Box&gt;&#13;&#10;        &lt;Box style={{ backgroundColor: '#F7F9FC', borderLeft: '5px solid #D6DCE5', padding: '9px 16px' }}&gt;&#13;&#10;            &lt;Text style={{ fontSize: 17.5, color: '#1A2230', lineHeight: 1.4 }}&gt;&lt;b&gt;容错&lt;/b&gt;　匹配失败的帧先“搁置”，后续出现相似帧时再取出重试——乱序输入因此不必强求一次成功。&lt;/Text&gt;&#13;&#10;        &lt;/Box&gt;&#13;&#10;    &lt;/Box&gt;&#13;&#10;&#13;&#10;    &lt;Box style={{ marginTop: 'auto', padding: '6px 40px 12px 40px' }}&gt;&#13;&#10;        &lt;Text style={{ fontSize: 15, color: '#8B97A8' }}&gt;接下来七页，一步一页：每页都是「这步在做什么 → 长什么样 → 核心公式 → 超参取值 → 为什么这么做」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44005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方法总览：一帧进来，走完七步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。前者保证实时，后者保证不漂；每一步都对应上一页的一个病症。</a:t>
            </a:r>
            <a:endParaRPr/>
          </a:p>
        </p:txBody>
      </p:sp>
      <p:sp>
        <p:nvSpPr>
          <p:cNvPr id="326" name=""/>
          <p:cNvSpPr/>
          <p:nvPr/>
        </p:nvSpPr>
        <p:spPr>
          <a:xfrm rot="0" flipH="0" flipV="0">
            <a:off x="3810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4857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857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全局检索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48577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全局描述子算余弦，取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8577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20288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21336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21336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局部粗筛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213360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比内点数，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20 → 5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213360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36" name=""/>
          <p:cNvSpPr/>
          <p:nvPr/>
        </p:nvSpPr>
        <p:spPr>
          <a:xfrm rot="0" flipH="0" flipV="0">
            <a:off x="367665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37" name="" descr="{&quot;isTemplate&quot;:true,&quot;type&quot;:&quot;text&quot;}"/>
          <p:cNvSpPr txBox="1"/>
          <p:nvPr/>
        </p:nvSpPr>
        <p:spPr>
          <a:xfrm rot="0" flipH="0" flipV="0">
            <a:off x="378142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378142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精验建边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378142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，内点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才建边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78142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5324475" y="1238250"/>
            <a:ext cx="1543050" cy="200025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5429250" y="1362075"/>
            <a:ext cx="1333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5429250" y="1724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贪心选窗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5429250" y="2009775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贪心扩张到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N = 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5429250" y="2657475"/>
            <a:ext cx="133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定变量范围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96277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706755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706755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706755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补，解出位姿与三维点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FFFFFF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86106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87153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7153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8715375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图距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触发，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Sim(3)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沿主干摊开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8715375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102584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103632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3632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高斯落位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10363200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层级按屏幕尺寸合并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10363200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治“爆”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381000" y="34290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关键帧图像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加权协视图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位姿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三维点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高斯集合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3810000"/>
            <a:ext cx="114300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前三步只产出“约束”，第四五步只产出“位姿”，第六步修位姿，第七步才碰辐射场。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381000" y="4238625"/>
            <a:ext cx="685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95300" y="429577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时间账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1162050" y="4248150"/>
            <a:ext cx="74580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视觉前端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27.8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·　局部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40.5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·　回环摊销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121.6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（仅绕回起点时）　·　渲染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480 fps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381000" y="4581525"/>
            <a:ext cx="11430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以上为论文单关键帧摊销实测；②③</a:t>
            </a:r>
            <a:r>
              <a:rPr lang="en-US" sz="116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的候选数已压到</a:t>
            </a:r>
            <a:r>
              <a:rPr lang="en-US" sz="1163">
                <a:solidFill>
                  <a:srgbClr val="8B97A8"/>
                </a:solidFill>
                <a:latin typeface="Microsoft YaHei"/>
                <a:ea typeface="Microsoft YaHei"/>
              </a:rPr>
              <a:t xml:space="preserve"> 20 / 5</a:t>
            </a: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，所以前端不是瓶颈——瓶颈是一次回环后的全局修正。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28625" y="49149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68" name=""/>
          <p:cNvSpPr/>
          <p:nvPr/>
        </p:nvSpPr>
        <p:spPr>
          <a:xfrm rot="0" flipH="0" flipV="0">
            <a:off x="381000" y="49149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581025" y="50006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节奏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①–⑤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⑦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每个关键帧都跑；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只在检测到回环时跑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——“每帧做小事、偶尔做一次大事”的具体分工。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428625" y="54483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71" name=""/>
          <p:cNvSpPr/>
          <p:nvPr/>
        </p:nvSpPr>
        <p:spPr>
          <a:xfrm rot="0" flipH="0" flipV="0">
            <a:off x="381000" y="54483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581025" y="55340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容错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匹配失败的帧先“搁置”，后续出现相似帧时再取出重试——乱序输入因此不必强求一次成功。</a:t>
            </a:r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接下来七页，一步一页：每页都是「这步在做什么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长什么样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核心公式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超参取值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为什么这么做」。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4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全局检索：先不问“在哪”，只问“像不像”&lt;/Text&gt;&#13;&#10;        &lt;Text style={{ fontSize: 15, color: '#8B97A8' }}&gt;05 / 15&lt;/Text&gt;&#13;&#10;    &lt;/Box&gt;&#13;&#10;    &lt;Box style={{ padding: '8px 40px 0px 40px' }}&gt;&#13;&#10;        &lt;Text style={{ fontSize: 20, color: '#4A5568', lineHeight: 1.4 }}&gt;每来一个关键帧，先用一个全局描述子和全部历史帧比一次，取出 20 个“可能同处”的候选——这一步完全不看拍摄顺序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帧图像 ＋ 已收下的历史关键帧库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MegaLoc 输出 4096 维描述子；与库内全部描述子算余弦相似度，排序取前 20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20 个候选帧（只是“像”，还不保证几何对得上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K = 20 个候选　·　num_prev_keyframes_check = 20&lt;/Text&gt;&#13;&#10;                &lt;Text style={{ fontSize: 16, color: '#4A5568', lineHeight: 1.4, marginTop: 4 }}&gt;论文写 MixVPR，开源代码因许可换成 MegaLoc；两者都是“一帧 → 一个向量”&lt;/Text&gt;&#13;&#10;            &lt;/Box&gt;&#13;&#10;        &lt;/Box&gt;&#13;&#10;        &lt;Box style={{ width: 580, flexDirection: 'column' }}&gt;&#13;&#10;            &lt;Image src=&quot;figs/fig1_vpr.png&quot; style={{ width: 580, height: 362 }} /&gt;&#13;&#10;            &lt;Text style={{ fontSize: 14.5, color: '#8B97A8', marginTop: 5 }}&gt;图 1　检索与帧序无关：n 帧只做 n 次比对，不做 n² 次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5.png&quot; style={{ width: 149.5, height: 50.0 }} /&gt;&#13;&#10;        &lt;Text style={{ fontSize: 16.5, color: '#4A5568', lineHeight: 1.4, marginTop: 3 }}&gt;相似度只看外观、不看时间——乱序输入在这里第一次被“原谅”；代价 ≈ 1 ms / 1000 对，是整条链里最便宜的一步。&lt;/Text&gt;&#13;&#10;    &lt;/Box&gt;&#13;&#10;    &lt;Box style={{ marginTop: 'auto', padding: '10px 40px 12px 40px' }}&gt;&#13;&#10;        &lt;Text style={{ fontSize: 15, color: '#8B97A8' }}&gt;治的是“乱”：不再假设新帧只和上一帧有关，而是和全部历史都有关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6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全局检索：先不问“在哪”，只问“像不像”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每来一个关键帧，先用一个全局描述子和全部历史帧比一次，取出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个“可能同处”的候选——这一步完全不看拍摄顺序。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新帧图像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已收下的历史关键帧库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4096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维描述子；与库内全部描述子算余弦相似度，排序取前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个候选帧（只是“像”，还不保证几何对得上）</a:t>
            </a:r>
            <a:endParaRPr/>
          </a:p>
        </p:txBody>
      </p:sp>
      <p:sp>
        <p:nvSpPr>
          <p:cNvPr id="386" name=""/>
          <p:cNvSpPr/>
          <p:nvPr/>
        </p:nvSpPr>
        <p:spPr>
          <a:xfrm rot="0" flipH="0" flipV="0">
            <a:off x="381000" y="3276600"/>
            <a:ext cx="5715000" cy="1047750"/>
          </a:xfrm>
          <a:prstGeom prst="roundRect">
            <a:avLst>
              <a:gd name="adj" fmla="val 545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87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K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num_prev_keyframes_check = 20</a:t>
            </a:r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，开源代码因许可换成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；两者都是“一帧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一个向量”</a:t>
            </a:r>
            <a:endParaRPr/>
          </a:p>
        </p:txBody>
      </p:sp>
      <p:pic>
        <p:nvPicPr>
          <p:cNvPr id="389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检索与帧序无关：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帧只做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次比对，不做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n²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次。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428625" y="501967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92" name=""/>
          <p:cNvSpPr/>
          <p:nvPr/>
        </p:nvSpPr>
        <p:spPr>
          <a:xfrm rot="0" flipH="0" flipV="0">
            <a:off x="381000" y="501967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93" name=""/>
          <p:cNvPicPr>
            <a:picLocks noChangeAspect="1"/>
          </p:cNvPicPr>
          <p:nvPr/>
        </p:nvPicPr>
        <p:blipFill>
          <a:blip r:embed="rId2"/>
          <a:srcRect l="0" t="166" r="0" b="166"/>
          <a:stretch>
            <a:fillRect/>
          </a:stretch>
        </p:blipFill>
        <p:spPr>
          <a:xfrm rot="0" flipH="0" flipV="0">
            <a:off x="600075" y="5114925"/>
            <a:ext cx="1428750" cy="476250"/>
          </a:xfrm>
          <a:prstGeom prst="rect">
            <a:avLst/>
          </a:prstGeom>
          <a:ln/>
        </p:spPr>
      </p:pic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600075" y="56197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相似度只看外观、不看时间——乱序输入在这里第一次被“原谅”；代价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≈ 1 ms / 1000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对，是整条链里最便宜的一步。</a:t>
            </a:r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治的是“乱”：不再假设新帧只和上一帧有关，而是和全部历史都有关。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96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粗筛：砍掉“看着像、其实没对上”的候选&lt;/Text&gt;&#13;&#10;        &lt;Text style={{ fontSize: 15, color: '#8B97A8' }}&gt;06 / 15&lt;/Text&gt;&#13;&#10;    &lt;/Box&gt;&#13;&#10;    &lt;Box style={{ padding: '8px 40px 0px 40px' }}&gt;&#13;&#10;        &lt;Text style={{ fontSize: 20, color: '#4A5568', lineHeight: 1.4 }}&gt;对 20 个候选各跑一次轻量局部匹配，按能对上的关键点数排序，只把前 5 个留给精确匹配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① 给出的 20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XFeat 提稀疏关键点，只比坐标一致性，得到内点对数 |M_ij|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5 个候选（外观像 ＋ 确实对上了点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保留 K′ = 5 个　·　约 0.5 ms / 对&lt;/Text&gt;&#13;&#10;                &lt;Text style={{ fontSize: 16, color: '#4A5568', lineHeight: 1.4, marginTop: 4 }}&gt;这一步故意用“便宜但粗糙”的特征：它的任务只是排序，不是定论&lt;/Text&gt;&#13;&#10;            &lt;/Box&gt;&#13;&#10;        &lt;/Box&gt;&#13;&#10;        &lt;Box style={{ width: 580, flexDirection: 'column' }}&gt;&#13;&#10;            &lt;Image src=&quot;figs/fig2_xfeat.png&quot; style={{ width: 580, height: 362 }} /&gt;&#13;&#10;            &lt;Text style={{ fontSize: 14.5, color: '#8B97A8', marginTop: 5 }}&gt;图 2　20 个候选按内点数排序，只有前 5 个进入下一级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6.png&quot; style={{ width: 197.5, height: 30.5 }} /&gt;&#13;&#10;        &lt;Text style={{ fontSize: 16.5, color: '#4A5568', lineHeight: 1.4, marginTop: 3 }}&gt;淘汰的正是纯外观检索的典型假阳性：两个角落都“长得像窗台”，但一个点都对不上。&lt;/Text&gt;&#13;&#10;    &lt;/Box&gt;&#13;&#10;    &lt;Box style={{ marginTop: 'auto', padding: '10px 40px 12px 40px' }}&gt;&#13;&#10;        &lt;Text style={{ fontSize: 15, color: '#8B97A8' }}&gt;三级串联的意义：候选集 1000 → 20 → 5 → 1，贵的操作只作用在极小的集合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8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6008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局部粗筛：砍掉“看着像、其实没对上”的候选</a:t>
            </a:r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个候选各跑一次轻量局部匹配，按能对上的关键点数排序，只把前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个留给精确匹配。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3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①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给出的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04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提稀疏关键点，只比坐标一致性，得到内点对数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</a:t>
            </a:r>
            <a:endParaRPr/>
          </a:p>
        </p:txBody>
      </p:sp>
      <p:sp>
        <p:nvSpPr>
          <p:cNvPr id="406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个候选（外观像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确实对上了点）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保留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K′ =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　·　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ms /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这一步故意用“便宜但粗糙”的特征：它的任务只是排序，不是定论</a:t>
            </a:r>
            <a:endParaRPr/>
          </a:p>
        </p:txBody>
      </p:sp>
      <p:pic>
        <p:nvPicPr>
          <p:cNvPr id="411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个候选按内点数排序，只有前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个进入下一级。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14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15" name=""/>
          <p:cNvPicPr>
            <a:picLocks noChangeAspect="1"/>
          </p:cNvPicPr>
          <p:nvPr/>
        </p:nvPicPr>
        <p:blipFill>
          <a:blip r:embed="rId2"/>
          <a:srcRect l="681" t="0" r="681" b="0"/>
          <a:stretch>
            <a:fillRect/>
          </a:stretch>
        </p:blipFill>
        <p:spPr>
          <a:xfrm rot="0" flipH="0" flipV="0">
            <a:off x="600075" y="5114925"/>
            <a:ext cx="1885950" cy="295275"/>
          </a:xfrm>
          <a:prstGeom prst="rect">
            <a:avLst/>
          </a:prstGeom>
          <a:ln/>
        </p:spPr>
      </p:pic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淘汰的正是纯外观检索的典型假阳性：两个角落都“长得像窗台”，但一个点都对不上。</a:t>
            </a:r>
            <a:endParaRPr/>
          </a:p>
        </p:txBody>
      </p:sp>
      <p:sp>
        <p:nvSpPr>
          <p:cNvPr id="417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三级串联的意义：候选集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1000 → 20 → 5 → 1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，贵的操作只作用在极小的集合上。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18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精确验证：通过才建边，边就是后面一切判断的依据&lt;/Text&gt;&#13;&#10;        &lt;Text style={{ fontSize: 15, color: '#8B97A8' }}&gt;07 / 15&lt;/Text&gt;&#13;&#10;    &lt;/Box&gt;&#13;&#10;    &lt;Box style={{ padding: '8px 40px 0px 40px' }}&gt;&#13;&#10;        &lt;Text style={{ fontSize: 20, color: '#4A5568', lineHeight: 1.4 }}&gt;对 5 个候选跑 LightGlue 精确配对，RANSAC 剔除外点，内点数超过 500 才写进协视图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② 留下的 5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ightGlue 精确配对 ＋ RANSAC 剔外点；内点数 |M_ij| 即“这条边有多可信”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加权协视图 G = (M, E, W)，边权 w_ij = 1/|M_ij|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τ_m = 500 内点　·　min_matches_edge = 500&lt;/Text&gt;&#13;&#10;                &lt;Text style={{ fontSize: 16, color: '#4A5568', lineHeight: 1.4, marginTop: 4 }}&gt;边权取内点数倒数：内点越多边越短，于是图上“最短路”= 最可靠的位姿链&lt;/Text&gt;&#13;&#10;            &lt;/Box&gt;&#13;&#10;        &lt;/Box&gt;&#13;&#10;        &lt;Box style={{ width: 580, flexDirection: 'column' }}&gt;&#13;&#10;            &lt;Image src=&quot;figs/fig3_lightglue.png&quot; style={{ width: 580, height: 362 }} /&gt;&#13;&#10;            &lt;Text style={{ fontSize: 14.5, color: '#8B97A8', marginTop: 5 }}&gt;图 3　绿=内点、红叉=被 RANSAC 剔除；通过的帧对才成为图上的一条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7.png&quot; style={{ width: 498.0, height: 30.5 }} /&gt;&#13;&#10;        &lt;Text style={{ fontSize: 16.5, color: '#4A5568', lineHeight: 1.4, marginTop: 3 }}&gt;这是全链唯一产生“共视约束”的地方——后面所有位姿都由这些点对推出来，边建错，后面全歪。&lt;/Text&gt;&#13;&#10;    &lt;/Box&gt;&#13;&#10;    &lt;Box style={{ marginTop: 'auto', padding: '10px 40px 12px 40px' }}&gt;&#13;&#10;        &lt;Text style={{ fontSize: 15, color: '#8B97A8' }}&gt;到这一步为止，一张图还没解；但“谁和谁能一起算”已经确定下来了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22947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精确验证：通过才建边，边就是后面一切判断的依据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LightGlue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精确配对，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RANSAC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剔除外点，内点数超过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才写进协视图。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留下的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426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精确配对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剔外点；内点数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即“这条边有多可信”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加权协视图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 = (M, E, W)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，边权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w_ij = 1/|M_ij|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内点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min_matches_edge = 500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边权取内点数倒数：内点越多边越短，于是图上“最短路”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最可靠的位姿链</a:t>
            </a:r>
            <a:endParaRPr/>
          </a:p>
        </p:txBody>
      </p:sp>
      <p:pic>
        <p:nvPicPr>
          <p:cNvPr id="433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绿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内点、红叉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被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剔除；通过的帧对才成为图上的一条边。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36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37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114925"/>
            <a:ext cx="4743450" cy="295275"/>
          </a:xfrm>
          <a:prstGeom prst="rect">
            <a:avLst/>
          </a:prstGeom>
          <a:ln/>
        </p:spPr>
      </p:pic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这是全链唯一产生“共视约束”的地方——后面所有位姿都由这些点对推出来，边建错，后面全歪。</a:t>
            </a:r>
            <a:endParaRPr/>
          </a:p>
        </p:txBody>
      </p:sp>
      <p:sp>
        <p:nvSpPr>
          <p:cNvPr id="439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到这一步为止，一张图还没解；但“谁和谁能一起算”已经确定下来了。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40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选窗：从图里挑出最该一起优化的 20 帧&lt;/Text&gt;&#13;&#10;        &lt;Text style={{ fontSize: 15, color: '#8B97A8' }}&gt;08 / 15&lt;/Text&gt;&#13;&#10;    &lt;/Box&gt;&#13;&#10;    &lt;Box style={{ padding: '8px 40px 0px 40px' }}&gt;&#13;&#10;        &lt;Text style={{ fontSize: 20, color: '#4A5568', lineHeight: 1.4 }}&gt;不是“最近 20 帧”，而是“和当前集合连接最强的那个”——一次加一个，贪心扩张到 20 个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③ 更新后的加权协视图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每步选“与已选集合累计内点数最大”的节点加入，直到凑满 N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局部 BA 的变量集合 S（这一步只决定“算谁”，不动数值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 帧　·　num_prev_keyframes_miniba_incr = 5&lt;/Text&gt;&#13;&#10;                &lt;Text style={{ fontSize: 16, color: '#4A5568', lineHeight: 1.4, marginTop: 4 }}&gt;每个节点平均只有约 10 条边，所以一次 argmax 的开销可以忽略&lt;/Text&gt;&#13;&#10;            &lt;/Box&gt;&#13;&#10;        &lt;/Box&gt;&#13;&#10;        &lt;Box style={{ width: 580, flexDirection: 'column' }}&gt;&#13;&#10;            &lt;Image src=&quot;figs/fig4_window.png&quot; style={{ width: 580, height: 362 }} /&gt;&#13;&#10;            &lt;Text style={{ fontSize: 14.5, color: '#8B97A8', marginTop: 5 }}&gt;图 4　实心=已选，红圈=本轮 argmax；贪心比全局最优便宜得多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8.png&quot; style={{ width: 437.0, height: 67.5 }} /&gt;&#13;&#10;        &lt;Text style={{ fontSize: 16.5, color: '#4A5568', lineHeight: 1.4, marginTop: 3 }}&gt;消融 NoKFSelection：PSNR 26.29 → 24.56 dB。选窗比匹配本身更影响最终质量——窗选错，后面怎么优化都救不回。&lt;/Text&gt;&#13;&#10;    &lt;/Box&gt;&#13;&#10;    &lt;Box style={{ marginTop: 'auto', padding: '10px 40px 12px 40px' }}&gt;&#13;&#10;        &lt;Text style={{ fontSize: 15, color: '#8B97A8' }}&gt;前四步合起来只回答一件事：哪些帧该放到同一张桌子上一起算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4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6102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选窗：从图里挑出最该一起优化的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不是“最近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帧”，而是“和当前集合连接最强的那个”——一次加一个，贪心扩张到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③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更新后的加权协视图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每步选“与已选集合累计内点数最大”的节点加入，直到凑满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</a:t>
            </a:r>
            <a:endParaRPr/>
          </a:p>
        </p:txBody>
      </p:sp>
      <p:sp>
        <p:nvSpPr>
          <p:cNvPr id="450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51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的变量集合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（这一步只决定“算谁”，不动数值）</a:t>
            </a:r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N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num_prev_keyframes_miniba_incr = 5</a:t>
            </a:r>
            <a:endParaRPr/>
          </a:p>
        </p:txBody>
      </p:sp>
      <p:sp>
        <p:nvSpPr>
          <p:cNvPr id="454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每个节点平均只有约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条边，所以一次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argmax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的开销可以忽略</a:t>
            </a:r>
            <a:endParaRPr/>
          </a:p>
        </p:txBody>
      </p:sp>
      <p:pic>
        <p:nvPicPr>
          <p:cNvPr id="455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实心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已选，红圈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本轮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argmax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；贪心比全局最优便宜得多。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428625" y="5019675"/>
            <a:ext cx="11430000" cy="11334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58" name=""/>
          <p:cNvSpPr/>
          <p:nvPr/>
        </p:nvSpPr>
        <p:spPr>
          <a:xfrm rot="0" flipH="0" flipV="0">
            <a:off x="381000" y="5019675"/>
            <a:ext cx="11477625" cy="1133475"/>
          </a:xfrm>
          <a:custGeom>
            <a:pathLst>
              <a:path w="1205" h="119">
                <a:moveTo>
                  <a:pt x="0" y="0"/>
                </a:moveTo>
                <a:lnTo>
                  <a:pt x="5" y="0"/>
                </a:lnTo>
                <a:lnTo>
                  <a:pt x="5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59" name=""/>
          <p:cNvPicPr>
            <a:picLocks noChangeAspect="1"/>
          </p:cNvPicPr>
          <p:nvPr/>
        </p:nvPicPr>
        <p:blipFill>
          <a:blip r:embed="rId2"/>
          <a:srcRect l="367" t="0" r="367" b="0"/>
          <a:stretch>
            <a:fillRect/>
          </a:stretch>
        </p:blipFill>
        <p:spPr>
          <a:xfrm rot="0" flipH="0" flipV="0">
            <a:off x="600075" y="5114925"/>
            <a:ext cx="4162425" cy="647700"/>
          </a:xfrm>
          <a:prstGeom prst="rect">
            <a:avLst/>
          </a:prstGeom>
          <a:ln/>
        </p:spPr>
      </p:pic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600075" y="57912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NoKFSelection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PSNR 26.29 → 24.56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。选窗比匹配本身更影响最终质量——窗选错，后面怎么优化都救不回。</a:t>
            </a:r>
            <a:endParaRPr/>
          </a:p>
        </p:txBody>
      </p:sp>
      <p:sp>
        <p:nvSpPr>
          <p:cNvPr id="461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前四步合起来只回答一件事：哪些帧该放到同一张桌子上一起算。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62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 BA：真正把位姿解出来的唯一一步&lt;/Text&gt;&#13;&#10;        &lt;Text style={{ fontSize: 15, color: '#8B97A8' }}&gt;09 / 15&lt;/Text&gt;&#13;&#10;    &lt;/Box&gt;&#13;&#10;    &lt;Box style={{ padding: '8px 40px 0px 40px' }}&gt;&#13;&#10;        &lt;Text style={{ fontSize: 20, color: '#4A5568', lineHeight: 1.4 }}&gt;在选出的 20 帧上解一次带鲁棒核的最小二乘，用 Schur 补把问题压到“只解相机”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S 内 20 个关键帧 ＋ 约 1 万路标点（按被观测次数采样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M 迭代：残差 = 重投影误差；构造正规方程后做稠密 Schur 消元，Cholesky 解相机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相机位姿 T_i 与三维路标点 X_j —— 重建本体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、K ≈ 1e4　·　LM 阻尼按 mul_(1 + lm) 自适应&lt;/Text&gt;&#13;&#10;                &lt;Text style={{ fontSize: 16, color: '#4A5568', lineHeight: 1.4, marginTop: 4 }}&gt;每个路标只允许被协视性选出的固定子集观测，避免观测数随帧数二次增长&lt;/Text&gt;&#13;&#10;            &lt;/Box&gt;&#13;&#10;        &lt;/Box&gt;&#13;&#10;        &lt;Box style={{ width: 580, flexDirection: 'column' }}&gt;&#13;&#10;            &lt;Image src=&quot;figs/fig5_ba.png&quot; style={{ width: 580, height: 362 }} /&gt;&#13;&#10;            &lt;Text style={{ fontSize: 14.5, color: '#8B97A8', marginTop: 5 }}&gt;图 5　二部图求解 + 分块矩阵：C 对角可逐点求逆，B 稀疏只解相机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9.png&quot; style={{ width: 596.5, height: 55.5 }} /&gt;&#13;&#10;        &lt;Text style={{ fontSize: 16.5, color: '#4A5568', lineHeight: 1.4, marginTop: 3 }}&gt;SLAM 通常只用 5 帧时间窗；这里用 20 帧并把核函数写到 GPU 上，比 g2o / CUDA-BA 快约 5 倍。&lt;/Text&gt;&#13;&#10;    &lt;/Box&gt;&#13;&#10;    &lt;Box style={{ marginTop: 'auto', padding: '10px 40px 12px 40px' }}&gt;&#13;&#10;        &lt;Text style={{ fontSize: 15, color: '#8B97A8' }}&gt;前四步是“准备”，第六步是“纠错”，只有这一步在解——位姿重建真正发生在这里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64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5816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：真正把位姿解出来的唯一一步</a:t>
            </a:r>
            <a:endParaRPr/>
          </a:p>
        </p:txBody>
      </p:sp>
      <p:sp>
        <p:nvSpPr>
          <p:cNvPr id="466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在选出的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帧上解一次带鲁棒核的最小二乘，用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补把问题压到“只解相机”。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万路标点（按被观测次数采样）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迭代：残差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重投影误差；构造正规方程后做稠密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消元，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Cholesky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解相机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73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相机位姿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与三维路标点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 ——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74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 = 20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 ≈ 1e4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阻尼按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mul_(1 + lm)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自适应</a:t>
            </a:r>
            <a:endParaRPr/>
          </a:p>
        </p:txBody>
      </p:sp>
      <p:sp>
        <p:nvSpPr>
          <p:cNvPr id="476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</a:t>
            </a:r>
            <a:endParaRPr/>
          </a:p>
        </p:txBody>
      </p:sp>
      <p:pic>
        <p:nvPicPr>
          <p:cNvPr id="477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二部图求解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分块矩阵：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对角可逐点求逆，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稀疏只解相机。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428625" y="5019675"/>
            <a:ext cx="11430000" cy="10191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80" name=""/>
          <p:cNvSpPr/>
          <p:nvPr/>
        </p:nvSpPr>
        <p:spPr>
          <a:xfrm rot="0" flipH="0" flipV="0">
            <a:off x="381000" y="5019675"/>
            <a:ext cx="11477625" cy="1019175"/>
          </a:xfrm>
          <a:custGeom>
            <a:pathLst>
              <a:path w="1205" h="107">
                <a:moveTo>
                  <a:pt x="0" y="0"/>
                </a:moveTo>
                <a:lnTo>
                  <a:pt x="5" y="0"/>
                </a:lnTo>
                <a:lnTo>
                  <a:pt x="5" y="107"/>
                </a:lnTo>
                <a:lnTo>
                  <a:pt x="0" y="10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81" name=""/>
          <p:cNvPicPr>
            <a:picLocks noChangeAspect="1"/>
          </p:cNvPicPr>
          <p:nvPr/>
        </p:nvPicPr>
        <p:blipFill>
          <a:blip r:embed="rId2"/>
          <a:srcRect l="404" t="0" r="404" b="0"/>
          <a:stretch>
            <a:fillRect/>
          </a:stretch>
        </p:blipFill>
        <p:spPr>
          <a:xfrm rot="0" flipH="0" flipV="0">
            <a:off x="600075" y="5114925"/>
            <a:ext cx="5686425" cy="533400"/>
          </a:xfrm>
          <a:prstGeom prst="rect">
            <a:avLst/>
          </a:prstGeom>
          <a:ln/>
        </p:spPr>
      </p:pic>
      <p:sp>
        <p:nvSpPr>
          <p:cNvPr id="482" name="" descr="{&quot;isTemplate&quot;:true,&quot;type&quot;:&quot;text&quot;}"/>
          <p:cNvSpPr txBox="1"/>
          <p:nvPr/>
        </p:nvSpPr>
        <p:spPr>
          <a:xfrm rot="0" flipH="0" flipV="0">
            <a:off x="600075" y="56769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通常只用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帧时间窗；这里用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帧并把核函数写到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上，比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快约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前四步是“准备”，第六步是“纠错”，只有这一步在解——位姿重建真正发生在这里。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回环修正：判定“两簇其实重叠”，再把修正摊回全图&lt;/Text&gt;&#13;&#10;        &lt;Text style={{ fontSize: 15, color: '#8B97A8' }}&gt;10 / 15&lt;/Text&gt;&#13;&#10;    &lt;/Box&gt;&#13;&#10;    &lt;Box style={{ padding: '8px 40px 0px 40px' }}&gt;&#13;&#10;        &lt;Text style={{ fontSize: 20, color: '#4A5568', lineHeight: 1.4 }}&gt;不重跑全局 BA：用一次焊接窗口 BA 求出 Sim(3)，再沿主干路径按测地距离插值摊开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边让两簇之间突然出现跨簇匹配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判定&lt;/b&gt;　加权图距 &amp;#62; 10（min_loop_size）且跨簇有效匹配对 &amp;#62; 2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两簇各扩 N/2 帧做焊接 BA 得相对变换，深度变化估尺度 → Sim(3)；Dijkstra 找主干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全图位姿与高斯的同一份 Sim(3) 修正（高斯整棵子树跟着出生帧走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min_loop_size = 10（加权图距）　·　焊接窗口两簇各扩 N/2 帧&lt;/Text&gt;&#13;&#10;                &lt;Text style={{ fontSize: 16, color: '#4A5568', lineHeight: 1.4, marginTop: 4 }}&gt;论文原文写“跳数 &amp;#62; 5”，按开源代码默认值应为加权图距 &amp;#62; 10&lt;/Text&gt;&#13;&#10;            &lt;/Box&gt;&#13;&#10;        &lt;/Box&gt;&#13;&#10;        &lt;Box style={{ width: 580, flexDirection: 'column' }}&gt;&#13;&#10;            &lt;Image src=&quot;figs/fig6_loop.png&quot; style={{ width: 580, height: 362 }} /&gt;&#13;&#10;            &lt;Text style={{ fontSize: 14.5, color: '#8B97A8', marginTop: 5 }}&gt;图 6　左：两簇间的加权图距就是回环判据；右：修正沿主干按距离摊开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0.png&quot; style={{ width: 375.0, height: 30.5 }} /&gt;&#13;&#10;        &lt;Text style={{ fontSize: 16.5, color: '#4A5568', lineHeight: 1.4, marginTop: 3 }}&gt;用“图上的距离”替换“全局优化的解”：牺牲一点精度，把回环代价从“再跑一次全局 BA”降到近似线性。&lt;/Text&gt;&#13;&#10;    &lt;/Box&gt;&#13;&#10;    &lt;Box style={{ marginTop: 'auto', padding: '10px 40px 12px 40px' }}&gt;&#13;&#10;        &lt;Text style={{ fontSize: 15, color: '#8B97A8' }}&gt;这是全文最值得借鉴的工程取舍——不追求最优解，追求“够用且算得起”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543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回环修正：判定“两簇其实重叠”，再把修正摊回全图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不重跑全局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：用一次焊接窗口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求出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，再沿主干路径按测地距离插值摊开。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新边让两簇之间突然出现跨簇匹配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）且跨簇有效匹配对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24003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帧做焊接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得相对变换，深度变化估尺度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Sim(3)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找主干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32766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全图位姿与高斯的同一份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修正（高斯整棵子树跟着出生帧走）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152900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424815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 =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（加权图距）　·　焊接窗口两簇各扩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488632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论文原文写“跳数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5”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，按开源代码默认值应为加权图距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10</a:t>
            </a:r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左：两簇间的加权图距就是回环判据；右：修正沿主干按距离摊开。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28625" y="5353050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381000" y="5353050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448300"/>
            <a:ext cx="3571875" cy="295275"/>
          </a:xfrm>
          <a:prstGeom prst="rect">
            <a:avLst/>
          </a:prstGeom>
          <a:ln/>
        </p:spPr>
      </p:pic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0075" y="57721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用“图上的距离”替换“全局优化的解”：牺牲一点精度，把回环代价从“再跑一次全局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BA”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降到近似线性。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这是全文最值得借鉴的工程取舍——不追求最优解，追求“够用且算得起”。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落位：先把深度对齐，再按屏幕尺寸压成层级&lt;/Text&gt;&#13;&#10;        &lt;Text style={{ fontSize: 15, color: '#8B97A8' }}&gt;11 / 15&lt;/Text&gt;&#13;&#10;    &lt;/Box&gt;&#13;&#10;    &lt;Box style={{ padding: '8px 40px 0px 40px' }}&gt;&#13;&#10;        &lt;Text style={{ fontSize: 20, color: '#4A5568', lineHeight: 1.4 }}&gt;位姿定下来之后才投放高斯：分块估深度尺度与偏移，再把屏幕上看不见的小高斯合并掉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位姿 ＋ 三角化稀疏点 ＋ 单目深度（Depth Anything 3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图像切 4×4 块，每块单独拟合 s、o 再插值上采样；层级按屏幕投影尺寸合并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每关键帧固定 30 次迭代的高斯优化；显存只留“看得见”的部分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depth_grid = 4　·　τ_l = 0.5 px　·　可并数 &amp;#62; max(10%, 20 万)&lt;/Text&gt;&#13;&#10;                &lt;Text style={{ fontSize: 16, color: '#4A5568', lineHeight: 1.4, marginTop: 4 }}&gt;hierarchy_merge_ratio = 0.1、hierarchy_merge_min_count = 200000&lt;/Text&gt;&#13;&#10;            &lt;/Box&gt;&#13;&#10;        &lt;/Box&gt;&#13;&#10;        &lt;Box style={{ width: 580, flexDirection: 'column' }}&gt;&#13;&#10;            &lt;Image src=&quot;figs/fig7_gauss.png&quot; style={{ width: 580, height: 362 }} /&gt;&#13;&#10;            &lt;Text style={{ fontSize: 14.5, color: '#8B97A8', marginTop: 5 }}&gt;图 7　左：分块深度对齐；右：叶节点按屏幕尺寸合并成父节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1.png&quot; style={{ width: 408.5, height: 26.5 }} /&gt;&#13;&#10;        &lt;Text style={{ fontSize: 16.5, color: '#4A5568', lineHeight: 1.4, marginTop: 3 }}&gt;消融 NoLoDepAlgn：26.29 → 25.41 dB。层级只压显存、不改位姿，所以能安全放在链路末端。&lt;/Text&gt;&#13;&#10;    &lt;/Box&gt;&#13;&#10;    &lt;Box style={{ marginTop: 'auto', padding: '10px 40px 12px 40px' }}&gt;&#13;&#10;        &lt;Text style={{ fontSize: 15, color: '#8B97A8' }}&gt;7 步走完，一帧的贡献结束；下一个关键帧进来，从第 ① 步重新开始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落位：先把深度对齐，再按屏幕尺寸压成层级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位姿定下来之后才投放高斯：分块估深度尺度与偏移，再把屏幕上看不见的小高斯合并掉。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三角化稀疏点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单目深度（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 Anything 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图像切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4×4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块，每块单独拟合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o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再插值上采样；层级按屏幕投影尺寸合并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381000" y="26955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每关键帧固定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次迭代的高斯优化；显存只留“看得见”的部分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81000" y="3571875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36671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depth_grid = 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_l = 0.5 px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)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33400" y="430530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hierarchy_merge_ratio = 0.1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hierarchy_merge_min_count = 200000</a:t>
            </a:r>
            <a:endParaRPr/>
          </a:p>
        </p:txBody>
      </p:sp>
      <p:pic>
        <p:nvPicPr>
          <p:cNvPr id="5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7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左：分块深度对齐；右：叶节点按屏幕尺寸合并成父节点。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28625" y="5019675"/>
            <a:ext cx="11430000" cy="7429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381000" y="5019675"/>
            <a:ext cx="11477625" cy="742950"/>
          </a:xfrm>
          <a:custGeom>
            <a:pathLst>
              <a:path w="1205" h="78">
                <a:moveTo>
                  <a:pt x="0" y="0"/>
                </a:moveTo>
                <a:lnTo>
                  <a:pt x="5" y="0"/>
                </a:lnTo>
                <a:lnTo>
                  <a:pt x="5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 r:embed="rId2"/>
          <a:srcRect l="865" t="0" r="865" b="0"/>
          <a:stretch>
            <a:fillRect/>
          </a:stretch>
        </p:blipFill>
        <p:spPr>
          <a:xfrm rot="0" flipH="0" flipV="0">
            <a:off x="600075" y="5114925"/>
            <a:ext cx="3895725" cy="257175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0075" y="54006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NoLoDepAlgn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26.29 → 25.41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。层级只压显存、不改位姿，所以能安全放在链路末端。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步走完，一帧的贡献结束；下一个关键帧进来，从第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①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步重新开始。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30px 40px 0px 40px', flexDirection: 'row', justifyContent: 'space-between', alignItems: 'flex-end' }}&gt;&#13;&#10;        &lt;Text style={{ fontSize: 34, fontWeight: 'bold', color: '#1E4FA8' }}&gt;论文实验：快一个数量级，只差 1–2 dB&lt;/Text&gt;&#13;&#10;        &lt;Text style={{ fontSize: 15, color: '#8B97A8' }}&gt;12 / 15&lt;/Text&gt;&#13;&#10;    &lt;/Box&gt;&#13;&#10;    &lt;Box style={{ padding: '18px 40px 0px 40px', flexDirection: 'column' }}&gt;&#13;&#10;        &lt;Box style={{ flexDirection: 'row', backgroundColor: '#1E4FA8', padding: '11px 14px' }}&gt;&#13;&#10;            &lt;Text style={{ flex: 1.5, fontSize: 19, fontWeight: 'bold', color: '#FFFFFF' }}&gt;数据集（有序）&lt;/Text&gt;&#13;&#10;            &lt;Text style={{ flex: 1.4, fontSize: 19, fontWeight: 'bold', color: '#FFFFFF' }}&gt;本方法 PSNR / 时间&lt;/Text&gt;&#13;&#10;            &lt;Text style={{ flex: 1.7, fontSize: 19, fontWeight: 'bold', color: '#FFFFFF' }}&gt;离线参考 GLOMAP+3DGS(7k)&lt;/Text&gt;&#13;&#10;            &lt;Text style={{ flex: 1.4, fontSize: 19, fontWeight: 'bold', color: '#FFFFFF' }}&gt;结论&lt;/Text&gt;&#13;&#10;        &lt;/Box&gt;&#13;&#10;        &lt;Box style={{ flexDirection: 'row', padding: '11px 14px', borderBottom: '1px solid #D6DCE5' }}&gt;&#13;&#10;            &lt;Text style={{ flex: 1.5, fontSize: 19, color: '#1A2230' }}&gt;TUM&lt;/Text&gt;&#13;&#10;            &lt;Text style={{ flex: 1.4, fontSize: 19, fontWeight: 'bold', color: '#1E4FA8' }}&gt;24.77 / 1:22&lt;/Text&gt;&#13;&#10;            &lt;Text style={{ flex: 1.7, fontSize: 19, color: '#1A2230' }}&gt;25.29 / 3:33&lt;/Text&gt;&#13;&#10;            &lt;Text style={{ flex: 1.4, fontSize: 19, color: '#1A2230' }}&gt;比 LongSplat 快约 75×&lt;/Text&gt;&#13;&#10;        &lt;/Box&gt;&#13;&#10;        &lt;Box style={{ flexDirection: 'row', padding: '11px 14px', backgroundColor: '#F7F9FC', borderBottom: '1px solid #D6DCE5' }}&gt;&#13;&#10;            &lt;Text style={{ flex: 1.5, fontSize: 19, color: '#1A2230' }}&gt;MipNeRF360&lt;/Text&gt;&#13;&#10;            &lt;Text style={{ flex: 1.4, fontSize: 19, fontWeight: 'bold', color: '#1E4FA8' }}&gt;26.29 / 1:17&lt;/Text&gt;&#13;&#10;            &lt;Text style={{ flex: 1.7, fontSize: 19, color: '#1A2230' }}&gt;27.52 / 8:50&lt;/Text&gt;&#13;&#10;            &lt;Text style={{ flex: 1.4, fontSize: 19, color: '#1A2230' }}&gt;快 6.9×，差 1.23 dB&lt;/Text&gt;&#13;&#10;        &lt;/Box&gt;&#13;&#10;        &lt;Box style={{ flexDirection: 'row', padding: '11px 14px', borderBottom: '1px solid #D6DCE5' }}&gt;&#13;&#10;            &lt;Text style={{ flex: 1.5, fontSize: 19, color: '#1A2230' }}&gt;StaticHikes&lt;/Text&gt;&#13;&#10;            &lt;Text style={{ flex: 1.4, fontSize: 19, fontWeight: 'bold', color: '#1E4FA8' }}&gt;22.12 / 2:14&lt;/Text&gt;&#13;&#10;            &lt;Text style={{ flex: 1.7, fontSize: 19, color: '#1A2230' }}&gt;20.23 / 1:02:34&lt;/Text&gt;&#13;&#10;            &lt;Text style={{ flex: 1.4, fontSize: 19, color: '#1A2230' }}&gt;质量反超离线&lt;/Text&gt;&#13;&#10;        &lt;/Box&gt;&#13;&#10;        &lt;Box style={{ flexDirection: 'row', padding: '11px 14px', backgroundColor: '#F7F9FC', borderBottom: '1px solid #D6DCE5' }}&gt;&#13;&#10;            &lt;Text style={{ flex: 1.5, fontSize: 19, color: '#1A2230' }}&gt;CityWalk（4050 帧）&lt;/Text&gt;&#13;&#10;            &lt;Text style={{ flex: 1.4, fontSize: 19, fontWeight: 'bold', color: '#1E4FA8' }}&gt;22.03 / 29:38&lt;/Text&gt;&#13;&#10;            &lt;Text style={{ flex: 1.7, fontSize: 19, color: '#1A2230' }}&gt;Octree-GS 17.33 / 3:11:40&lt;/Text&gt;&#13;&#10;            &lt;Text style={{ flex: 1.4, fontSize: 19, color: '#1A2230' }}&gt;大场景最优&lt;/Text&gt;&#13;&#10;        &lt;/Box&gt;&#13;&#10;    &lt;/Box&gt;&#13;&#10;    &lt;Box style={{ padding: '16px 40px 0px 40px', flexDirection: 'row', gap: 16 }}&gt;&#13;&#10;        &lt;Box style={{ flex: 1, backgroundColor: '#F0F5FC', borderRadius: 6, padding: '13px 16px', flexDirection: 'column' }}&gt;&#13;&#10;            &lt;Text style={{ fontSize: 36, fontWeight: 'bold', color: '#1E4FA8' }}&gt;0.5 dB&lt;/Text&gt;&#13;&#10;            &lt;Text style={{ fontSize: 19, color: '#1A2230', lineHeight: 1.45, marginTop: 4 }}&gt;输入顺序打乱后 PSNR 26.29 → 25.73，&quot;无序&quot;不是门槛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8.5&lt;/Text&gt;&#13;&#10;            &lt;Text style={{ fontSize: 19, color: '#1A2230', lineHeight: 1.45, marginTop: 4 }}&gt;MipNeRF360 平移 APE（对比 Photo-SLAM 161+）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324 ms&lt;/Text&gt;&#13;&#10;            &lt;Text style={{ fontSize: 19, color: '#1A2230', lineHeight: 1.45, marginTop: 4 }}&gt;MipNeRF360 平均每帧延迟，具备&quot;即时反馈&quot;资格&lt;/Text&gt;&#13;&#10;        &lt;/Box&gt;&#13;&#10;    &lt;/Box&gt;&#13;&#10;&#13;&#10;    &lt;Box style={{ padding: '18px 40px 0px 40px', flexDirection: 'column' }}&gt;&#13;&#10;        &lt;Box style={{ flexDirection: 'row', alignItems: 'flex-end', gap: 12 }}&gt;&#13;&#10;            &lt;Text style={{ fontSize: 22, fontWeight: 'bold', color: '#1E4FA8' }}&gt;消融：哪一步最不能省&lt;/Text&gt;&#13;&#10;            &lt;Text style={{ fontSize: 16, color: '#8B97A8' }}&gt;MipNeRF360 · PSNR（dB）· 横轴自 24 起，条越长越好&lt;/Text&gt;&#13;&#10;        &lt;/Box&gt;&#13;&#10;        &lt;Box style={{ flexDirection: 'row', alignItems: 'center', padding: '8px 0px 4px 0px' }}&gt;&#13;&#10;            &lt;Text style={{ width: 330, fontSize: 17, fontWeight: 'bold', color: '#1A2230' }}&gt;完整方法&lt;/Text&gt;&#13;&#10;            &lt;Box style={{ width: 568, height: 21, backgroundColor: '#1E4FA8', borderRadius: 2 }} /&gt;&#13;&#10;            &lt;Text style={{ fontSize: 17.5, fontWeight: 'bold', color: '#1E4FA8', marginLeft: 9 }}&gt;26.29&lt;/Text&gt;&#13;&#10;        &lt;/Box&gt;&#13;&#10;        &lt;Box style={{ flexDirection: 'row', alignItems: 'center', padding: '4px 0px' }}&gt;&#13;&#10;            &lt;Text style={{ width: 330, fontSize: 17, color: '#1A2230' }}&gt;不分块深度对齐（NoLoDepAlgn）&lt;/Text&gt;&#13;&#10;            &lt;Box style={{ width: 349, height: 21, backgroundColor: '#3D7BD9', borderRadius: 2 }} /&gt;&#13;&#10;            &lt;Text style={{ fontSize: 17.5, fontWeight: 'bold', color: '#1A2230', marginLeft: 9 }}&gt;25.41　&lt;Text style={{ fontSize: 15.5, color: '#D9534F' }}&gt;−0.88&lt;/Text&gt;&lt;/Text&gt;&#13;&#10;        &lt;/Box&gt;&#13;&#10;        &lt;Box style={{ flexDirection: 'row', alignItems: 'center', padding: '4px 0px' }}&gt;&#13;&#10;            &lt;Text style={{ width: 330, fontSize: 17, color: '#1A2230' }}&gt;去掉 VPR，只比相邻 5 帧&lt;/Text&gt;&#13;&#10;            &lt;Box style={{ width: 193, height: 21, backgroundColor: '#7FA5D8', borderRadius: 2 }} /&gt;&#13;&#10;            &lt;Text style={{ fontSize: 17.5, fontWeight: 'bold', color: '#1A2230', marginLeft: 9 }}&gt;24.78　&lt;Text style={{ fontSize: 15.5, color: '#D9534F' }}&gt;−1.51&lt;/Text&gt;&lt;/Text&gt;&#13;&#10;        &lt;/Box&gt;&#13;&#10;        &lt;Box style={{ flexDirection: 'row', alignItems: 'center', padding: '4px 0px' }}&gt;&#13;&#10;            &lt;Text style={{ width: 330, fontSize: 17, color: '#1A2230' }}&gt;优化窗改成&quot;最后 20 帧&quot;&lt;/Text&gt;&#13;&#10;            &lt;Box style={{ width: 139, height: 21, backgroundColor: '#A8BFE0', borderRadius: 2 }} /&gt;&#13;&#10;            &lt;Text style={{ fontSize: 17.5, fontWeight: 'bold', color: '#1A2230', marginLeft: 9 }}&gt;24.56　&lt;Text style={{ fontSize: 15.5, color: '#D9534F' }}&gt;−1.73&lt;/Text&gt;&lt;/Text&gt;&#13;&#10;        &lt;/Box&gt;&#13;&#10;    &lt;/Box&gt;&#13;&#10;&#13;&#10;    &lt;Box style={{ margin: '12px 40px 0px 40px', backgroundColor: '#F7F9FC', borderLeft: '5px solid #1E4FA8', padding: '9px 16px' }}&gt;&#13;&#10;        &lt;Text style={{ fontSize: 17, color: '#1A2230', lineHeight: 1.4 }}&gt;三处消融都掉 0.9–1.7 dB，但省下的时间远不止——这正是&quot;&lt;b&gt;先保实时、再谈精度&lt;/b&gt;&quot;的取舍证据；其中&lt;b&gt;选窗最贵&lt;/b&gt;，所以第 08 页把它单列一页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81000" y="477202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消融：哪一步最不能省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2590800" y="4838700"/>
            <a:ext cx="3857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MipNeRF360 · PSNR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dB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横轴自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起，条越长越好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510540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Microsoft YaHei"/>
                <a:ea typeface="Microsoft YaHei"/>
              </a:rPr>
              <a:t>完整方法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24250" y="5105400"/>
            <a:ext cx="5410200" cy="200025"/>
          </a:xfrm>
          <a:prstGeom prst="roundRect">
            <a:avLst>
              <a:gd name="adj" fmla="val 952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020175" y="5105400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26.29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不分块深度对齐（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NoLoDepAlgn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524250" y="5381625"/>
            <a:ext cx="3324225" cy="200025"/>
          </a:xfrm>
          <a:prstGeom prst="roundRect">
            <a:avLst>
              <a:gd name="adj" fmla="val 952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34200" y="538162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25.41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−0.88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565785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去掉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VPR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，只比相邻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524250" y="5657850"/>
            <a:ext cx="1838325" cy="200025"/>
          </a:xfrm>
          <a:prstGeom prst="roundRect">
            <a:avLst>
              <a:gd name="adj" fmla="val 9524"/>
            </a:avLst>
          </a:prstGeom>
          <a:solidFill>
            <a:srgbClr val="7FA5D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448300" y="565785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24.78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−1.51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593407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优化窗改成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24250" y="5934075"/>
            <a:ext cx="1323975" cy="200025"/>
          </a:xfrm>
          <a:prstGeom prst="roundRect">
            <a:avLst>
              <a:gd name="adj" fmla="val 9524"/>
            </a:avLst>
          </a:prstGeom>
          <a:solidFill>
            <a:srgbClr val="A8BFE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933950" y="593407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24.56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−1.73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8625" y="6286500"/>
            <a:ext cx="11430000" cy="4476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381000" y="6286500"/>
            <a:ext cx="11477625" cy="447675"/>
          </a:xfrm>
          <a:custGeom>
            <a:pathLst>
              <a:path w="1205" h="47">
                <a:moveTo>
                  <a:pt x="0" y="0"/>
                </a:moveTo>
                <a:lnTo>
                  <a:pt x="5" y="0"/>
                </a:lnTo>
                <a:lnTo>
                  <a:pt x="5" y="47"/>
                </a:lnTo>
                <a:lnTo>
                  <a:pt x="0" y="4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1025" y="6372225"/>
            <a:ext cx="110775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三处消融都掉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0.9–1.7 dB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，但省下的时间远不止——这正是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先保实时、再谈精度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的取舍证据；其中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选窗最贵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，所以第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页把它单列一页。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1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3px 40px 0px 40px', flexDirection: 'row', justifyContent: 'space-between', alignItems: 'flex-end' }}&gt;&#13;&#10;        &lt;Text style={{ fontSize: 31, fontWeight: 'bold', color: '#1E4FA8' }}&gt;核心优化：位姿求解是作者自己写的 GPU 核&lt;/Text&gt;&#13;&#10;        &lt;Text style={{ fontSize: 15, color: '#8B97A8' }}&gt;13 / 15&lt;/Text&gt;&#13;&#10;    &lt;/Box&gt;&#13;&#10;    &lt;Box style={{ padding: '5px 40px 0px 40px' }}&gt;&#13;&#10;        &lt;Text style={{ fontSize: 17, color: '#4A5568' }}&gt;论文没有调用 g2o / Ceres / CUDA-BA，第 ⑤ 步的 BA 从残差到求解全是自己写的：&lt;b&gt;雅可比解析、LM 迭代、Schur 消元、位姿更新，四步都留在显存里&lt;/b&gt;。&lt;/Text&gt;&#13;&#10;    &lt;/Box&gt;&#13;&#10;    &lt;Box style={{ padding: '7px 40px 0px 40px', flexDirection: 'row', gap: 14 }}&gt;&#13;&#10;        &lt;Box style={{ flex: 1, flexDirection: 'column', gap: 10 }}&gt;&#13;&#10;            &lt;Box style={{ backgroundColor: '#1E1E1E', borderRadius: 5, padding: '5px 10px', flexDirection: 'column' }}&gt;&#13;&#10;                &lt;Text style={{ fontSize: 13.5, fontWeight: 'bold', color: '#8FBBFF' }}&gt;优化 1　手写解析雅可比，废掉 autograd&lt;/Text&gt;&#13;&#10;                &lt;Text style={{ fontFamily: 'Consolas', fontSize: 10, color: '#7F8C9F', marginBottom: 2 }}&gt;poses/mini_ba_utils.cu:133&lt;/Text&gt;&#13;&#10;                &lt;Image src=&quot;opt_png/01.png&quot; style={{ width: 579, height: 173 }} /&gt;&#13;&#10;            &lt;/Box&gt;&#13;&#10;            &lt;Box style={{ backgroundColor: '#1E1E1E', borderRadius: 5, padding: '5px 10px', flexDirection: 'column' }}&gt;&#13;&#10;                &lt;Text style={{ fontSize: 13.5, fontWeight: 'bold', color: '#8FBBFF' }}&gt;优化 2　手写 se(3) 指数映射，更新融成一个核&lt;/Text&gt;&#13;&#10;                &lt;Text style={{ fontFamily: 'Consolas', fontSize: 10, color: '#7F8C9F', marginBottom: 2 }}&gt;poses/mini_ba_utils.cu:186&lt;/Text&gt;&#13;&#10;                &lt;Image src=&quot;opt_png/02.png&quot; style={{ width: 579, height: 173 }} /&gt;&#13;&#10;            &lt;/Box&gt;&#13;&#10;        &lt;/Box&gt;&#13;&#10;        &lt;Box style={{ flex: 1, flexDirection: 'column', gap: 10 }}&gt;&#13;&#10;            &lt;Box style={{ backgroundColor: '#1E1E1E', borderRadius: 5, padding: '5px 10px', flexDirection: 'column' }}&gt;&#13;&#10;                &lt;Text style={{ fontSize: 13.5, fontWeight: 'bold', color: '#8FBBFF' }}&gt;优化 3　Schur 补与 Cholesky 不落回 CPU&lt;/Text&gt;&#13;&#10;                &lt;Text style={{ fontFamily: 'Consolas', fontSize: 10, color: '#7F8C9F', marginBottom: 2 }}&gt;poses/mini_ba.py:296&lt;/Text&gt;&#13;&#10;                &lt;Image src=&quot;opt_png/03.png&quot; style={{ width: 579, height: 191 }} /&gt;&#13;&#10;            &lt;/Box&gt;&#13;&#10;            &lt;Box style={{ backgroundColor: '#1E1E1E', borderRadius: 5, padding: '5px 10px', flexDirection: 'column' }}&gt;&#13;&#10;                &lt;Text style={{ fontSize: 13.5, fontWeight: 'bold', color: '#8FBBFF' }}&gt;优化 4　整轮 LM 压成一张 CUDA Graph&lt;/Text&gt;&#13;&#10;                &lt;Text style={{ fontFamily: 'Consolas', fontSize: 10, color: '#7F8C9F', marginBottom: 2 }}&gt;poses/mini_ba.py:506（无分支写法见 :391）&lt;/Text&gt;&#13;&#10;                &lt;Image src=&quot;opt_png/04.png&quot; style={{ width: 579, height: 191 }} /&gt;&#13;&#10;            &lt;/Box&gt;&#13;&#10;        &lt;/Box&gt;&#13;&#10;    &lt;/Box&gt;&#13;&#10;    &lt;Box style={{ margin: '9px 40px 0px 40px', backgroundColor: '#F0F5FC', borderLeft: '5px solid #1E4FA8', padding: '9px 18px', flexDirection: 'row', gap: 22 }}&gt;&#13;&#10;        &lt;Box style={{ flex: 1, flexDirection: 'column' }}&gt;&#13;&#10;            &lt;Text style={{ fontSize: 15.5, fontWeight: 'bold', color: '#1E4FA8' }}&gt;省掉反向图&lt;/Text&gt;&#13;&#10;            &lt;Text style={{ fontSize: 15, color: '#1A2230', lineHeight: 1.35 }}&gt;雅可比手推成解析式，残差与 J 一核同出。&lt;/Text&gt;&#13;&#10;        &lt;/Box&gt;&#13;&#10;        &lt;Box style={{ flex: 1, flexDirection: 'column' }}&gt;&#13;&#10;            &lt;Text style={{ fontSize: 15.5, fontWeight: 'bold', color: '#1E4FA8' }}&gt;省掉主机同步&lt;/Text&gt;&#13;&#10;            &lt;Text style={{ fontSize: 15, color: '#1A2230', lineHeight: 1.35 }}&gt;观测追加 atomicAdd 抢 slot，不等 CPU 派号。&lt;/Text&gt;&#13;&#10;        &lt;/Box&gt;&#13;&#10;        &lt;Box style={{ flex: 1, flexDirection: 'column' }}&gt;&#13;&#10;            &lt;Text style={{ fontSize: 15.5, fontWeight: 'bold', color: '#1E4FA8' }}&gt;省掉启动开销&lt;/Text&gt;&#13;&#10;            &lt;Text style={{ fontSize: 15, color: '#1A2230', lineHeight: 1.35 }}&gt;上百次 LM 迭代提交一次图，不许有分支。&lt;/Text&gt;&#13;&#10;        &lt;/Box&gt;&#13;&#10;    &lt;/Box&gt;&#13;&#10;    &lt;Box style={{ marginTop: 'auto', padding: '6px 40px 10px 40px' }}&gt;&#13;&#10;        &lt;Text style={{ fontSize: 13, color: '#8B97A8', lineHeight: 1.4 }}&gt;行号指向片段起点；为投影宽度做了换行与变量缩写（v = jacxr_cam − BD @ jacxr_xyz），逻辑未改。共同点不是算法更聪明，而是&lt;b&gt;把每一步都做成 GPU 原生的形状&lt;/b&gt;——这才是「普通显卡上实时」的落点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200025"/>
            <a:ext cx="5848350" cy="3619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核心优化：位姿求解是作者自己写的</a:t>
            </a:r>
            <a:r>
              <a:rPr lang="en-US" sz="23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2325" b="1">
                <a:solidFill>
                  <a:srgbClr val="1E4FA8"/>
                </a:solidFill>
                <a:latin typeface="Microsoft YaHei"/>
                <a:ea typeface="Microsoft YaHei"/>
              </a:rPr>
              <a:t>核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3905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81000" y="60960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论文没有调用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 / CUDA-BA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⑤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步的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从残差到求解全是自己写的：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雅可比解析、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迭代、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消元、位姿更新，四步都留在显存里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381000" y="8763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476250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手写解析雅可比，废掉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autograd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476250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poses/mini_ba_utils.cu:133</a:t>
            </a:r>
            <a:endParaRPr/>
          </a:p>
        </p:txBody>
      </p:sp>
      <p:pic>
        <p:nvPicPr>
          <p:cNvPr id="126" name="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0" flipH="0" flipV="0">
            <a:off x="476250" y="1219200"/>
            <a:ext cx="5514975" cy="1647825"/>
          </a:xfrm>
          <a:prstGeom prst="rect">
            <a:avLst/>
          </a:prstGeom>
          <a:ln/>
        </p:spPr>
      </p:pic>
      <p:sp>
        <p:nvSpPr>
          <p:cNvPr id="127" name=""/>
          <p:cNvSpPr/>
          <p:nvPr/>
        </p:nvSpPr>
        <p:spPr>
          <a:xfrm rot="0" flipH="0" flipV="0">
            <a:off x="381000" y="3009900"/>
            <a:ext cx="5648325" cy="2038350"/>
          </a:xfrm>
          <a:prstGeom prst="roundRect">
            <a:avLst>
              <a:gd name="adj" fmla="val 2336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476250" y="30575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手写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se(3)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指数映射，更新融成一个核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76250" y="32194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poses/mini_ba_utils.cu:186</a:t>
            </a:r>
            <a:endParaRPr/>
          </a:p>
        </p:txBody>
      </p:sp>
      <p:pic>
        <p:nvPicPr>
          <p:cNvPr id="130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76250" y="3352800"/>
            <a:ext cx="5514975" cy="1647825"/>
          </a:xfrm>
          <a:prstGeom prst="rect">
            <a:avLst/>
          </a:prstGeom>
          <a:ln/>
        </p:spPr>
      </p:pic>
      <p:sp>
        <p:nvSpPr>
          <p:cNvPr id="131" name=""/>
          <p:cNvSpPr/>
          <p:nvPr/>
        </p:nvSpPr>
        <p:spPr>
          <a:xfrm rot="0" flipH="0" flipV="0">
            <a:off x="6162675" y="87630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257925" y="92392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补与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Cholesky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不落回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CPU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257925" y="108585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poses/mini_ba.py:296</a:t>
            </a:r>
            <a:endParaRPr/>
          </a:p>
        </p:txBody>
      </p:sp>
      <p:pic>
        <p:nvPicPr>
          <p:cNvPr id="134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6257925" y="1219200"/>
            <a:ext cx="5514975" cy="1819275"/>
          </a:xfrm>
          <a:prstGeom prst="rect">
            <a:avLst/>
          </a:prstGeom>
          <a:ln/>
        </p:spPr>
      </p:pic>
      <p:sp>
        <p:nvSpPr>
          <p:cNvPr id="135" name=""/>
          <p:cNvSpPr/>
          <p:nvPr/>
        </p:nvSpPr>
        <p:spPr>
          <a:xfrm rot="0" flipH="0" flipV="0">
            <a:off x="6162675" y="3181350"/>
            <a:ext cx="5648325" cy="2209800"/>
          </a:xfrm>
          <a:prstGeom prst="roundRect">
            <a:avLst>
              <a:gd name="adj" fmla="val 2155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257925" y="3228975"/>
            <a:ext cx="54578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优化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　整轮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013" b="1">
                <a:solidFill>
                  <a:srgbClr val="8FBBFF"/>
                </a:solidFill>
                <a:latin typeface="Microsoft YaHei"/>
                <a:ea typeface="Microsoft YaHei"/>
              </a:rPr>
              <a:t>压成一张</a:t>
            </a:r>
            <a:r>
              <a:rPr lang="en-US" sz="1013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CUDA Graph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6257925" y="3390900"/>
            <a:ext cx="545782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poses/mini_ba.py:506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（无分支写法见</a:t>
            </a: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 xml:space="preserve"> :391</a:t>
            </a:r>
            <a:r>
              <a:rPr lang="zh-CN" sz="750">
                <a:solidFill>
                  <a:srgbClr val="7F8C9F"/>
                </a:solidFill>
                <a:latin typeface="Consolas"/>
                <a:ea typeface="Consolas"/>
              </a:rPr>
              <a:t>）</a:t>
            </a:r>
            <a:endParaRPr/>
          </a:p>
        </p:txBody>
      </p:sp>
      <p:pic>
        <p:nvPicPr>
          <p:cNvPr id="138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57925" y="3524250"/>
            <a:ext cx="5514975" cy="1819275"/>
          </a:xfrm>
          <a:prstGeom prst="rect">
            <a:avLst/>
          </a:prstGeom>
          <a:ln/>
        </p:spPr>
      </p:pic>
      <p:sp>
        <p:nvSpPr>
          <p:cNvPr id="139" name=""/>
          <p:cNvSpPr/>
          <p:nvPr/>
        </p:nvSpPr>
        <p:spPr>
          <a:xfrm rot="0" flipH="0" flipV="0">
            <a:off x="428625" y="5476875"/>
            <a:ext cx="11430000" cy="5905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40" name=""/>
          <p:cNvSpPr/>
          <p:nvPr/>
        </p:nvSpPr>
        <p:spPr>
          <a:xfrm rot="0" flipH="0" flipV="0">
            <a:off x="381000" y="5476875"/>
            <a:ext cx="11477625" cy="590550"/>
          </a:xfrm>
          <a:custGeom>
            <a:pathLst>
              <a:path w="1205" h="62">
                <a:moveTo>
                  <a:pt x="0" y="0"/>
                </a:moveTo>
                <a:lnTo>
                  <a:pt x="5" y="0"/>
                </a:lnTo>
                <a:lnTo>
                  <a:pt x="5" y="62"/>
                </a:lnTo>
                <a:lnTo>
                  <a:pt x="0" y="6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00075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省掉反向图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600075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雅可比手推成解析式，残差与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J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一核同出。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4352925" y="5562600"/>
            <a:ext cx="353377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省掉主机同步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4352925" y="5743575"/>
            <a:ext cx="3533775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观测追加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atomicAdd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slot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，不等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派号。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96250" y="5562600"/>
            <a:ext cx="35433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省掉启动开销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8096250" y="5743575"/>
            <a:ext cx="3543300" cy="2381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上百次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LM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迭代提交一次图，不许有分支。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381000" y="6553200"/>
            <a:ext cx="11430000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>v = jacxr_cam − BD @ jacxr_xyz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），逻辑未改。共同点不是算法更聪明，而是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把每一步都做成</a:t>
            </a:r>
            <a:r>
              <a:rPr lang="en-US" sz="975">
                <a:solidFill>
                  <a:srgbClr val="8B97A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原生的形状</a:t>
            </a:r>
            <a:r>
              <a:rPr lang="zh-CN" sz="975">
                <a:solidFill>
                  <a:srgbClr val="8B97A8"/>
                </a:solidFill>
                <a:latin typeface="Microsoft YaHei"/>
                <a:ea typeface="Microsoft YaHei"/>
              </a:rPr>
              <a:t>——这才是「普通显卡上实时」的落点。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48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8px 40px 0px 40px', flexDirection: 'row', justifyContent: 'space-between', alignItems: 'flex-end' }}&gt;&#13;&#10;        &lt;Text style={{ fontSize: 32, fontWeight: 'bold', color: '#1E4FA8' }}&gt;结论：三句话带走，加一张边界清单&lt;/Text&gt;&#13;&#10;        &lt;Text style={{ fontSize: 15, color: '#8B97A8' }}&gt;14 / 15&lt;/Text&gt;&#13;&#10;    &lt;/Box&gt;&#13;&#10;&#13;&#10;    &lt;Box style={{ padding: '15px 40px 0px 40px', flexDirection: 'column', gap: 18 }}&gt;&#13;&#10;        &lt;Box style={{ flexDirection: 'row', gap: 16, alignItems: 'flex-start' }}&gt;&#13;&#10;            &lt;Box style={{ width: '34px', height: '34px', backgroundColor: '#1E4FA8', borderRadius: 4, alignItems: 'center', justifyContent: 'center' }}&gt;&#13;&#10;                &lt;Text style={{ fontSize: 19, fontWeight: 'bold', color: '#FFFFFF' }}&gt;1&lt;/Text&gt;&#13;&#10;            &lt;/Box&gt;&#13;&#10;            &lt;Box style={{ flex: 1, flexDirection: 'column' }}&gt;&#13;&#10;                &lt;Text style={{ fontSize: 23, fontWeight: 'bold', color: '#1A2230' }}&gt;它填的是一块空格，不是&quot;更快的离线 SfM&quot;&lt;/Text&gt;&#13;&#10;                &lt;Text style={{ fontSize: 18, color: '#4A5568', lineHeight: 1.4, marginTop: 4 }}&gt;即时、无序、全局一致三者同时成立，此前没有方法做到。速度是手段，&quot;现场可判断&quot;才是目的。&lt;/Text&gt;&#13;&#10;            &lt;/Box&gt;&#13;&#10;        &lt;/Box&gt;&#13;&#10;        &lt;Box style={{ flexDirection: 'row', gap: 16, alignItems: 'flex-start' }}&gt;&#13;&#10;            &lt;Box style={{ width: '34px', height: '34px', backgroundColor: '#1E4FA8', borderRadius: 4, alignItems: 'center', justifyContent: 'center' }}&gt;&#13;&#10;                &lt;Text style={{ fontSize: 19, fontWeight: 'bold', color: '#FFFFFF' }}&gt;2&lt;/Text&gt;&#13;&#10;            &lt;/Box&gt;&#13;&#10;            &lt;Box style={{ flex: 1, flexDirection: 'column' }}&gt;&#13;&#10;                &lt;Text style={{ fontSize: 23, fontWeight: 'bold', color: '#1A2230' }}&gt;题眼是用&quot;图上的距离&quot;替换&quot;全局优化的解&quot;&lt;/Text&gt;&#13;&#10;                &lt;Text style={{ fontSize: 18, color: '#4A5568', lineHeight: 1.4, marginTop: 4 }}&gt;判定看加权图距、不看时间，求解用焊接窗口得 Sim(3)，再把修正按测地距离摊给全图——回环不必重算第二遍。&lt;/Text&gt;&#13;&#10;            &lt;/Box&gt;&#13;&#10;        &lt;/Box&gt;&#13;&#10;        &lt;Box style={{ flexDirection: 'row', gap: 16, alignItems: 'flex-start' }}&gt;&#13;&#10;            &lt;Box style={{ width: '34px', height: '34px', backgroundColor: '#0E3F8C', borderRadius: 4, alignItems: 'center', justifyContent: 'center' }}&gt;&#13;&#10;                &lt;Text style={{ fontSize: 19, fontWeight: 'bold', color: '#FFFFFF' }}&gt;3&lt;/Text&gt;&#13;&#10;            &lt;/Box&gt;&#13;&#10;            &lt;Box style={{ flex: 1, flexDirection: 'column' }}&gt;&#13;&#10;                &lt;Text style={{ fontSize: 23, fontWeight: 'bold', color: '#1A2230' }}&gt;代价是真的：让出 1.2 dB，换来一条自写的 GPU 求解栈&lt;/Text&gt;&#13;&#10;                &lt;Text style={{ fontSize: 18, color: '#4A5568', lineHeight: 1.4, marginTop: 4 }}&gt;不调 g2o / Ceres，雅可比、Schur 消元、迭代更新自己写成核——精度上限低于全局 BA，但换来了时间。&lt;/Text&gt;&#13;&#10;            &lt;/Box&gt;&#13;&#10;        &lt;/Box&gt;&#13;&#10;    &lt;/Box&gt;&#13;&#10;&#13;&#10;    &lt;Box style={{ margin: '17px 40px 0px 40px', backgroundColor: '#F7F9FC', border: '1px solid #D6DCE5', borderRadius: 6, padding: '9px 16px', flexDirection: 'column' }}&gt;&#13;&#10;        &lt;Box style={{ flexDirection: 'row', justifyContent: 'space-between', alignItems: 'baseline' }}&gt;&#13;&#10;            &lt;Text style={{ fontSize: 16, fontWeight: 'bold', color: '#1A2230' }}&gt;它现在的边界　→　对应的补法&lt;/Text&gt;&#13;&#10;            &lt;Text style={{ fontSize: 14, color: '#8B97A8' }}&gt;论文自述的局限，非我们的复现问题&lt;/Text&gt;&#13;&#10;        &lt;/Box&gt;&#13;&#10;        &lt;Box style={{ flexDirection: 'row', gap: 14, marginTop: 7 }}&gt;&#13;&#10;            &lt;Box style={{ flex: 1, flexDirection: 'column' }}&gt;&#13;&#10;                &lt;Text style={{ fontSize: 14.5, fontWeight: 'bold', color: '#B03A37' }}&gt;① 低视差直接失效&lt;/Text&gt;&#13;&#10;                &lt;Text style={{ fontSize: 14, color: '#1A2230', lineHeight: 1.35, marginTop: 2 }}&gt;低视差帧只参与渲染、不进位姿求解，避免污染轨迹&lt;/Text&gt;&#13;&#10;            &lt;/Box&gt;&#13;&#10;            &lt;Box style={{ flex: 1, flexDirection: 'column' }}&gt;&#13;&#10;                &lt;Text style={{ fontSize: 14.5, fontWeight: 'bold', color: '#B03A37' }}&gt;② 精度低于全局 BA&lt;/Text&gt;&#13;&#10;                &lt;Text style={{ fontSize: 14, color: '#1A2230', lineHeight: 1.35, marginTop: 2 }}&gt;在线出预览，结束时 GLOMAP 回填一次全局 BA，补回 1.2 dB&lt;/Text&gt;&#13;&#10;            &lt;/Box&gt;&#13;&#10;            &lt;Box style={{ flex: 1, flexDirection: 'column' }}&gt;&#13;&#10;                &lt;Text style={{ fontSize: 14.5, fontWeight: 'bold', color: '#B03A37' }}&gt;③ 上游依赖链太重&lt;/Text&gt;&#13;&#10;                &lt;Text style={{ fontSize: 14, color: '#1A2230', lineHeight: 1.35, marginTop: 2 }}&gt;采集端给实时覆盖率与误差热图，直接提示&quot;这块没拍&quot;&lt;/Text&gt;&#13;&#10;            &lt;/Box&gt;&#13;&#10;            &lt;Box style={{ flex: 1, flexDirection: 'column' }}&gt;&#13;&#10;                &lt;Text style={{ fontSize: 14.5, fontWeight: 'bold', color: '#B03A37' }}&gt;④ 阈值靠经验&lt;/Text&gt;&#13;&#10;                &lt;Text style={{ fontSize: 14, color: '#1A2230', lineHeight: 1.35, marginTop: 2 }}&gt;按纹理强度与重叠度在线估计，替代固定常数&lt;/Text&gt;&#13;&#10;            &lt;/Box&gt;&#13;&#10;        &lt;/Box&gt;&#13;&#10;    &lt;/Box&gt;&#13;&#10;&#13;&#10;    &lt;Box style={{ margin: '16px 40px 0px 40px', backgroundColor: '#FAFBFD', border: '1px solid #E3E8F0', borderRadius: 6, padding: '10px 16px 12px 16px', flexDirection: 'row' }}&gt;&#13;&#10;        &lt;Box style={{ flex: 1, borderTop: '2px solid #C8D4E4', padding: '9px 14px 0px 14px', flexDirection: 'column' }}&gt;&#13;&#10;            &lt;Text style={{ fontSize: 15, fontWeight: 'bold', color: '#3D7BD9' }}&gt;2019&lt;/Text&gt;&#13;&#10;            &lt;Text style={{ fontSize: 17.5, fontWeight: 'bold', color: '#1A2230', marginTop: 2 }}&gt;NeRF&lt;/Text&gt;&#13;&#10;            &lt;Text style={{ fontSize: 14, color: '#4A5568', lineHeight: 1.35, marginTop: 4 }}&gt;离线、必须有序输入&lt;/Text&gt;&#13;&#10;            &lt;Text style={{ fontSize: 13.5, color: '#8B97A8', lineHeight: 1.35, marginTop: 3 }}&gt;一次训练以小时计&lt;/Text&gt;&#13;&#10;        &lt;/Box&gt;&#13;&#10;        &lt;Box style={{ flex: 1, borderTop: '2px solid #C8D4E4', padding: '9px 14px 0px 14px', flexDirection: 'column' }}&gt;&#13;&#10;            &lt;Text style={{ fontSize: 15, fontWeight: 'bold', color: '#3D7BD9' }}&gt;2023&lt;/Text&gt;&#13;&#10;            &lt;Text style={{ fontSize: 17.5, fontWeight: 'bold', color: '#1A2230', marginTop: 2 }}&gt;3DGS&lt;/Text&gt;&#13;&#10;            &lt;Text style={{ fontSize: 14, color: '#4A5568', lineHeight: 1.35, marginTop: 4 }}&gt;渲染快了，位姿仍靠 COLMAP&lt;/Text&gt;&#13;&#10;            &lt;Text style={{ fontSize: 13.5, color: '#8B97A8', lineHeight: 1.35, marginTop: 3 }}&gt;前置步骤还是离线 SfM&lt;/Text&gt;&#13;&#10;        &lt;/Box&gt;&#13;&#10;        &lt;Box style={{ flex: 1, borderTop: '2px solid #C8D4E4', padding: '9px 14px 0px 14px', flexDirection: 'column' }}&gt;&#13;&#10;            &lt;Text style={{ fontSize: 15, fontWeight: 'bold', color: '#3D7BD9' }}&gt;2024–25&lt;/Text&gt;&#13;&#10;            &lt;Text style={{ fontSize: 17.5, fontWeight: 'bold', color: '#1A2230', marginTop: 2 }}&gt;增量 / 无位姿重建&lt;/Text&gt;&#13;&#10;            &lt;Text style={{ fontSize: 14, color: '#4A5568', lineHeight: 1.35, marginTop: 4 }}&gt;要么依赖有序，要么非全局&lt;/Text&gt;&#13;&#10;            &lt;Text style={{ fontSize: 13.5, color: '#8B97A8', lineHeight: 1.35, marginTop: 3 }}&gt;两条路各缺一条&lt;/Text&gt;&#13;&#10;        &lt;/Box&gt;&#13;&#10;        &lt;Box style={{ flex: 1, borderTop: '2px solid #1E4FA8', padding: '9px 14px 0px 14px', flexDirection: 'column' }}&gt;&#13;&#10;            &lt;Text style={{ fontSize: 15, fontWeight: 'bold', color: '#1E4FA8' }}&gt;2026&lt;/Text&gt;&#13;&#10;            &lt;Text style={{ fontSize: 17.5, fontWeight: 'bold', color: '#1E4FA8', marginTop: 2 }}&gt;i3dgs（本文）&lt;/Text&gt;&#13;&#10;            &lt;Text style={{ fontSize: 14, fontWeight: 'bold', color: '#1E4FA8', lineHeight: 1.35, marginTop: 4 }}&gt;即时 · 无序 · 全局一致&lt;/Text&gt;&#13;&#10;            &lt;Text style={{ fontSize: 13.5, fontWeight: 'bold', color: '#3D7BD9', lineHeight: 1.35, marginTop: 3 }}&gt;三者首次同时成立&lt;/Text&gt;&#13;&#10;        &lt;/Box&gt;&#13;&#10;    &lt;/Box&gt;&#13;&#10;&#13;&#10;    &lt;Box style={{ margin: '11px 40px 0px 40px', backgroundColor: '#1E4FA8', borderRadius: 6, padding: '14px 22px', flexDirection: 'row', alignItems: 'center', gap: 26 }}&gt;&#13;&#10;        &lt;Text style={{ fontSize: 20, fontWeight: 'bold', color: '#FFFFFF', lineHeight: 1.4, flex: 1 }}&gt;一句话总结：它把 3DGS 从&quot;拍完再算的离线工具&quot;变成了&quot;拍摄现场的仪表盘&quot;。&lt;/Text&gt;&#13;&#10;        &lt;Box style={{ flexDirection: 'column' }}&gt;&#13;&#10;            &lt;Text style={{ fontSize: 15, color: '#C3D5EF' }}&gt;论文 / 我们&lt;/Text&gt;&#13;&#10;            &lt;Text style={{ fontSize: 19, fontWeight: 'bold', color: '#FFFFFF' }}&gt;26.29 → 25.95 dB&lt;/Text&gt;&#13;&#10;        &lt;/Box&gt;&#13;&#10;    &lt;/Box&gt;&#13;&#10;&#13;&#10;    &lt;Box style={{ marginTop: 'auto', padding: '10px 40px 16px 40px', flexDirection: 'row', justifyContent: 'space-between', alignItems: 'center' }}&gt;&#13;&#10;        &lt;Text style={{ fontSize: 24, fontWeight: 'bold', color: '#1E4FA8' }}&gt;谢谢，欢迎提问&lt;/Text&gt;&#13;&#10;        &lt;Text style={{ fontSize: 14, color: '#8B97A8' }}&gt;论文：SIGGRAPH 2026 / arXiv:2607.14481 · 代码：github.com/graphdeco-inria/i3dgs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0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381000" y="247650"/>
            <a:ext cx="4876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结论：三句话带走，加一张边界清单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11325225" y="4476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81000" y="76200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485775" y="81915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57250" y="76200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57250" y="106680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即时、无序、全局一致三者同时成立，此前没有方法做到。速度是手段，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381000" y="1533525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485775" y="1590675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857250" y="1533525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57250" y="1838325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判定看加权图距、不看时间，求解用焊接窗口得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381000" y="2305050"/>
            <a:ext cx="323850" cy="323850"/>
          </a:xfrm>
          <a:prstGeom prst="roundRect">
            <a:avLst>
              <a:gd name="adj" fmla="val 1176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485775" y="2362200"/>
            <a:ext cx="1143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857250" y="2305050"/>
            <a:ext cx="10953750" cy="266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代价是真的：让出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，换来一条自写的</a:t>
            </a:r>
            <a:r>
              <a:rPr lang="en-US" sz="172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725" b="1">
                <a:solidFill>
                  <a:srgbClr val="1A2230"/>
                </a:solidFill>
                <a:latin typeface="Microsoft YaHei"/>
                <a:ea typeface="Microsoft YaHei"/>
              </a:rPr>
              <a:t>求解栈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57250" y="2609850"/>
            <a:ext cx="109537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不调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Ceres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，雅可比、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Schur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消元、迭代更新自己写成核——精度上限低于全局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，但换来了时间。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381000" y="3067050"/>
            <a:ext cx="11430000" cy="1057275"/>
          </a:xfrm>
          <a:prstGeom prst="roundRect">
            <a:avLst>
              <a:gd name="adj" fmla="val 5405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334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A2230"/>
                </a:solidFill>
                <a:latin typeface="Microsoft YaHei"/>
                <a:ea typeface="Microsoft YaHei"/>
              </a:rPr>
              <a:t>它现在的边界　→　对应的补法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9525000" y="3152775"/>
            <a:ext cx="2133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论文自述的局限，非我们的复现问题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533400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低视差直接失效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低视差帧只参与渲染、不进位姿求解，避免污染轨迹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3352800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精度低于全局</a:t>
            </a: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3352800" y="3600450"/>
            <a:ext cx="2676525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在线出预览，结束时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，补回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162675" y="3409950"/>
            <a:ext cx="2686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上游依赖链太重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6162675" y="3600450"/>
            <a:ext cx="2686050" cy="4381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采集端给实时覆盖率与误差热图，直接提示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82075" y="3409950"/>
            <a:ext cx="2676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88" b="1">
                <a:solidFill>
                  <a:srgbClr val="B03A37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88" b="1">
                <a:solidFill>
                  <a:srgbClr val="B03A37"/>
                </a:solidFill>
                <a:latin typeface="Microsoft YaHei"/>
                <a:ea typeface="Microsoft YaHei"/>
              </a:rPr>
              <a:t>阈值靠经验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982075" y="3600450"/>
            <a:ext cx="2676525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按纹理强度与重叠度在线估计，替代固定常数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381000" y="4276725"/>
            <a:ext cx="11430000" cy="1200150"/>
          </a:xfrm>
          <a:prstGeom prst="roundRect">
            <a:avLst>
              <a:gd name="adj" fmla="val 4762"/>
            </a:avLst>
          </a:prstGeom>
          <a:solidFill>
            <a:srgbClr val="FAFBFD"/>
          </a:solidFill>
          <a:ln w="12700">
            <a:solidFill>
              <a:srgbClr val="E3E8F0"/>
            </a:solidFill>
            <a:prstDash val="solid"/>
          </a:ln>
        </p:spPr>
        <p:txBody>
          <a:bodyPr/>
          <a:p/>
        </p:txBody>
      </p:sp>
      <p:sp>
        <p:nvSpPr>
          <p:cNvPr id="177" name=""/>
          <p:cNvSpPr/>
          <p:nvPr/>
        </p:nvSpPr>
        <p:spPr>
          <a:xfrm rot="0" flipH="0" flipV="0">
            <a:off x="5334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6667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2019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667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NeRF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667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离线、必须有序输入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667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一次训练以小时计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33147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34480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2023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34480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3DGS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4480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渲染快了，位姿仍靠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COLMAP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34480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前置步骤还是离线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SfM</a:t>
            </a:r>
            <a:endParaRPr/>
          </a:p>
        </p:txBody>
      </p:sp>
      <p:sp>
        <p:nvSpPr>
          <p:cNvPr id="187" name=""/>
          <p:cNvSpPr/>
          <p:nvPr/>
        </p:nvSpPr>
        <p:spPr>
          <a:xfrm rot="0" flipH="0" flipV="0">
            <a:off x="60960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C8D4E4"/>
          </a:solidFill>
          <a:ln/>
        </p:spPr>
        <p:txBody>
          <a:bodyPr/>
          <a:p/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62293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3D7BD9"/>
                </a:solidFill>
                <a:latin typeface="Microsoft YaHei"/>
                <a:ea typeface="Microsoft YaHei"/>
              </a:rPr>
              <a:t>2024–25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2293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增量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无位姿重建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2293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要么依赖有序，要么非全局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2293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两条路各缺一条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8877300" y="4371975"/>
            <a:ext cx="2781300" cy="1009650"/>
          </a:xfrm>
          <a:custGeom>
            <a:pathLst>
              <a:path w="292" h="106">
                <a:moveTo>
                  <a:pt x="0" y="0"/>
                </a:moveTo>
                <a:lnTo>
                  <a:pt x="292" y="0"/>
                </a:lnTo>
                <a:lnTo>
                  <a:pt x="292" y="2"/>
                </a:lnTo>
                <a:lnTo>
                  <a:pt x="0" y="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010650" y="4476750"/>
            <a:ext cx="2514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1E4FA8"/>
                </a:solidFill>
                <a:latin typeface="Microsoft YaHei"/>
                <a:ea typeface="Microsoft YaHei"/>
              </a:rPr>
              <a:t>2026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9010650" y="4667250"/>
            <a:ext cx="25146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i3dgs</a:t>
            </a:r>
            <a:r>
              <a:rPr lang="zh-CN" sz="1313" b="1">
                <a:solidFill>
                  <a:srgbClr val="1E4FA8"/>
                </a:solidFill>
                <a:latin typeface="Microsoft YaHei"/>
                <a:ea typeface="Microsoft YaHei"/>
              </a:rPr>
              <a:t>（本文）</a:t>
            </a:r>
            <a:endParaRPr/>
          </a:p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010650" y="4905375"/>
            <a:ext cx="2514600" cy="21907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即时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无序</a:t>
            </a: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 b="1">
                <a:solidFill>
                  <a:srgbClr val="1E4FA8"/>
                </a:solidFill>
                <a:latin typeface="Microsoft YaHei"/>
                <a:ea typeface="Microsoft YaHei"/>
              </a:rPr>
              <a:t>全局一致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9010650" y="5153025"/>
            <a:ext cx="2514600" cy="2095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013" b="1">
                <a:solidFill>
                  <a:srgbClr val="3D7BD9"/>
                </a:solidFill>
                <a:latin typeface="Microsoft YaHei"/>
                <a:ea typeface="Microsoft YaHei"/>
              </a:rPr>
              <a:t>三者首次同时成立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381000" y="5581650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590550" y="5753100"/>
            <a:ext cx="9172575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0010775" y="5715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论文</a:t>
            </a:r>
            <a:r>
              <a:rPr lang="en-US" sz="1125">
                <a:solidFill>
                  <a:srgbClr val="C3D5E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C3D5EF"/>
                </a:solidFill>
                <a:latin typeface="Microsoft YaHei"/>
                <a:ea typeface="Microsoft YaHei"/>
              </a:rPr>
              <a:t>我们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10010775" y="5886450"/>
            <a:ext cx="15906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>26.29 → 25.95 dB</a:t>
            </a:r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381000" y="6429375"/>
            <a:ext cx="1600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6429375" y="6486525"/>
            <a:ext cx="5381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20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4px 40px 0px 40px', flexDirection: 'row', justifyContent: 'space-between', alignItems: 'flex-end' }}&gt;&#13;&#10;        &lt;Text style={{ fontSize: 32, fontWeight: 'bold', color: '#1E4FA8' }}&gt;附：七个步骤在源码里长什么样&lt;/Text&gt;&#13;&#10;        &lt;Text style={{ fontSize: 15, color: '#8B97A8' }}&gt;15 / 15&lt;/Text&gt;&#13;&#10;    &lt;/Box&gt;&#13;&#10;    &lt;Box style={{ padding: '5px 40px 0px 40px' }}&gt;&#13;&#10;        &lt;Text style={{ fontSize: 17, color: '#4A5568' }}&gt;真实源码截图，与第 04 页七步链、第 05–11 页逐页对应：&lt;b&gt;①②③ 定跟谁比、④ 定跟谁一起算、⑤ 才真解位姿、⑥⑦ 修漂移与压显存&lt;/b&gt;。&lt;/Text&gt;&#13;&#10;    &lt;/Box&gt;&#13;&#10;    &lt;Box style={{ padding: '8px 40px 0px 40px', flexDirection: 'row', gap: 14 }}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① ② ③  检索 → 粗筛 → 建边&lt;/Text&gt;&#13;&#10;            &lt;Text style={{ fontFamily: 'Consolas', fontSize: 10, color: '#7F8C9F', marginBottom: 2 }}&gt;scene/scene_model_loop_closure.py:179&lt;/Text&gt;&#13;&#10;            &lt;Image src=&quot;code_png/01.png&quot; style={{ width: 568, height: 104.5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④  协视图贪心扩张（式 1）&lt;/Text&gt;&#13;&#10;            &lt;Text style={{ fontFamily: 'Consolas', fontSize: 10, color: '#7F8C9F', marginBottom: 2 }}&gt;poses/ba_problem.py:648&lt;/Text&gt;&#13;&#10;            &lt;Image src=&quot;code_png/02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⑤  局部 BA：LM 迭代 + Schur 消元&lt;/Text&gt;&#13;&#10;            &lt;Text style={{ fontFamily: 'Consolas', fontSize: 10, color: '#7F8C9F', marginBottom: 2 }}&gt;poses/mini_ba.py:285&lt;/Text&gt;&#13;&#10;            &lt;Image src=&quot;code_png/03.png&quot; style={{ width: 568, height: 160.0 }} /&gt;&#13;&#10;        &lt;/Box&gt;&#13;&#10;        &lt;/Box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⑥  回环检测与补边&lt;/Text&gt;&#13;&#10;            &lt;Text style={{ fontFamily: 'Consolas', fontSize: 10, color: '#7F8C9F', marginBottom: 2 }}&gt;poses/ba_problem.py:1054&lt;/Text&gt;&#13;&#10;            &lt;Image src=&quot;code_png/04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a  分块深度对齐&lt;/Text&gt;&#13;&#10;            &lt;Text style={{ fontFamily: 'Consolas', fontSize: 10, color: '#7F8C9F', marginBottom: 2 }}&gt;scene/mono_depth.py:315&lt;/Text&gt;&#13;&#10;            &lt;Image src=&quot;code_png/05.png&quot; style={{ width: 568, height: 86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b  渐进层级与合并&lt;/Text&gt;&#13;&#10;            &lt;Text style={{ fontFamily: 'Consolas', fontSize: 10, color: '#7F8C9F', marginBottom: 2 }}&gt;scene/hierarchy_cut.py:105&lt;/Text&gt;&#13;&#10;            &lt;Image src=&quot;code_png/06.png&quot; style={{ width: 568, height: 104.5 }} /&gt;&#13;&#10;        &lt;/Box&gt;&#13;&#10;        &lt;/Box&gt;&#13;&#10;    &lt;/Box&gt;&#13;&#10;    &lt;Box style={{ padding: '7px 40px 0px 40px' }}&gt;&#13;&#10;        &lt;Text style={{ fontSize: 13.5, color: '#8B97A8', lineHeight: 1.35 }}&gt;行号指向片段起点；为投影宽度做了换行与变量缩写（w = edge_weight），逻辑未改。第 04、05–11 页已按源码默认值修正：回环触发为&lt;b&gt;加权图距 &amp;gt; 10&lt;/b&gt;；层级合并触发为&lt;b&gt;可并数 &amp;gt; max(10%, 20 万)&lt;/b&gt;，且是 &lt;b&gt;kNN 加权平均&lt;/b&gt;而非 KL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真实源码截图，与第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页七步链、第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05–11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页逐页对应：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212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213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216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217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220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221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224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225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228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229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232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04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05–11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2026-10-30T15:22:47Z</dcterms:created>
  <dcterms:modified xsi:type="dcterms:W3CDTF">2026-10-30T15:22:47Z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{"AIGC":{"Label":"1","ContentProducer":"00119111010856365494821B355","ProduceID":"01a18ad5e26c774dbe2078073d84a666","ReservedCode1":"","ContentPropagator":"00119111010856365494821B355","PropagateID":"01a18ad5e26c774dbe2078073d84a666","ReservedCode2":""}}</vt:lpwstr>
  </property>
</Properties>
</file>