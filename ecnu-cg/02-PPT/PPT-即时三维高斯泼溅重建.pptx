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docProps/custom.xml" ContentType="application/vnd.openxmlformats-officedocument.custom-properties+xml"/>
  <Override PartName="/docProps/core.xml" ContentType="application/vnd.openxmlformats-package.core-properties+xml"/>
  <Override PartName="/ppt/slides/slide13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4.xml" ContentType="application/vnd.openxmlformats-officedocument.presentationml.slide+xml"/>
  <Override PartName="/ppt/slides/slide11.xml" ContentType="application/vnd.openxmlformats-officedocument.presentationml.slide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slides/slide15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3" Type="http://schemas.openxmlformats.org/officeDocument/2006/relationships/custom-properties" Target="docProps/custom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6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3" Type="http://schemas.openxmlformats.org/officeDocument/2006/relationships/slide" Target="slides/slide13.xml" /><Relationship Id="rId0" Type="http://schemas.openxmlformats.org/officeDocument/2006/relationships/slideMaster" Target="slideMasters/slideMaster1.xml" /><Relationship Id="rId14" Type="http://schemas.openxmlformats.org/officeDocument/2006/relationships/slide" Target="slides/slide14.xml" /><Relationship Id="rId11" Type="http://schemas.openxmlformats.org/officeDocument/2006/relationships/slide" Target="slides/slide11.xml" /><Relationship Id="rId1" Type="http://schemas.openxmlformats.org/officeDocument/2006/relationships/slide" Target="slides/slide1.xml" /><Relationship Id="rId15" Type="http://schemas.openxmlformats.org/officeDocument/2006/relationships/slide" Target="slides/slide15.xml" /><Relationship Id="rId10" Type="http://schemas.openxmlformats.org/officeDocument/2006/relationships/slide" Target="slides/slide10.xml" /><Relationship Id="rId12" Type="http://schemas.openxmlformats.org/officeDocument/2006/relationships/slide" Target="slides/slide12.xml" /><Relationship Id="rId16" Type="http://schemas.openxmlformats.org/officeDocument/2006/relationships/notesMaster" Target="notesMasters/notesMaster1.xml" /><Relationship Id="rId9" Type="http://schemas.openxmlformats.org/officeDocument/2006/relationships/slide" Target="slides/slide9.xml" 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12.png" /><Relationship Id="rId1" Type="http://schemas.openxmlformats.org/officeDocument/2006/relationships/image" Target="media/image11.png" /></Relationships>
</file>

<file path=ppt/slides/_rels/slide6.xml.rels><?xml version="1.0" encoding="UTF-8" standalone="yes"?><Relationships xmlns="http://schemas.openxmlformats.org/package/2006/relationships"><Relationship Id="rId2" Type="http://schemas.openxmlformats.org/officeDocument/2006/relationships/image" Target="media/image14.png" /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3.png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5.png" /><Relationship Id="rId2" Type="http://schemas.openxmlformats.org/officeDocument/2006/relationships/image" Target="media/image16.png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image" Target="media/image17.png" /><Relationship Id="rId0" Type="http://schemas.openxmlformats.org/officeDocument/2006/relationships/slideLayout" Target="../slideLayouts/slideLayout1.xml" /><Relationship Id="rId2" Type="http://schemas.openxmlformats.org/officeDocument/2006/relationships/image" Target="media/image18.png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9.png" /><Relationship Id="rId2" Type="http://schemas.openxmlformats.org/officeDocument/2006/relationships/image" Target="media/image20.png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1.png" /><Relationship Id="rId2" Type="http://schemas.openxmlformats.org/officeDocument/2006/relationships/image" Target="media/image2.png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3.png" /><Relationship Id="rId2" Type="http://schemas.openxmlformats.org/officeDocument/2006/relationships/image" Target="media/image4.png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5.xml.rels><?xml version="1.0" encoding="UTF-8" standalone="yes"?><Relationships xmlns="http://schemas.openxmlformats.org/package/2006/relationships"><Relationship Id="rId5" Type="http://schemas.openxmlformats.org/officeDocument/2006/relationships/image" Target="media/image9.png" /><Relationship Id="rId0" Type="http://schemas.openxmlformats.org/officeDocument/2006/relationships/slideLayout" Target="../slideLayouts/slideLayout1.xml" /><Relationship Id="rId1" Type="http://schemas.openxmlformats.org/officeDocument/2006/relationships/image" Target="media/image5.png" /><Relationship Id="rId2" Type="http://schemas.openxmlformats.org/officeDocument/2006/relationships/image" Target="media/image6.png" /><Relationship Id="rId3" Type="http://schemas.openxmlformats.org/officeDocument/2006/relationships/image" Target="media/image7.png" /><Relationship Id="rId4" Type="http://schemas.openxmlformats.org/officeDocument/2006/relationships/image" Target="media/image8.png" /><Relationship Id="rId6" Type="http://schemas.openxmlformats.org/officeDocument/2006/relationships/image" Target="media/image10.png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width: '1280px', height: '720px', backgroundColor: '#FFFFFF', padding: '0px', flexDirection: 'column' }}&gt;&#10;    &lt;Box style={{ width: '1280px', height: '10px', backgroundColor: '#1E4FA8' }} /&gt;&#10;    &lt;Box style={{ padding: '88px 80px 0px 80px', flexDirection: 'column' }}&gt;&#10;        &lt;Text style={{ fontSize: 20, color: '#4A5568', letterSpacing: 2 }}&gt;图形和视觉前沿技术 · Top Paper Reading&lt;/Text&gt;&#10;        &lt;Text style={{ fontSize: 62, fontWeight: 'bold', color: '#1A2230', lineHeight: 1.25, marginTop: 26 }}&gt;从&quot;拍完再算&quot;到&quot;边拍边看&quot;&lt;/Text&gt;&#10;        &lt;Text style={{ fontSize: 34, fontWeight: 'bold', color: '#1E4FA8', lineHeight: 1.35, marginTop: 18 }}&gt;SIGGRAPH 2026 即时无序三维高斯泼溅重建 · 复现与分析&lt;/Text&gt;&#10;        &lt;Box style={{ width: '160px', height: '6px', backgroundColor: '#1E4FA8', marginTop: 34 }} /&gt;&#10;        &lt;Text style={{ fontSize: 19, color: '#4A5568', lineHeight: 1.7, marginTop: 30 }}&gt;Immediate 3D Gaussian Splat Reconstruction of Unordered Input with Global Consistency&lt;/Text&gt;&#10;        &lt;Text style={{ fontSize: 17, color: '#8B97A8', lineHeight: 1.6, marginTop: 10 }}&gt;Andreas Meuleman, Linus Franke, Boris Zhestiankin, Camille Montemagni, George Drettakis · Inria GRAPHDECO · ACM TOG 2026&lt;/Text&gt;&#10;    &lt;/Box&gt;&#10;    &lt;Box style={{ marginTop: 'auto', padding: '26px 80px', backgroundColor: '#F0F5FC', flexDirection: 'row', justifyContent: 'space-between', alignItems: 'center' }}&gt;&#10;        &lt;Text style={{ fontSize: 20, color: '#1A2230' }}&gt;汇报人：郑炜　周子懿　　指导教师：DeepSeek&lt;/Text&gt;&#10;        &lt;Text style={{ fontSize: 20, color: '#1E4FA8', fontWeight: 'bold' }}&gt;2026 年 11 月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952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62000" y="933450"/>
            <a:ext cx="10668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spc="150">
                <a:solidFill>
                  <a:srgbClr val="4A5568"/>
                </a:solidFill>
                <a:latin typeface="Microsoft YaHei"/>
                <a:ea typeface="Microsoft YaHei"/>
              </a:rPr>
              <a:t>图形和视觉前沿技术</a:t>
            </a:r>
            <a:r>
              <a:rPr lang="en-US" sz="1500" spc="15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Top Paper Reading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62000" y="1409700"/>
            <a:ext cx="10668000" cy="885825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从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拍完再算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到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4650" b="1">
                <a:solidFill>
                  <a:srgbClr val="1A2230"/>
                </a:solidFill>
                <a:latin typeface="Microsoft YaHei"/>
                <a:ea typeface="Microsoft YaHei"/>
              </a:rPr>
              <a:t>边拍边看</a:t>
            </a:r>
            <a:r>
              <a:rPr lang="en-US" sz="46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762000" y="2466975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35000"/>
              </a:lnSpc>
            </a:pP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SIGGRAPH 2026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即时无序三维高斯泼溅重建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复现与分析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762000" y="3324225"/>
            <a:ext cx="1524000" cy="571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762000" y="3667125"/>
            <a:ext cx="10668000" cy="3714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425">
                <a:solidFill>
                  <a:srgbClr val="4A5568"/>
                </a:solidFill>
                <a:latin typeface="Microsoft YaHei"/>
                <a:ea typeface="Microsoft YaHei"/>
              </a:rPr>
              <a:t>Immediate 3D Gaussian Splat Reconstruction of Unordered Input with Global Consistency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4133850"/>
            <a:ext cx="1066800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75">
                <a:solidFill>
                  <a:srgbClr val="8B97A8"/>
                </a:solidFill>
                <a:latin typeface="Microsoft YaHei"/>
                <a:ea typeface="Microsoft YaHei"/>
              </a:rPr>
              <a:t>Andreas Meuleman, Linus Franke, Boris Zhestiankin, Camille Montemagni, George Drettakis · Inria GRAPHDECO · ACM TOG 2026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0" y="6134100"/>
            <a:ext cx="12192000" cy="7239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762000" y="6381750"/>
            <a:ext cx="4152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汇报人：郑炜　周子懿　　指导教师：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DeepSeek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0172700" y="6381750"/>
            <a:ext cx="1257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年</a:t>
            </a: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201" name="" descr="&lt;Slide style={{ width: '1280px', height: '720px', backgroundColor: '#FFFFFF', padding: '0px', flexDirection: 'column' }}&gt;&#10;    &lt;Box style={{ width: '1280px', height: '8px', backgroundColor: '#1E4FA8' }} /&gt;&#10;    &lt;Box style={{ padding: '24px 40px 0px 40px', flexDirection: 'row', justifyContent: 'space-between', alignItems: 'flex-end' }}&gt;&#10;        &lt;Text style={{ fontSize: 33, fontWeight: 'bold', color: '#1E4FA8' }}&gt;研究背景：两条路都卡在同一个前提上&lt;/Text&gt;&#10;        &lt;Text style={{ fontSize: 15, color: '#8B97A8' }}&gt;02 / 15&lt;/Text&gt;&#10;    &lt;/Box&gt;&#10;    &lt;Box style={{ padding: '8px 40px 0px 40px' }}&gt;&#10;        &lt;Text style={{ fontSize: 20, color: '#4A5568', lineHeight: 1.4 }}&gt;拿到“一组照片 → 一个可漫游的 3D 场景”，过去只有两条路。它们的分歧不在算法细节，而在&lt;b&gt;什么时候允许开始计算&lt;/b&gt;。&lt;/Text&gt;&#10;    &lt;/Box&gt;&#10;&#10;    &lt;Box style={{ padding: '14px 40px 0px 40px', flexDirection: 'row', gap: 22 }}&gt;&#10;        &lt;Box style={{ flex: 1, backgroundColor: '#F7F9FC', border: '1px solid #D6DCE5', borderRadius: 6, padding: '13px 18px', flexDirection: 'column' }}&gt;&#10;            &lt;Text style={{ fontSize: 24, fontWeight: 'bold', color: '#1A2230' }}&gt;路线一　离线 SfM + 3DGS&lt;/Text&gt;&#10;            &lt;Text style={{ fontSize: 16, color: '#4A5568', marginTop: 4 }}&gt;COLMAP / GLOMAP ＋ 3DGS、H3DGS、Octree-GS&lt;/Text&gt;&#10;            &lt;Text style={{ fontSize: 19, color: '#1A2230', lineHeight: 1.5, marginTop: 9 }}&gt;先把所有照片两两匹配、三角化、全局 BA 解出位姿，再训练高斯。质量最高、全局一致，但&lt;b&gt;必须等图全部到齐&lt;/b&gt;。&lt;/Text&gt;&#10;            &lt;Text style={{ fontSize: 19, color: '#1E4FA8', fontWeight: 'bold', marginTop: 8 }}&gt;前提：先有完整的照片集合&lt;/Text&gt;&#10;            &lt;Text style={{ fontSize: 19, color: '#D9534F', fontWeight: 'bold', marginTop: 2 }}&gt;代价：现场给不出任何反馈&lt;/Text&gt;&#10;        &lt;/Box&gt;&#10;        &lt;Box style={{ flex: 1, backgroundColor: '#F0F5FC', border: '1px solid #3D7BD9', borderRadius: 6, padding: '13px 18px', flexDirection: 'column' }}&gt;&#10;            &lt;Text style={{ fontSize: 24, fontWeight: 'bold', color: '#1A2230' }}&gt;路线二　增量 / 类 SLAM&lt;/Text&gt;&#10;            &lt;Text style={{ fontSize: 16, color: '#4A5568', marginTop: 4 }}&gt;Photo-SLAM、MonoGS、Droid-Splat、LongSplat&lt;/Text&gt;&#10;            &lt;Text style={{ fontSize: 19, color: '#1A2230', lineHeight: 1.5, marginTop: 9 }}&gt;边收边建、可交互，但新帧只与&lt;b&gt;时间上相邻&lt;/b&gt;的少数帧匹配（通常 5 帧窗口），转身回访、拼接两段序列就断了。&lt;/Text&gt;&#10;            &lt;Text style={{ fontSize: 19, color: '#1E4FA8', fontWeight: 'bold', marginTop: 8 }}&gt;前提：输入必须是连续视频&lt;/Text&gt;&#10;            &lt;Text style={{ fontSize: 19, color: '#D9534F', fontWeight: 'bold', marginTop: 2 }}&gt;代价：离开时间邻域就失效&lt;/Text&gt;&#10;        &lt;/Box&gt;&#10;    &lt;/Box&gt;&#10;&#10;    &lt;Box style={{ margin: '12px 40px 0px 40px', backgroundColor: '#1E4FA8', borderRadius: 6, padding: '11px 22px' }}&gt;&#10;        &lt;Text style={{ fontSize: 21, fontWeight: 'bold', color: '#FFFFFF', lineHeight: 1.4 }}&gt;两条路的前提是同一个东西：&lt;b&gt;帧序&lt;/b&gt;——一条等它全部确定，一条假设它天然有序，而真实拍摄两样都不满足。&lt;/Text&gt;&#10;    &lt;/Box&gt;&#10;&#10;    &lt;Box style={{ padding: '12px 40px 0px 40px', flexDirection: 'row', gap: 14 }}&gt;&#10;        &lt;Box style={{ flex: 1, backgroundColor: '#F7F9FC', border: '1px solid #D6DCE5', borderRadius: 6, padding: '10px 14px', flexDirection: 'column' }}&gt;&#10;            &lt;Text style={{ fontSize: 21, fontWeight: 'bold', color: '#1A2230' }}&gt;① 等&lt;/Text&gt;&#10;            &lt;Text style={{ fontSize: 16.5, color: '#1A2230', lineHeight: 1.4, marginTop: 5 }}&gt;全部图像就位才能开算，拍完不知道行不行，回家发现漏拍只能重拍。&lt;/Text&gt;&#10;            &lt;Text style={{ fontSize: 15, color: '#D9534F', fontWeight: 'bold', marginTop: 4 }}&gt;返工成本最高&lt;/Text&gt;&#10;        &lt;/Box&gt;&#10;        &lt;Box style={{ flex: 1, backgroundColor: '#F7F9FC', border: '1px solid #D6DCE5', borderRadius: 6, padding: '10px 14px', flexDirection: 'column' }}&gt;&#10;            &lt;Text style={{ fontSize: 21, fontWeight: 'bold', color: '#1A2230' }}&gt;② 乱&lt;/Text&gt;&#10;            &lt;Text style={{ fontSize: 16.5, color: '#1A2230', lineHeight: 1.4, marginTop: 5 }}&gt;随手拍的顺序与空间邻接无关，只能两两匹配：1000 张约 50 万对。&lt;/Text&gt;&#10;            &lt;Text style={{ fontSize: 15, color: '#D9534F', fontWeight: 'bold', marginTop: 4 }}&gt;SfM 从分钟变小时&lt;/Text&gt;&#10;        &lt;/Box&gt;&#10;        &lt;Box style={{ flex: 1, backgroundColor: '#F7F9FC', border: '1px solid #D6DCE5', borderRadius: 6, padding: '10px 14px', flexDirection: 'column' }}&gt;&#10;            &lt;Text style={{ fontSize: 21, fontWeight: 'bold', color: '#1A2230' }}&gt;③ 漂&lt;/Text&gt;&#10;            &lt;Text style={{ fontSize: 16.5, color: '#1A2230', lineHeight: 1.4, marginTop: 5 }}&gt;边走边建误差累积，绕一圈回来首尾差半米；传统做法重跑全局 BA。&lt;/Text&gt;&#10;            &lt;Text style={{ fontSize: 15, color: '#D9534F', fontWeight: 'bold', marginTop: 4 }}&gt;实时性当场归零&lt;/Text&gt;&#10;        &lt;/Box&gt;&#10;        &lt;Box style={{ flex: 1, backgroundColor: '#F7F9FC', border: '1px solid #D6DCE5', borderRadius: 6, padding: '10px 14px', flexDirection: 'column' }}&gt;&#10;            &lt;Text style={{ fontSize: 21, fontWeight: 'bold', color: '#1A2230' }}&gt;④ 爆&lt;/Text&gt;&#10;            &lt;Text style={{ fontSize: 16.5, color: '#1A2230', lineHeight: 1.4, marginTop: 5 }}&gt;高斯数随场景线性增长：不开层级，CityWalk 到第 795 / 4050 帧就 OOM。&lt;/Text&gt;&#10;            &lt;Text style={{ fontSize: 15, color: '#D9534F', fontWeight: 'bold', marginTop: 4 }}&gt;规模一上来就跑不完&lt;/Text&gt;&#10;        &lt;/Box&gt;&#10;    &lt;/Box&gt;&#10;&#10;    &lt;Box style={{ marginTop: 'auto', margin: '10px 40px 12px 40px', backgroundColor: '#F0F5FC', borderLeft: '5px solid #1E4FA8', padding: '9px 18px' }}&gt;&#10;        &lt;Text style={{ fontSize: 18, color: '#1A2230', lineHeight: 1.4 }}&gt;四个现象收敛成三条必须&lt;b&gt;同时&lt;/b&gt;成立的约束：即时（每帧数百毫秒）· 无序（不依赖帧序）· 全局一致（回环能修）——过去的方法最多同时满足两条。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381000" y="304800"/>
            <a:ext cx="53435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研究背景：两条路都卡在同一个前提上</a:t>
            </a:r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11325225" y="51435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02 / 15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381000" y="76200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拿到“一组照片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一个可漫游的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3D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场景”，过去只有两条路。它们的分歧不在算法细节，而在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什么时候允许开始计算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381000" y="1219200"/>
            <a:ext cx="5610225" cy="2028825"/>
          </a:xfrm>
          <a:prstGeom prst="roundRect">
            <a:avLst>
              <a:gd name="adj" fmla="val 281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552450" y="1343025"/>
            <a:ext cx="5267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路线一　离线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 + 3DGS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552450" y="1657350"/>
            <a:ext cx="5267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COLMAP / GLOMAP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＋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3DGS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H3DGS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Octree-GS</a:t>
            </a:r>
            <a:endParaRPr/>
          </a:p>
        </p:txBody>
      </p:sp>
      <p:sp>
        <p:nvSpPr>
          <p:cNvPr id="210" name="" descr="{&quot;isTemplate&quot;:true,&quot;type&quot;:&quot;text&quot;}"/>
          <p:cNvSpPr txBox="1"/>
          <p:nvPr/>
        </p:nvSpPr>
        <p:spPr>
          <a:xfrm rot="0" flipH="0" flipV="0">
            <a:off x="552450" y="1933575"/>
            <a:ext cx="52673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先把所有照片两两匹配、三角化、全局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解出位姿，再训练高斯。质量最高、全局一致，但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必须等图全部到齐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552450" y="2667000"/>
            <a:ext cx="5267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前提：先有完整的照片集合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552450" y="2905125"/>
            <a:ext cx="5267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代价：现场给不出任何反馈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6200775" y="1219200"/>
            <a:ext cx="5610225" cy="2028825"/>
          </a:xfrm>
          <a:prstGeom prst="roundRect">
            <a:avLst>
              <a:gd name="adj" fmla="val 2817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6372225" y="1343025"/>
            <a:ext cx="52673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路线二　增量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800" b="1">
                <a:solidFill>
                  <a:srgbClr val="1A2230"/>
                </a:solidFill>
                <a:latin typeface="Microsoft YaHei"/>
                <a:ea typeface="Microsoft YaHei"/>
              </a:rPr>
              <a:t>类</a:t>
            </a:r>
            <a:r>
              <a:rPr lang="en-US" sz="180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SLAM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6372225" y="1657350"/>
            <a:ext cx="52673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Photo-SLAM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MonoGS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Droid-Splat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LongSplat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6372225" y="1933575"/>
            <a:ext cx="5267325" cy="6572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边收边建、可交互，但新帧只与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时间上相邻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的少数帧匹配（通常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帧窗口），转身回访、拼接两段序列就断了。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372225" y="2667000"/>
            <a:ext cx="5267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前提：输入必须是连续视频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372225" y="2905125"/>
            <a:ext cx="5267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代价：离开时间邻域就失效</a:t>
            </a:r>
            <a:endParaRPr/>
          </a:p>
        </p:txBody>
      </p:sp>
      <p:sp>
        <p:nvSpPr>
          <p:cNvPr id="219" name=""/>
          <p:cNvSpPr/>
          <p:nvPr/>
        </p:nvSpPr>
        <p:spPr>
          <a:xfrm rot="0" flipH="0" flipV="0">
            <a:off x="381000" y="3362325"/>
            <a:ext cx="11430000" cy="552450"/>
          </a:xfrm>
          <a:prstGeom prst="roundRect">
            <a:avLst>
              <a:gd name="adj" fmla="val 1034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20" name="" descr="{&quot;isTemplate&quot;:true,&quot;type&quot;:&quot;text&quot;}"/>
          <p:cNvSpPr txBox="1"/>
          <p:nvPr/>
        </p:nvSpPr>
        <p:spPr>
          <a:xfrm rot="0" flipH="0" flipV="0">
            <a:off x="590550" y="3467100"/>
            <a:ext cx="11010900" cy="3429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两条路的前提是同一个东西：</a:t>
            </a: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帧序</a:t>
            </a:r>
            <a:r>
              <a:rPr lang="zh-CN" sz="1575" b="1">
                <a:solidFill>
                  <a:srgbClr val="FFFFFF"/>
                </a:solidFill>
                <a:latin typeface="Microsoft YaHei"/>
                <a:ea typeface="Microsoft YaHei"/>
              </a:rPr>
              <a:t>——一条等它全部确定，一条假设它天然有序，而真实拍摄两样都不满足。</a:t>
            </a:r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381000" y="4029075"/>
            <a:ext cx="2762250" cy="1495425"/>
          </a:xfrm>
          <a:prstGeom prst="roundRect">
            <a:avLst>
              <a:gd name="adj" fmla="val 38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514350" y="4124325"/>
            <a:ext cx="24955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等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514350" y="4419600"/>
            <a:ext cx="2495550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全部图像就位才能开算，拍完不知道行不行，回家发现漏拍只能重拍。</a:t>
            </a:r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514350" y="5257800"/>
            <a:ext cx="2495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返工成本最高</a:t>
            </a:r>
            <a:endParaRPr/>
          </a:p>
        </p:txBody>
      </p:sp>
      <p:sp>
        <p:nvSpPr>
          <p:cNvPr id="225" name=""/>
          <p:cNvSpPr/>
          <p:nvPr/>
        </p:nvSpPr>
        <p:spPr>
          <a:xfrm rot="0" flipH="0" flipV="0">
            <a:off x="3276600" y="4029075"/>
            <a:ext cx="2752725" cy="1495425"/>
          </a:xfrm>
          <a:prstGeom prst="roundRect">
            <a:avLst>
              <a:gd name="adj" fmla="val 38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3409950" y="4124325"/>
            <a:ext cx="24860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乱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3409950" y="4419600"/>
            <a:ext cx="2486025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随手拍的顺序与空间邻接无关，只能两两匹配：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1000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张约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万对。</a:t>
            </a:r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3409950" y="4991100"/>
            <a:ext cx="2486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SfM </a:t>
            </a: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从分钟变小时</a:t>
            </a:r>
            <a:endParaRPr/>
          </a:p>
        </p:txBody>
      </p:sp>
      <p:sp>
        <p:nvSpPr>
          <p:cNvPr id="229" name=""/>
          <p:cNvSpPr/>
          <p:nvPr/>
        </p:nvSpPr>
        <p:spPr>
          <a:xfrm rot="0" flipH="0" flipV="0">
            <a:off x="6162675" y="4029075"/>
            <a:ext cx="2762250" cy="1495425"/>
          </a:xfrm>
          <a:prstGeom prst="roundRect">
            <a:avLst>
              <a:gd name="adj" fmla="val 38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6296025" y="4124325"/>
            <a:ext cx="24955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漂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6296025" y="4419600"/>
            <a:ext cx="2495550" cy="5334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边走边建误差累积，绕一圈回来首尾差半米；传统做法重跑全局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6296025" y="4991100"/>
            <a:ext cx="24955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实时性当场归零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9058275" y="4029075"/>
            <a:ext cx="2752725" cy="1495425"/>
          </a:xfrm>
          <a:prstGeom prst="roundRect">
            <a:avLst>
              <a:gd name="adj" fmla="val 3822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9191625" y="4124325"/>
            <a:ext cx="24860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爆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9191625" y="4419600"/>
            <a:ext cx="2486025" cy="800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高斯数随场景线性增长：不开层级，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CityWalk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到第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795 / 4050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帧就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OOM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9191625" y="5257800"/>
            <a:ext cx="24860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>
                <a:solidFill>
                  <a:srgbClr val="D9534F"/>
                </a:solidFill>
                <a:latin typeface="Microsoft YaHei"/>
                <a:ea typeface="Microsoft YaHei"/>
              </a:rPr>
              <a:t>规模一上来就跑不完</a:t>
            </a:r>
            <a:endParaRPr/>
          </a:p>
        </p:txBody>
      </p:sp>
      <p:sp>
        <p:nvSpPr>
          <p:cNvPr id="237" name=""/>
          <p:cNvSpPr/>
          <p:nvPr/>
        </p:nvSpPr>
        <p:spPr>
          <a:xfrm rot="0" flipH="0" flipV="0">
            <a:off x="428625" y="5991225"/>
            <a:ext cx="11430000" cy="752475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38" name=""/>
          <p:cNvSpPr/>
          <p:nvPr/>
        </p:nvSpPr>
        <p:spPr>
          <a:xfrm rot="0" flipH="0" flipV="0">
            <a:off x="381000" y="5991225"/>
            <a:ext cx="11477625" cy="752475"/>
          </a:xfrm>
          <a:custGeom>
            <a:pathLst>
              <a:path w="1205" h="79">
                <a:moveTo>
                  <a:pt x="0" y="0"/>
                </a:moveTo>
                <a:lnTo>
                  <a:pt x="5" y="0"/>
                </a:lnTo>
                <a:lnTo>
                  <a:pt x="5" y="79"/>
                </a:lnTo>
                <a:lnTo>
                  <a:pt x="0" y="79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600075" y="6076950"/>
            <a:ext cx="1103947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四个现象收敛成三条必须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同时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成立的约束：即时（每帧数百毫秒）·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无序（不依赖帧序）·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全局一致（回环能修）——过去的方法最多同时满足两条。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240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4px 40px 0px 40px', flexDirection: 'row', justifyContent: 'space-between', alignItems: 'flex-end' }}&gt;&#13;&#10;        &lt;Text style={{ fontSize: 33, fontWeight: 'bold', color: '#1E4FA8' }}&gt;摘要与贡献：它把哪件事第一次做成了&lt;/Text&gt;&#13;&#10;        &lt;Text style={{ fontSize: 15, color: '#8B97A8' }}&gt;03 / 15&lt;/Text&gt;&#13;&#10;    &lt;/Box&gt;&#13;&#10;&#13;&#10;    &lt;Box style={{ padding: '20px 40px 0px 40px', flexDirection: 'row', gap: 22 }}&gt;&#13;&#10;        &lt;Box style={{ width: 438, flexDirection: 'column', gap: 13 }}&gt;&#13;&#10;            &lt;Box style={{ backgroundColor: '#F0F5FC', borderLeft: '4px solid #1E4FA8', padding: '12px 15px', flexDirection: 'column' }}&gt;&#13;&#10;                &lt;Text style={{ fontSize: 19, fontWeight: 'bold', color: '#1E4FA8' }}&gt;问题&lt;/Text&gt;&#13;&#10;                &lt;Text style={{ fontSize: 18, color: '#1A2230', lineHeight: 1.45, marginTop: 4 }}&gt;3DGS 质量高、可实时渲染，但训练前必须由 SfM 离线解位姿；SfM 要等图到齐，且对乱序敏感。&lt;/Text&gt;&#13;&#10;            &lt;/Box&gt;&#13;&#10;            &lt;Box style={{ backgroundColor: '#F7F9FC', borderLeft: '4px solid #4A5568', padding: '12px 15px', flexDirection: 'column' }}&gt;&#13;&#10;                &lt;Text style={{ fontSize: 19, fontWeight: 'bold', color: '#4A5568' }}&gt;做法&lt;/Text&gt;&#13;&#10;                &lt;Text style={{ fontSize: 18, color: '#1A2230', lineHeight: 1.45, marginTop: 4 }}&gt;首个面向无序输入、具备全局一致性的即时 3DGS 重建：两级快速匹配 ＋ GPU 局部 BA ＋ 簇级回环图传播 ＋ 渐进式层级。&lt;/Text&gt;&#13;&#10;            &lt;/Box&gt;&#13;&#10;            &lt;Box style={{ backgroundColor: '#F0F5FC', borderLeft: '4px solid #3D7BD9', padding: '12px 15px', flexDirection: 'column' }}&gt;&#13;&#10;                &lt;Text style={{ fontSize: 19, fontWeight: 'bold', color: '#3D7BD9' }}&gt;结果&lt;/Text&gt;&#13;&#10;                &lt;Text style={{ fontSize: 18, color: '#1A2230', lineHeight: 1.45, marginTop: 4 }}&gt;MipNeRF360 上 &lt;b&gt;1 分 17 秒&lt;/b&gt;达 &lt;b&gt;26.29 dB&lt;/b&gt;（离线参考 8 分 50 秒 / 27.52 dB）；输入打乱只掉 &lt;b&gt;0.5 dB&lt;/b&gt;。&lt;/Text&gt;&#13;&#10;            &lt;/Box&gt;&#13;&#10;            &lt;Text style={{ fontSize: 15, color: '#8B97A8', lineHeight: 1.35 }}&gt;关键词：三维高斯泼溅 · 无序采集 · 即时重建 · 协视图 · 回环闭合 · 渐进式层级&lt;/Text&gt;&#13;&#10;        &lt;/Box&gt;&#13;&#10;&#13;&#10;        &lt;Box style={{ flex: 1, flexDirection: 'column', gap: 13 }}&gt;&#13;&#10;            &lt;Box style={{ flexDirection: 'row', gap: 13 }}&gt;&#13;&#10;                &lt;Box style={{ flex: 1, backgroundColor: '#F7F9FC', border: '1px solid #D6DCE5', borderRadius: 6, padding: '13px 15px', flexDirection: 'column' }}&gt;&#13;&#10;                    &lt;Box style={{ flexDirection: 'row', alignItems: 'center', gap: 8 }}&gt;&#13;&#10;                        &lt;Box style={{ width: 26, height: 26, backgroundColor: '#1E4FA8', borderRadius: 4, alignItems: 'center', justifyContent: 'center' }}&gt;&#13;&#10;                            &lt;Text style={{ fontSize: 16, fontWeight: 'bold', color: '#FFFFFF' }}&gt;1&lt;/Text&gt;&#13;&#10;                        &lt;/Box&gt;&#13;&#10;                        &lt;Text style={{ fontSize: 21, fontWeight: 'bold', color: '#1A2230' }}&gt;无序序列快速匹配&lt;/Text&gt;&#13;&#10;                    &lt;/Box&gt;&#13;&#10;                    &lt;Text style={{ fontSize: 17.5, color: '#1A2230', lineHeight: 1.45, marginTop: 7 }}&gt;三级串联把候选从 1000 收到 1；配加权协视图 ＋ 高连通贪心选窗。&lt;/Text&gt;&#13;&#10;                    &lt;Text style={{ fontSize: 15.5, color: '#1E4FA8', fontWeight: 'bold', marginTop: 7 }}&gt;治“乱” · 步骤 ①–④&lt;/Text&gt;&#13;&#10;                &lt;/Box&gt;&#13;&#10;                &lt;Box style={{ flex: 1, backgroundColor: '#F7F9FC', border: '1px solid #D6DCE5', borderRadius: 6, padding: '13px 15px', flexDirection: 'column' }}&gt;&#13;&#10;                    &lt;Box style={{ flexDirection: 'row', alignItems: 'center', gap: 8 }}&gt;&#13;&#10;                        &lt;Box style={{ width: 26, height: 26, backgroundColor: '#1E4FA8', borderRadius: 4, alignItems: 'center', justifyContent: 'center' }}&gt;&#13;&#10;                            &lt;Text style={{ fontSize: 16, fontWeight: 'bold', color: '#FFFFFF' }}&gt;2&lt;/Text&gt;&#13;&#10;                        &lt;/Box&gt;&#13;&#10;                        &lt;Text style={{ fontSize: 21, fontWeight: 'bold', color: '#1A2230' }}&gt;GPU 局部重建&lt;/Text&gt;&#13;&#10;                    &lt;/Box&gt;&#13;&#10;                    &lt;Text style={{ fontSize: 17.5, color: '#1A2230', lineHeight: 1.45, marginTop: 7 }}&gt;自写 BA 核函数（稠密 Schur 补），比现有优化器快约 5 倍；分块深度对齐。&lt;/Text&gt;&#13;&#10;                    &lt;Text style={{ fontSize: 15.5, color: '#1E4FA8', fontWeight: 'bold', marginTop: 7 }}&gt;治“慢” · 步骤 ⑤、⑦&lt;/Text&gt;&#13;&#10;                &lt;/Box&gt;&#13;&#10;            &lt;/Box&gt;&#13;&#10;            &lt;Box style={{ flexDirection: 'row', gap: 13 }}&gt;&#13;&#10;                &lt;Box style={{ flex: 1, backgroundColor: '#F7F9FC', border: '1px solid #D6DCE5', borderRadius: 6, padding: '13px 15px', flexDirection: 'column' }}&gt;&#13;&#10;                    &lt;Box style={{ flexDirection: 'row', alignItems: 'center', gap: 8 }}&gt;&#13;&#10;                        &lt;Box style={{ width: 26, height: 26, backgroundColor: '#1E4FA8', borderRadius: 4, alignItems: 'center', justifyContent: 'center' }}&gt;&#13;&#10;                            &lt;Text style={{ fontSize: 16, fontWeight: 'bold', color: '#FFFFFF' }}&gt;3&lt;/Text&gt;&#13;&#10;                        &lt;/Box&gt;&#13;&#10;                        &lt;Text style={{ fontSize: 21, fontWeight: 'bold', color: '#1A2230' }}&gt;簇级回环闭合&lt;/Text&gt;&#13;&#10;                    &lt;/Box&gt;&#13;&#10;                    &lt;Text style={{ fontSize: 17.5, color: '#1A2230', lineHeight: 1.45, marginTop: 7 }}&gt;焊接窗口 BA ＋ Dijkstra 主干测地插值，把 Sim(3) 摊到全图，不跑第二次全局优化。&lt;/Text&gt;&#13;&#10;                    &lt;Text style={{ fontSize: 15.5, color: '#D9534F', fontWeight: 'bold', marginTop: 7 }}&gt;治“漂” · 步骤 ⑥&lt;/Text&gt;&#13;&#10;                &lt;/Box&gt;&#13;&#10;                &lt;Box style={{ flex: 1, backgroundColor: '#F0F5FC', border: '1px solid #3D7BD9', borderRadius: 6, padding: '13px 15px', flexDirection: 'column' }}&gt;&#13;&#10;                    &lt;Box style={{ flexDirection: 'row', alignItems: 'center', gap: 8 }}&gt;&#13;&#10;                        &lt;Box style={{ width: 26, height: 26, backgroundColor: '#0E3F8C', borderRadius: 4, alignItems: 'center', justifyContent: 'center' }}&gt;&#13;&#10;                            &lt;Text style={{ fontSize: 16, fontWeight: 'bold', color: '#FFFFFF' }}&gt;4&lt;/Text&gt;&#13;&#10;                        &lt;/Box&gt;&#13;&#10;                        &lt;Text style={{ fontSize: 21, fontWeight: 'bold', color: '#1A2230' }}&gt;渐进式高斯层级&lt;/Text&gt;&#13;&#10;                    &lt;/Box&gt;&#13;&#10;                    &lt;Text style={{ fontSize: 17.5, color: '#1A2230', lineHeight: 1.45, marginTop: 7 }}&gt;按屏幕投影尺寸合并 / 回取，叶节点卸载到 CPU；4050 帧显存仍控在 12.8 GB 内。&lt;/Text&gt;&#13;&#10;                    &lt;Text style={{ fontSize: 15.5, color: '#1E4FA8', fontWeight: 'bold', marginTop: 7 }}&gt;治“爆” · 步骤 ⑦&lt;/Text&gt;&#13;&#10;                &lt;/Box&gt;&#13;&#10;            &lt;/Box&gt;&#13;&#10;            &lt;Box style={{ backgroundColor: '#FFFFFF', border: '1px solid #D6DCE5', borderRadius: 6, padding: '12px 15px' }}&gt;&#13;&#10;                &lt;Text style={{ fontSize: 17, color: '#4A5568', lineHeight: 1.45 }}&gt;报告里的实测（我们的复现）：MipNeRF360 &lt;b&gt;garden&lt;/b&gt; 2× 降采样 &lt;b&gt;25.95 dB / 62.7 s / 19.5 GB&lt;/b&gt;，185 帧。差距来自分辨率与测试协议，不是方法失效。&lt;/Text&gt;&#13;&#10;            &lt;/Box&gt;&#13;&#10;        &lt;/Box&gt;&#13;&#10;    &lt;/Box&gt;&#13;&#10;&#13;&#10;    &lt;Box style={{ marginTop: 'auto', margin: '12px 40px 12px 40px', backgroundColor: '#1E4FA8', borderRadius: 6, padding: '11px 22px', flexDirection: 'column' }}&gt;&#13;&#10;        &lt;Text style={{ fontSize: 19, fontWeight: 'bold', color: '#FFFFFF', lineHeight: 1.4 }}&gt;创新在哪：&lt;b&gt;不是从零发明&lt;/b&gt;。2025 的直接前作已做到“免位姿 ＋ 大场景 ＋ 即时”，但要求图像有序、且不做回环。&lt;/Text&gt;&#13;&#10;        &lt;Text style={{ fontSize: 19, color: '#D6E4F7', lineHeight: 1.4, marginTop: 3 }}&gt;本文只补这两个假设——在&lt;b&gt;全部历史&lt;/b&gt;里检索重叠帧，用&lt;b&gt;图传播&lt;/b&gt;做不重算的回环。增量不大，但恰好补在前作的假设上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381000" y="304800"/>
            <a:ext cx="53435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摘要与贡献：它把哪件事第一次做成了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11325225" y="51435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03 / 15</a:t>
            </a:r>
            <a:endParaRPr/>
          </a:p>
        </p:txBody>
      </p:sp>
      <p:sp>
        <p:nvSpPr>
          <p:cNvPr id="245" name=""/>
          <p:cNvSpPr/>
          <p:nvPr/>
        </p:nvSpPr>
        <p:spPr>
          <a:xfrm rot="0" flipH="0" flipV="0">
            <a:off x="419100" y="876300"/>
            <a:ext cx="4171950" cy="108585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46" name=""/>
          <p:cNvSpPr/>
          <p:nvPr/>
        </p:nvSpPr>
        <p:spPr>
          <a:xfrm rot="0" flipH="0" flipV="0">
            <a:off x="381000" y="876300"/>
            <a:ext cx="4210050" cy="1085850"/>
          </a:xfrm>
          <a:custGeom>
            <a:pathLst>
              <a:path w="442" h="114">
                <a:moveTo>
                  <a:pt x="0" y="0"/>
                </a:moveTo>
                <a:lnTo>
                  <a:pt x="4" y="0"/>
                </a:lnTo>
                <a:lnTo>
                  <a:pt x="4" y="114"/>
                </a:lnTo>
                <a:lnTo>
                  <a:pt x="0" y="114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561975" y="990600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问题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561975" y="1247775"/>
            <a:ext cx="38481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3DGS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质量高、可实时渲染，但训练前必须由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离线解位姿；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SfM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要等图到齐，且对乱序敏感。</a:t>
            </a:r>
            <a:endParaRPr/>
          </a:p>
        </p:txBody>
      </p:sp>
      <p:sp>
        <p:nvSpPr>
          <p:cNvPr id="249" name=""/>
          <p:cNvSpPr/>
          <p:nvPr/>
        </p:nvSpPr>
        <p:spPr>
          <a:xfrm rot="0" flipH="0" flipV="0">
            <a:off x="419100" y="2085975"/>
            <a:ext cx="4171950" cy="138112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250" name=""/>
          <p:cNvSpPr/>
          <p:nvPr/>
        </p:nvSpPr>
        <p:spPr>
          <a:xfrm rot="0" flipH="0" flipV="0">
            <a:off x="381000" y="2085975"/>
            <a:ext cx="4210050" cy="1381125"/>
          </a:xfrm>
          <a:custGeom>
            <a:pathLst>
              <a:path w="442" h="145">
                <a:moveTo>
                  <a:pt x="0" y="0"/>
                </a:moveTo>
                <a:lnTo>
                  <a:pt x="4" y="0"/>
                </a:lnTo>
                <a:lnTo>
                  <a:pt x="4" y="145"/>
                </a:lnTo>
                <a:lnTo>
                  <a:pt x="0" y="145"/>
                </a:lnTo>
                <a:close/>
              </a:path>
            </a:pathLst>
          </a:custGeom>
          <a:solidFill>
            <a:srgbClr val="4A5568"/>
          </a:solidFill>
          <a:ln/>
        </p:spPr>
        <p:txBody>
          <a:bodyPr/>
          <a:p/>
        </p:txBody>
      </p:sp>
      <p:sp>
        <p:nvSpPr>
          <p:cNvPr id="251" name="" descr="{&quot;isTemplate&quot;:true,&quot;type&quot;:&quot;text&quot;}"/>
          <p:cNvSpPr txBox="1"/>
          <p:nvPr/>
        </p:nvSpPr>
        <p:spPr>
          <a:xfrm rot="0" flipH="0" flipV="0">
            <a:off x="561975" y="2200275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4A5568"/>
                </a:solidFill>
                <a:latin typeface="Microsoft YaHei"/>
                <a:ea typeface="Microsoft YaHei"/>
              </a:rPr>
              <a:t>做法</a:t>
            </a:r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561975" y="2457450"/>
            <a:ext cx="38481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首个面向无序输入、具备全局一致性的即时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3DGS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重建：两级快速匹配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GPU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局部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簇级回环图传播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渐进式层级。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419100" y="3590925"/>
            <a:ext cx="4171950" cy="1381125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54" name=""/>
          <p:cNvSpPr/>
          <p:nvPr/>
        </p:nvSpPr>
        <p:spPr>
          <a:xfrm rot="0" flipH="0" flipV="0">
            <a:off x="381000" y="3590925"/>
            <a:ext cx="4210050" cy="1381125"/>
          </a:xfrm>
          <a:custGeom>
            <a:pathLst>
              <a:path w="442" h="145">
                <a:moveTo>
                  <a:pt x="0" y="0"/>
                </a:moveTo>
                <a:lnTo>
                  <a:pt x="4" y="0"/>
                </a:lnTo>
                <a:lnTo>
                  <a:pt x="4" y="145"/>
                </a:lnTo>
                <a:lnTo>
                  <a:pt x="0" y="145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561975" y="3705225"/>
            <a:ext cx="384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3D7BD9"/>
                </a:solidFill>
                <a:latin typeface="Microsoft YaHei"/>
                <a:ea typeface="Microsoft YaHei"/>
              </a:rPr>
              <a:t>结果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561975" y="3962400"/>
            <a:ext cx="3848100" cy="895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上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1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分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17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达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26.29 dB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（离线参考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8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分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50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27.52 dB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）；输入打乱只掉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0.5 dB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381000" y="5095875"/>
            <a:ext cx="4171950" cy="466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关键词：三维高斯泼溅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无序采集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即时重建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协视图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回环闭合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渐进式层级</a:t>
            </a:r>
            <a:endParaRPr/>
          </a:p>
        </p:txBody>
      </p:sp>
      <p:sp>
        <p:nvSpPr>
          <p:cNvPr id="258" name=""/>
          <p:cNvSpPr/>
          <p:nvPr/>
        </p:nvSpPr>
        <p:spPr>
          <a:xfrm rot="0" flipH="0" flipV="0">
            <a:off x="4762500" y="876300"/>
            <a:ext cx="3467100" cy="1390650"/>
          </a:xfrm>
          <a:prstGeom prst="roundRect">
            <a:avLst>
              <a:gd name="adj" fmla="val 411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59" name=""/>
          <p:cNvSpPr/>
          <p:nvPr/>
        </p:nvSpPr>
        <p:spPr>
          <a:xfrm rot="0" flipH="0" flipV="0">
            <a:off x="4905375" y="1000125"/>
            <a:ext cx="247650" cy="24765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4981575" y="1028700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5229225" y="1000125"/>
            <a:ext cx="16002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无序序列快速匹配</a:t>
            </a:r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4905375" y="1314450"/>
            <a:ext cx="3181350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三级串联把候选从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1000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收到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；配加权协视图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高连通贪心选窗。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4905375" y="1962150"/>
            <a:ext cx="31813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治“乱”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步骤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①–④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8353425" y="876300"/>
            <a:ext cx="3457575" cy="1390650"/>
          </a:xfrm>
          <a:prstGeom prst="roundRect">
            <a:avLst>
              <a:gd name="adj" fmla="val 411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5" name=""/>
          <p:cNvSpPr/>
          <p:nvPr/>
        </p:nvSpPr>
        <p:spPr>
          <a:xfrm rot="0" flipH="0" flipV="0">
            <a:off x="8496300" y="1000125"/>
            <a:ext cx="247650" cy="24765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66" name="" descr="{&quot;isTemplate&quot;:true,&quot;type&quot;:&quot;text&quot;}"/>
          <p:cNvSpPr txBox="1"/>
          <p:nvPr/>
        </p:nvSpPr>
        <p:spPr>
          <a:xfrm rot="0" flipH="0" flipV="0">
            <a:off x="8572500" y="1028700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8820150" y="1000125"/>
            <a:ext cx="13049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GPU </a:t>
            </a: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局部重建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8496300" y="1314450"/>
            <a:ext cx="317182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自写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核函数（稠密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补），比现有优化器快约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倍；分块深度对齐。</a:t>
            </a:r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8496300" y="1962150"/>
            <a:ext cx="31718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治“慢”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步骤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⑤</a:t>
            </a: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、⑦</a:t>
            </a:r>
            <a:endParaRPr/>
          </a:p>
        </p:txBody>
      </p:sp>
      <p:sp>
        <p:nvSpPr>
          <p:cNvPr id="270" name=""/>
          <p:cNvSpPr/>
          <p:nvPr/>
        </p:nvSpPr>
        <p:spPr>
          <a:xfrm rot="0" flipH="0" flipV="0">
            <a:off x="4762500" y="2390775"/>
            <a:ext cx="3467100" cy="1685925"/>
          </a:xfrm>
          <a:prstGeom prst="roundRect">
            <a:avLst>
              <a:gd name="adj" fmla="val 339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71" name=""/>
          <p:cNvSpPr/>
          <p:nvPr/>
        </p:nvSpPr>
        <p:spPr>
          <a:xfrm rot="0" flipH="0" flipV="0">
            <a:off x="4905375" y="2514600"/>
            <a:ext cx="247650" cy="247650"/>
          </a:xfrm>
          <a:prstGeom prst="roundRect">
            <a:avLst>
              <a:gd name="adj" fmla="val 15385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4981575" y="25431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5229225" y="2514600"/>
            <a:ext cx="12001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簇级回环闭合</a:t>
            </a:r>
            <a:endParaRPr/>
          </a:p>
        </p:txBody>
      </p:sp>
      <p:sp>
        <p:nvSpPr>
          <p:cNvPr id="274" name="" descr="{&quot;isTemplate&quot;:true,&quot;type&quot;:&quot;text&quot;}"/>
          <p:cNvSpPr txBox="1"/>
          <p:nvPr/>
        </p:nvSpPr>
        <p:spPr>
          <a:xfrm rot="0" flipH="0" flipV="0">
            <a:off x="4905375" y="2828925"/>
            <a:ext cx="3181350" cy="8763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焊接窗口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Dijkstra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主干测地插值，把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Sim(3)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摊到全图，不跑第二次全局优化。</a:t>
            </a:r>
            <a:endParaRPr/>
          </a:p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4905375" y="3771900"/>
            <a:ext cx="318135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D9534F"/>
                </a:solidFill>
                <a:latin typeface="Microsoft YaHei"/>
                <a:ea typeface="Microsoft YaHei"/>
              </a:rPr>
              <a:t>治“漂”</a:t>
            </a:r>
            <a:r>
              <a:rPr lang="en-US" sz="1163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63" b="1">
                <a:solidFill>
                  <a:srgbClr val="D9534F"/>
                </a:solidFill>
                <a:latin typeface="Microsoft YaHei"/>
                <a:ea typeface="Microsoft YaHei"/>
              </a:rPr>
              <a:t>步骤</a:t>
            </a:r>
            <a:r>
              <a:rPr lang="en-US" sz="1163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 ⑥</a:t>
            </a:r>
            <a:endParaRPr/>
          </a:p>
        </p:txBody>
      </p:sp>
      <p:sp>
        <p:nvSpPr>
          <p:cNvPr id="276" name=""/>
          <p:cNvSpPr/>
          <p:nvPr/>
        </p:nvSpPr>
        <p:spPr>
          <a:xfrm rot="0" flipH="0" flipV="0">
            <a:off x="8353425" y="2390775"/>
            <a:ext cx="3457575" cy="1685925"/>
          </a:xfrm>
          <a:prstGeom prst="roundRect">
            <a:avLst>
              <a:gd name="adj" fmla="val 3390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77" name=""/>
          <p:cNvSpPr/>
          <p:nvPr/>
        </p:nvSpPr>
        <p:spPr>
          <a:xfrm rot="0" flipH="0" flipV="0">
            <a:off x="8496300" y="2514600"/>
            <a:ext cx="247650" cy="247650"/>
          </a:xfrm>
          <a:prstGeom prst="roundRect">
            <a:avLst>
              <a:gd name="adj" fmla="val 1538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8572500" y="2543175"/>
            <a:ext cx="952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8820150" y="2514600"/>
            <a:ext cx="140017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1A2230"/>
                </a:solidFill>
                <a:latin typeface="Microsoft YaHei"/>
                <a:ea typeface="Microsoft YaHei"/>
              </a:rPr>
              <a:t>渐进式高斯层级</a:t>
            </a:r>
            <a:endParaRPr/>
          </a:p>
        </p:txBody>
      </p:sp>
      <p:sp>
        <p:nvSpPr>
          <p:cNvPr id="280" name="" descr="{&quot;isTemplate&quot;:true,&quot;type&quot;:&quot;text&quot;}"/>
          <p:cNvSpPr txBox="1"/>
          <p:nvPr/>
        </p:nvSpPr>
        <p:spPr>
          <a:xfrm rot="0" flipH="0" flipV="0">
            <a:off x="8496300" y="2828925"/>
            <a:ext cx="317182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按屏幕投影尺寸合并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回取，叶节点卸载到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CPU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；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4050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帧显存仍控在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12.8 GB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内。</a:t>
            </a:r>
            <a:endParaRPr/>
          </a:p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8496300" y="3476625"/>
            <a:ext cx="31718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治“爆”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63" b="1">
                <a:solidFill>
                  <a:srgbClr val="1E4FA8"/>
                </a:solidFill>
                <a:latin typeface="Microsoft YaHei"/>
                <a:ea typeface="Microsoft YaHei"/>
              </a:rPr>
              <a:t>步骤</a:t>
            </a:r>
            <a:r>
              <a:rPr lang="en-US" sz="1163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⑦</a:t>
            </a:r>
            <a:endParaRPr/>
          </a:p>
        </p:txBody>
      </p:sp>
      <p:sp>
        <p:nvSpPr>
          <p:cNvPr id="282" name=""/>
          <p:cNvSpPr/>
          <p:nvPr/>
        </p:nvSpPr>
        <p:spPr>
          <a:xfrm rot="0" flipH="0" flipV="0">
            <a:off x="4762500" y="4200525"/>
            <a:ext cx="7048500" cy="8001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83" name="" descr="{&quot;isTemplate&quot;:true,&quot;type&quot;:&quot;text&quot;}"/>
          <p:cNvSpPr txBox="1"/>
          <p:nvPr/>
        </p:nvSpPr>
        <p:spPr>
          <a:xfrm rot="0" flipH="0" flipV="0">
            <a:off x="4905375" y="4314825"/>
            <a:ext cx="6762750" cy="5715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报告里的实测（我们的复现）：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garden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2×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降采样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25.95 dB / 62.7 s / 19.5 GB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，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185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帧。差距来自分辨率与测试协议，不是方法失效。</a:t>
            </a:r>
            <a:endParaRPr/>
          </a:p>
        </p:txBody>
      </p:sp>
      <p:sp>
        <p:nvSpPr>
          <p:cNvPr id="284" name=""/>
          <p:cNvSpPr/>
          <p:nvPr/>
        </p:nvSpPr>
        <p:spPr>
          <a:xfrm rot="0" flipH="0" flipV="0">
            <a:off x="381000" y="5895975"/>
            <a:ext cx="11430000" cy="847725"/>
          </a:xfrm>
          <a:prstGeom prst="roundRect">
            <a:avLst>
              <a:gd name="adj" fmla="val 6742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85" name="" descr="{&quot;isTemplate&quot;:true,&quot;type&quot;:&quot;text&quot;}"/>
          <p:cNvSpPr txBox="1"/>
          <p:nvPr/>
        </p:nvSpPr>
        <p:spPr>
          <a:xfrm rot="0" flipH="0" flipV="0">
            <a:off x="590550" y="6000750"/>
            <a:ext cx="11010900" cy="3048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创新在哪：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不是从零发明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2025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的直接前作已做到“免位姿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＋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大场景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＋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即时”，但要求图像有序、且不做回环。</a:t>
            </a:r>
            <a:endParaRPr/>
          </a:p>
        </p:txBody>
      </p:sp>
      <p:sp>
        <p:nvSpPr>
          <p:cNvPr id="286" name="" descr="{&quot;isTemplate&quot;:true,&quot;type&quot;:&quot;text&quot;}"/>
          <p:cNvSpPr txBox="1"/>
          <p:nvPr/>
        </p:nvSpPr>
        <p:spPr>
          <a:xfrm rot="0" flipH="0" flipV="0">
            <a:off x="590550" y="6334125"/>
            <a:ext cx="11010900" cy="3048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本文只补这两个假设——在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全部历史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里检索重叠帧，用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图传播</a:t>
            </a:r>
            <a:r>
              <a:rPr lang="zh-CN" sz="1425">
                <a:solidFill>
                  <a:srgbClr val="D6E4F7"/>
                </a:solidFill>
                <a:latin typeface="Microsoft YaHei"/>
                <a:ea typeface="Microsoft YaHei"/>
              </a:rPr>
              <a:t>做不重算的回环。增量不大，但恰好补在前作的假设上。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87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4px 40px 0px 40px', flexDirection: 'row', justifyContent: 'space-between', alignItems: 'flex-end' }}&gt;&#13;&#10;        &lt;Text style={{ fontSize: 33, fontWeight: 'bold', color: '#1E4FA8' }}&gt;方法总览：一帧进来，走完七步&lt;/Text&gt;&#13;&#10;        &lt;Text style={{ fontSize: 15, color: '#8B97A8' }}&gt;04 / 15&lt;/Text&gt;&#13;&#10;    &lt;/Box&gt;&#13;&#10;    &lt;Box style={{ padding: '8px 40px 0px 40px' }}&gt;&#13;&#10;        &lt;Text style={{ fontSize: 20, color: '#4A5568', lineHeight: 1.4 }}&gt;设计哲学一句话：&lt;b&gt;每帧做小事，偶尔做一次大事&lt;/b&gt;。前者保证实时，后者保证不漂；每一步都对应上一页的一个病症。&lt;/Text&gt;&#13;&#10;    &lt;/Box&gt;&#13;&#10;&#13;&#10;    &lt;Box style={{ padding: '16px 40px 0px 40px', flexDirection: 'row', gap: 10 }}&gt;&#13;&#10;        &lt;Box style={{ flex: 1, backgroundColor: '#F0F5FC', borderRadius: 6, padding: '13px 11px', flexDirection: 'column' }}&gt;&#13;&#10;            &lt;Text style={{ fontSize: 29, fontWeight: 'bold', color: '#1E4FA8' }}&gt;①&lt;/Text&gt;&#13;&#10;            &lt;Text style={{ fontSize: 20, fontWeight: 'bold', color: '#1A2230', marginTop: 3 }}&gt;全局检索&lt;/Text&gt;&#13;&#10;            &lt;Text style={{ fontSize: 16.5, color: '#1A2230', lineHeight: 1.45, marginTop: 6 }}&gt;全局描述子算余弦，取 top-20 候选&lt;/Text&gt;&#13;&#10;            &lt;Text style={{ fontSize: 15.5, color: '#1D5FC0', fontWeight: 'bold', marginTop: 10 }}&gt;治“乱”&lt;/Text&gt;&#13;&#10;        &lt;/Box&gt;&#13;&#10;        &lt;Box style={{ flex: 1, backgroundColor: '#F0F5FC', borderRadius: 6, padding: '13px 11px', flexDirection: 'column' }}&gt;&#13;&#10;            &lt;Text style={{ fontSize: 29, fontWeight: 'bold', color: '#1E4FA8' }}&gt;②&lt;/Text&gt;&#13;&#10;            &lt;Text style={{ fontSize: 20, fontWeight: 'bold', color: '#1A2230', marginTop: 3 }}&gt;局部粗筛&lt;/Text&gt;&#13;&#10;            &lt;Text style={{ fontSize: 16.5, color: '#1A2230', lineHeight: 1.45, marginTop: 6 }}&gt;XFeat 比内点数，20 → 5&lt;/Text&gt;&#13;&#10;            &lt;Text style={{ fontSize: 15.5, color: '#1D5FC0', fontWeight: 'bold', marginTop: 10 }}&gt;治“乱”&lt;/Text&gt;&#13;&#10;        &lt;/Box&gt;&#13;&#10;        &lt;Box style={{ flex: 1, backgroundColor: '#F0F5FC', borderRadius: 6, padding: '13px 11px', flexDirection: 'column' }}&gt;&#13;&#10;            &lt;Text style={{ fontSize: 29, fontWeight: 'bold', color: '#1E4FA8' }}&gt;③&lt;/Text&gt;&#13;&#10;            &lt;Text style={{ fontSize: 20, fontWeight: 'bold', color: '#1A2230', marginTop: 3 }}&gt;精验建边&lt;/Text&gt;&#13;&#10;            &lt;Text style={{ fontSize: 16.5, color: '#1A2230', lineHeight: 1.45, marginTop: 6 }}&gt;LightGlue ＋ RANSAC，内点 &amp;gt; 500 才建边&lt;/Text&gt;&#13;&#10;            &lt;Text style={{ fontSize: 15.5, color: '#1D5FC0', fontWeight: 'bold', marginTop: 10 }}&gt;治“乱”&lt;/Text&gt;&#13;&#10;        &lt;/Box&gt;&#13;&#10;        &lt;Box style={{ flex: 1, backgroundColor: '#F7F9FC', borderRadius: 6, padding: '13px 11px', flexDirection: 'column' }}&gt;&#13;&#10;            &lt;Text style={{ fontSize: 29, fontWeight: 'bold', color: '#1E4FA8' }}&gt;④&lt;/Text&gt;&#13;&#10;            &lt;Text style={{ fontSize: 20, fontWeight: 'bold', color: '#1A2230', marginTop: 3 }}&gt;贪心选窗&lt;/Text&gt;&#13;&#10;            &lt;Text style={{ fontSize: 16.5, color: '#1A2230', lineHeight: 1.45, marginTop: 6 }}&gt;式 1 贪心扩张到 N = 20 帧&lt;/Text&gt;&#13;&#10;            &lt;Text style={{ fontSize: 15.5, color: '#1D5FC0', fontWeight: 'bold', marginTop: 10 }}&gt;定变量范围&lt;/Text&gt;&#13;&#10;        &lt;/Box&gt;&#13;&#10;        &lt;Box style={{ flex: 1, backgroundColor: '#1E4FA8', borderRadius: 6, padding: '13px 11px', flexDirection: 'column' }}&gt;&#13;&#10;            &lt;Text style={{ fontSize: 29, fontWeight: 'bold', color: '#FFFFFF' }}&gt;⑤&lt;/Text&gt;&#13;&#10;            &lt;Text style={{ fontSize: 20, fontWeight: 'bold', color: '#FFFFFF', marginTop: 3 }}&gt;局部 BA&lt;/Text&gt;&#13;&#10;            &lt;Text style={{ fontSize: 16.5, color: '#D6E4F7', lineHeight: 1.45, marginTop: 6 }}&gt;LM ＋ Schur 补，解出位姿与三维点&lt;/Text&gt;&#13;&#10;            &lt;Text style={{ fontSize: 15.5, color: '#FFFFFF', fontWeight: 'bold', marginTop: 10 }}&gt;重建本体&lt;/Text&gt;&#13;&#10;        &lt;/Box&gt;&#13;&#10;        &lt;Box style={{ flex: 1, backgroundColor: '#F7F9FC', borderRadius: 6, padding: '13px 11px', flexDirection: 'column' }}&gt;&#13;&#10;            &lt;Text style={{ fontSize: 29, fontWeight: 'bold', color: '#1E4FA8' }}&gt;⑥&lt;/Text&gt;&#13;&#10;            &lt;Text style={{ fontSize: 20, fontWeight: 'bold', color: '#1A2230', marginTop: 3 }}&gt;回环修正&lt;/Text&gt;&#13;&#10;            &lt;Text style={{ fontSize: 16.5, color: '#1A2230', lineHeight: 1.45, marginTop: 6 }}&gt;图距 &amp;gt; 10 触发，Sim(3) 沿主干摊开&lt;/Text&gt;&#13;&#10;            &lt;Text style={{ fontSize: 15.5, color: '#D9534F', fontWeight: 'bold', marginTop: 10 }}&gt;治“漂”&lt;/Text&gt;&#13;&#10;        &lt;/Box&gt;&#13;&#10;        &lt;Box style={{ flex: 1, backgroundColor: '#F7F9FC', borderRadius: 6, padding: '13px 11px', flexDirection: 'column' }}&gt;&#13;&#10;            &lt;Text style={{ fontSize: 29, fontWeight: 'bold', color: '#1E4FA8' }}&gt;⑦&lt;/Text&gt;&#13;&#10;            &lt;Text style={{ fontSize: 20, fontWeight: 'bold', color: '#1A2230', marginTop: 3 }}&gt;高斯落位&lt;/Text&gt;&#13;&#10;            &lt;Text style={{ fontSize: 16.5, color: '#1A2230', lineHeight: 1.45, marginTop: 6 }}&gt;分块深度对齐 ＋ 层级按屏幕尺寸合并&lt;/Text&gt;&#13;&#10;            &lt;Text style={{ fontSize: 15.5, color: '#1D5FC0', fontWeight: 'bold', marginTop: 10 }}&gt;治“爆”&lt;/Text&gt;&#13;&#10;        &lt;/Box&gt;&#13;&#10;    &lt;/Box&gt;&#13;&#10;&#13;&#10;    &lt;Box style={{ padding: '20px 40px 0px 40px', flexDirection: 'column' }}&gt;&#13;&#10;        &lt;Text style={{ fontSize: 20, color: '#1A2230', lineHeight: 1.5 }}&gt;数据流：&lt;b&gt;关键帧图像&lt;/b&gt;　→　&lt;b&gt;加权协视图 G&lt;/b&gt;　→　&lt;b&gt;位姿 T_i / 三维点 X_j&lt;/b&gt;　→　&lt;b&gt;高斯集合&lt;/b&gt;　→　&lt;b&gt;渐进层级&lt;/b&gt;&lt;/Text&gt;&#13;&#10;        &lt;Text style={{ fontSize: 17, color: '#4A5568', lineHeight: 1.4, marginTop: 4 }}&gt;前三步只产出“约束”，第四五步只产出“位姿”，第六步修位姿，第七步才碰辐射场。&lt;/Text&gt;&#13;&#10;    &lt;/Box&gt;&#13;&#10;&#13;&#10;    &lt;Box style={{ padding: '16px 40px 0px 40px', flexDirection: 'row', gap: 10, alignItems: 'center' }}&gt;&#13;&#10;        &lt;Box style={{ backgroundColor: '#1E4FA8', borderRadius: 4, padding: '6px 12px' }}&gt;&#13;&#10;            &lt;Text style={{ fontSize: 16, fontWeight: 'bold', color: '#FFFFFF' }}&gt;时间账&lt;/Text&gt;&#13;&#10;        &lt;/Box&gt;&#13;&#10;        &lt;Text style={{ fontSize: 17.5, color: '#1A2230', lineHeight: 1.4 }}&gt;视觉前端 &lt;b&gt;27.8 ms&lt;/b&gt;　·　局部 BA &lt;b&gt;40.5 ms&lt;/b&gt;　·　回环摊销 &lt;b&gt;121.6 ms&lt;/b&gt;（仅绕回起点时）　·　渲染 &lt;b&gt;480 fps&lt;/b&gt;&lt;/Text&gt;&#13;&#10;    &lt;/Box&gt;&#13;&#10;    &lt;Box style={{ padding: '4px 40px 0px 40px' }}&gt;&#13;&#10;        &lt;Text style={{ fontSize: 15.5, color: '#8B97A8' }}&gt;以上为论文单关键帧摊销实测；②③ 的候选数已压到 20 / 5，所以前端不是瓶颈——瓶颈是一次回环后的全局修正。&lt;/Text&gt;&#13;&#10;    &lt;/Box&gt;&#13;&#10;&#13;&#10;    &lt;Box style={{ padding: '16px 40px 0px 40px', flexDirection: 'column', gap: 8 }}&gt;&#13;&#10;        &lt;Box style={{ backgroundColor: '#F7F9FC', borderLeft: '5px solid #1E4FA8', padding: '9px 16px' }}&gt;&#13;&#10;            &lt;Text style={{ fontSize: 17.5, color: '#1A2230', lineHeight: 1.4 }}&gt;&lt;b&gt;节奏&lt;/b&gt;　①–⑤ 与 ⑦ 每个关键帧都跑；&lt;b&gt;⑥ 只在检测到回环时跑&lt;/b&gt;——“每帧做小事、偶尔做一次大事”的具体分工。&lt;/Text&gt;&#13;&#10;        &lt;/Box&gt;&#13;&#10;        &lt;Box style={{ backgroundColor: '#F7F9FC', borderLeft: '5px solid #D6DCE5', padding: '9px 16px' }}&gt;&#13;&#10;            &lt;Text style={{ fontSize: 17.5, color: '#1A2230', lineHeight: 1.4 }}&gt;&lt;b&gt;容错&lt;/b&gt;　匹配失败的帧先“搁置”，后续出现相似帧时再取出重试——乱序输入因此不必强求一次成功。&lt;/Text&gt;&#13;&#10;        &lt;/Box&gt;&#13;&#10;    &lt;/Box&gt;&#13;&#10;&#13;&#10;    &lt;Box style={{ marginTop: 'auto', padding: '6px 40px 12px 40px' }}&gt;&#13;&#10;        &lt;Text style={{ fontSize: 15, color: '#8B97A8' }}&gt;接下来七页，一步一页：每页都是「这步在做什么 → 长什么样 → 核心公式 → 超参取值 → 为什么这么做」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0" name="" descr="{&quot;isTemplate&quot;:true,&quot;type&quot;:&quot;text&quot;}"/>
          <p:cNvSpPr txBox="1"/>
          <p:nvPr/>
        </p:nvSpPr>
        <p:spPr>
          <a:xfrm rot="0" flipH="0" flipV="0">
            <a:off x="381000" y="304800"/>
            <a:ext cx="440055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方法总览：一帧进来，走完七步</a:t>
            </a:r>
            <a:endParaRPr/>
          </a:p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11325225" y="51435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04 / 15</a:t>
            </a:r>
            <a:endParaRPr/>
          </a:p>
        </p:txBody>
      </p:sp>
      <p:sp>
        <p:nvSpPr>
          <p:cNvPr id="292" name="" descr="{&quot;isTemplate&quot;:true,&quot;type&quot;:&quot;text&quot;}"/>
          <p:cNvSpPr txBox="1"/>
          <p:nvPr/>
        </p:nvSpPr>
        <p:spPr>
          <a:xfrm rot="0" flipH="0" flipV="0">
            <a:off x="381000" y="76200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设计哲学一句话：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每帧做小事，偶尔做一次大事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。前者保证实时，后者保证不漂；每一步都对应上一页的一个病症。</a:t>
            </a:r>
            <a:endParaRPr/>
          </a:p>
        </p:txBody>
      </p:sp>
      <p:sp>
        <p:nvSpPr>
          <p:cNvPr id="293" name=""/>
          <p:cNvSpPr/>
          <p:nvPr/>
        </p:nvSpPr>
        <p:spPr>
          <a:xfrm rot="0" flipH="0" flipV="0">
            <a:off x="381000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94" name="" descr="{&quot;isTemplate&quot;:true,&quot;type&quot;:&quot;text&quot;}"/>
          <p:cNvSpPr txBox="1"/>
          <p:nvPr/>
        </p:nvSpPr>
        <p:spPr>
          <a:xfrm rot="0" flipH="0" flipV="0">
            <a:off x="485775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①</a:t>
            </a:r>
            <a:endParaRPr/>
          </a:p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485775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全局检索</a:t>
            </a:r>
            <a:endParaRPr/>
          </a:p>
        </p:txBody>
      </p:sp>
      <p:sp>
        <p:nvSpPr>
          <p:cNvPr id="296" name="" descr="{&quot;isTemplate&quot;:true,&quot;type&quot;:&quot;text&quot;}"/>
          <p:cNvSpPr txBox="1"/>
          <p:nvPr/>
        </p:nvSpPr>
        <p:spPr>
          <a:xfrm rot="0" flipH="0" flipV="0">
            <a:off x="485775" y="2009775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全局描述子算余弦，取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top-20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候选</a:t>
            </a:r>
            <a:endParaRPr/>
          </a:p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485775" y="2933700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治“乱”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2028825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2133600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②</a:t>
            </a:r>
            <a:endParaRPr/>
          </a:p>
        </p:txBody>
      </p:sp>
      <p:sp>
        <p:nvSpPr>
          <p:cNvPr id="300" name="" descr="{&quot;isTemplate&quot;:true,&quot;type&quot;:&quot;text&quot;}"/>
          <p:cNvSpPr txBox="1"/>
          <p:nvPr/>
        </p:nvSpPr>
        <p:spPr>
          <a:xfrm rot="0" flipH="0" flipV="0">
            <a:off x="2133600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局部粗筛</a:t>
            </a:r>
            <a:endParaRPr/>
          </a:p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2133600" y="2009775"/>
            <a:ext cx="1343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XFeat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比内点数，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>20 → 5</a:t>
            </a:r>
            <a:endParaRPr/>
          </a:p>
        </p:txBody>
      </p:sp>
      <p:sp>
        <p:nvSpPr>
          <p:cNvPr id="302" name="" descr="{&quot;isTemplate&quot;:true,&quot;type&quot;:&quot;text&quot;}"/>
          <p:cNvSpPr txBox="1"/>
          <p:nvPr/>
        </p:nvSpPr>
        <p:spPr>
          <a:xfrm rot="0" flipH="0" flipV="0">
            <a:off x="2133600" y="2657475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治“乱”</a:t>
            </a:r>
            <a:endParaRPr/>
          </a:p>
        </p:txBody>
      </p:sp>
      <p:sp>
        <p:nvSpPr>
          <p:cNvPr id="303" name=""/>
          <p:cNvSpPr/>
          <p:nvPr/>
        </p:nvSpPr>
        <p:spPr>
          <a:xfrm rot="0" flipH="0" flipV="0">
            <a:off x="3676650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4" name="" descr="{&quot;isTemplate&quot;:true,&quot;type&quot;:&quot;text&quot;}"/>
          <p:cNvSpPr txBox="1"/>
          <p:nvPr/>
        </p:nvSpPr>
        <p:spPr>
          <a:xfrm rot="0" flipH="0" flipV="0">
            <a:off x="3781425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③</a:t>
            </a:r>
            <a:endParaRPr/>
          </a:p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3781425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精验建边</a:t>
            </a:r>
            <a:endParaRPr/>
          </a:p>
        </p:txBody>
      </p:sp>
      <p:sp>
        <p:nvSpPr>
          <p:cNvPr id="306" name="" descr="{&quot;isTemplate&quot;:true,&quot;type&quot;:&quot;text&quot;}"/>
          <p:cNvSpPr txBox="1"/>
          <p:nvPr/>
        </p:nvSpPr>
        <p:spPr>
          <a:xfrm rot="0" flipH="0" flipV="0">
            <a:off x="3781425" y="2009775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LightGlue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RANSAC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，内点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500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才建边</a:t>
            </a:r>
            <a:endParaRPr/>
          </a:p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3781425" y="2933700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治“乱”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5324475" y="1238250"/>
            <a:ext cx="1543050" cy="2000250"/>
          </a:xfrm>
          <a:prstGeom prst="roundRect">
            <a:avLst>
              <a:gd name="adj" fmla="val 3704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5429250" y="1362075"/>
            <a:ext cx="1333500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④</a:t>
            </a:r>
            <a:endParaRPr/>
          </a:p>
        </p:txBody>
      </p:sp>
      <p:sp>
        <p:nvSpPr>
          <p:cNvPr id="310" name="" descr="{&quot;isTemplate&quot;:true,&quot;type&quot;:&quot;text&quot;}"/>
          <p:cNvSpPr txBox="1"/>
          <p:nvPr/>
        </p:nvSpPr>
        <p:spPr>
          <a:xfrm rot="0" flipH="0" flipV="0">
            <a:off x="5429250" y="1724025"/>
            <a:ext cx="1333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贪心选窗</a:t>
            </a:r>
            <a:endParaRPr/>
          </a:p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5429250" y="2009775"/>
            <a:ext cx="1333500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式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贪心扩张到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N = 20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312" name="" descr="{&quot;isTemplate&quot;:true,&quot;type&quot;:&quot;text&quot;}"/>
          <p:cNvSpPr txBox="1"/>
          <p:nvPr/>
        </p:nvSpPr>
        <p:spPr>
          <a:xfrm rot="0" flipH="0" flipV="0">
            <a:off x="5429250" y="2657475"/>
            <a:ext cx="13335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定变量范围</a:t>
            </a:r>
            <a:endParaRPr/>
          </a:p>
        </p:txBody>
      </p:sp>
      <p:sp>
        <p:nvSpPr>
          <p:cNvPr id="313" name=""/>
          <p:cNvSpPr/>
          <p:nvPr/>
        </p:nvSpPr>
        <p:spPr>
          <a:xfrm rot="0" flipH="0" flipV="0">
            <a:off x="6962775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7067550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Microsoft YaHei"/>
                <a:ea typeface="Microsoft YaHei"/>
              </a:rPr>
              <a:t>⑤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7067550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局部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BA</a:t>
            </a:r>
            <a:endParaRPr/>
          </a:p>
        </p:txBody>
      </p:sp>
      <p:sp>
        <p:nvSpPr>
          <p:cNvPr id="316" name="" descr="{&quot;isTemplate&quot;:true,&quot;type&quot;:&quot;text&quot;}"/>
          <p:cNvSpPr txBox="1"/>
          <p:nvPr/>
        </p:nvSpPr>
        <p:spPr>
          <a:xfrm rot="0" flipH="0" flipV="0">
            <a:off x="7067550" y="2009775"/>
            <a:ext cx="1343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238">
                <a:solidFill>
                  <a:srgbClr val="D6E4F7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1238">
                <a:solidFill>
                  <a:srgbClr val="D6E4F7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D6E4F7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238">
                <a:solidFill>
                  <a:srgbClr val="D6E4F7"/>
                </a:solidFill>
                <a:latin typeface="Microsoft YaHei"/>
                <a:ea typeface="Microsoft YaHei"/>
              </a:rPr>
              <a:t>补，解出位姿与三维点</a:t>
            </a:r>
            <a:endParaRPr/>
          </a:p>
        </p:txBody>
      </p:sp>
      <p:sp>
        <p:nvSpPr>
          <p:cNvPr id="317" name="" descr="{&quot;isTemplate&quot;:true,&quot;type&quot;:&quot;text&quot;}"/>
          <p:cNvSpPr txBox="1"/>
          <p:nvPr/>
        </p:nvSpPr>
        <p:spPr>
          <a:xfrm rot="0" flipH="0" flipV="0">
            <a:off x="7067550" y="2657475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FFFFFF"/>
                </a:solidFill>
                <a:latin typeface="Microsoft YaHei"/>
                <a:ea typeface="Microsoft YaHei"/>
              </a:rPr>
              <a:t>重建本体</a:t>
            </a:r>
            <a:endParaRPr/>
          </a:p>
        </p:txBody>
      </p:sp>
      <p:sp>
        <p:nvSpPr>
          <p:cNvPr id="318" name=""/>
          <p:cNvSpPr/>
          <p:nvPr/>
        </p:nvSpPr>
        <p:spPr>
          <a:xfrm rot="0" flipH="0" flipV="0">
            <a:off x="8610600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19" name="" descr="{&quot;isTemplate&quot;:true,&quot;type&quot;:&quot;text&quot;}"/>
          <p:cNvSpPr txBox="1"/>
          <p:nvPr/>
        </p:nvSpPr>
        <p:spPr>
          <a:xfrm rot="0" flipH="0" flipV="0">
            <a:off x="8715375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⑥</a:t>
            </a:r>
            <a:endParaRPr/>
          </a:p>
        </p:txBody>
      </p:sp>
      <p:sp>
        <p:nvSpPr>
          <p:cNvPr id="320" name="" descr="{&quot;isTemplate&quot;:true,&quot;type&quot;:&quot;text&quot;}"/>
          <p:cNvSpPr txBox="1"/>
          <p:nvPr/>
        </p:nvSpPr>
        <p:spPr>
          <a:xfrm rot="0" flipH="0" flipV="0">
            <a:off x="8715375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回环修正</a:t>
            </a:r>
            <a:endParaRPr/>
          </a:p>
        </p:txBody>
      </p:sp>
      <p:sp>
        <p:nvSpPr>
          <p:cNvPr id="321" name="" descr="{&quot;isTemplate&quot;:true,&quot;type&quot;:&quot;text&quot;}"/>
          <p:cNvSpPr txBox="1"/>
          <p:nvPr/>
        </p:nvSpPr>
        <p:spPr>
          <a:xfrm rot="0" flipH="0" flipV="0">
            <a:off x="8715375" y="2009775"/>
            <a:ext cx="134302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图距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10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触发，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Sim(3)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沿主干摊开</a:t>
            </a:r>
            <a:endParaRPr/>
          </a:p>
        </p:txBody>
      </p:sp>
      <p:sp>
        <p:nvSpPr>
          <p:cNvPr id="322" name="" descr="{&quot;isTemplate&quot;:true,&quot;type&quot;:&quot;text&quot;}"/>
          <p:cNvSpPr txBox="1"/>
          <p:nvPr/>
        </p:nvSpPr>
        <p:spPr>
          <a:xfrm rot="0" flipH="0" flipV="0">
            <a:off x="8715375" y="2657475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D9534F"/>
                </a:solidFill>
                <a:latin typeface="Microsoft YaHei"/>
                <a:ea typeface="Microsoft YaHei"/>
              </a:rPr>
              <a:t>治“漂”</a:t>
            </a:r>
            <a:endParaRPr/>
          </a:p>
        </p:txBody>
      </p:sp>
      <p:sp>
        <p:nvSpPr>
          <p:cNvPr id="323" name=""/>
          <p:cNvSpPr/>
          <p:nvPr/>
        </p:nvSpPr>
        <p:spPr>
          <a:xfrm rot="0" flipH="0" flipV="0">
            <a:off x="10258425" y="1238250"/>
            <a:ext cx="1552575" cy="2000250"/>
          </a:xfrm>
          <a:prstGeom prst="roundRect">
            <a:avLst>
              <a:gd name="adj" fmla="val 3681"/>
            </a:avLst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24" name="" descr="{&quot;isTemplate&quot;:true,&quot;type&quot;:&quot;text&quot;}"/>
          <p:cNvSpPr txBox="1"/>
          <p:nvPr/>
        </p:nvSpPr>
        <p:spPr>
          <a:xfrm rot="0" flipH="0" flipV="0">
            <a:off x="10363200" y="1362075"/>
            <a:ext cx="1343025" cy="3333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2175" b="1">
                <a:solidFill>
                  <a:srgbClr val="1E4FA8"/>
                </a:solidFill>
                <a:latin typeface="Microsoft YaHei"/>
                <a:ea typeface="Microsoft YaHei"/>
              </a:rPr>
              <a:t>⑦</a:t>
            </a:r>
            <a:endParaRPr/>
          </a:p>
        </p:txBody>
      </p:sp>
      <p:sp>
        <p:nvSpPr>
          <p:cNvPr id="325" name="" descr="{&quot;isTemplate&quot;:true,&quot;type&quot;:&quot;text&quot;}"/>
          <p:cNvSpPr txBox="1"/>
          <p:nvPr/>
        </p:nvSpPr>
        <p:spPr>
          <a:xfrm rot="0" flipH="0" flipV="0">
            <a:off x="10363200" y="1724025"/>
            <a:ext cx="1343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2230"/>
                </a:solidFill>
                <a:latin typeface="Microsoft YaHei"/>
                <a:ea typeface="Microsoft YaHei"/>
              </a:rPr>
              <a:t>高斯落位</a:t>
            </a:r>
            <a:endParaRPr/>
          </a:p>
        </p:txBody>
      </p:sp>
      <p:sp>
        <p:nvSpPr>
          <p:cNvPr id="326" name="" descr="{&quot;isTemplate&quot;:true,&quot;type&quot;:&quot;text&quot;}"/>
          <p:cNvSpPr txBox="1"/>
          <p:nvPr/>
        </p:nvSpPr>
        <p:spPr>
          <a:xfrm rot="0" flipH="0" flipV="0">
            <a:off x="10363200" y="2009775"/>
            <a:ext cx="1343025" cy="8286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分块深度对齐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238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38">
                <a:solidFill>
                  <a:srgbClr val="1A2230"/>
                </a:solidFill>
                <a:latin typeface="Microsoft YaHei"/>
                <a:ea typeface="Microsoft YaHei"/>
              </a:rPr>
              <a:t>层级按屏幕尺寸合并</a:t>
            </a:r>
            <a:endParaRPr/>
          </a:p>
        </p:txBody>
      </p:sp>
      <p:sp>
        <p:nvSpPr>
          <p:cNvPr id="327" name="" descr="{&quot;isTemplate&quot;:true,&quot;type&quot;:&quot;text&quot;}"/>
          <p:cNvSpPr txBox="1"/>
          <p:nvPr/>
        </p:nvSpPr>
        <p:spPr>
          <a:xfrm rot="0" flipH="0" flipV="0">
            <a:off x="10363200" y="2933700"/>
            <a:ext cx="1343025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 b="1">
                <a:solidFill>
                  <a:srgbClr val="1D5FC0"/>
                </a:solidFill>
                <a:latin typeface="Microsoft YaHei"/>
                <a:ea typeface="Microsoft YaHei"/>
              </a:rPr>
              <a:t>治“爆”</a:t>
            </a:r>
            <a:endParaRPr/>
          </a:p>
        </p:txBody>
      </p:sp>
      <p:sp>
        <p:nvSpPr>
          <p:cNvPr id="328" name="" descr="{&quot;isTemplate&quot;:true,&quot;type&quot;:&quot;text&quot;}"/>
          <p:cNvSpPr txBox="1"/>
          <p:nvPr/>
        </p:nvSpPr>
        <p:spPr>
          <a:xfrm rot="0" flipH="0" flipV="0">
            <a:off x="381000" y="3429000"/>
            <a:ext cx="114300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数据流：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关键帧图像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→　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加权协视图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G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→　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位姿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T_i /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三维点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X_j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→　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高斯集合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→　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渐进层级</a:t>
            </a:r>
            <a:endParaRPr/>
          </a:p>
        </p:txBody>
      </p:sp>
      <p:sp>
        <p:nvSpPr>
          <p:cNvPr id="329" name="" descr="{&quot;isTemplate&quot;:true,&quot;type&quot;:&quot;text&quot;}"/>
          <p:cNvSpPr txBox="1"/>
          <p:nvPr/>
        </p:nvSpPr>
        <p:spPr>
          <a:xfrm rot="0" flipH="0" flipV="0">
            <a:off x="381000" y="3810000"/>
            <a:ext cx="11430000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前三步只产出“约束”，第四五步只产出“位姿”，第六步修位姿，第七步才碰辐射场。</a:t>
            </a:r>
            <a:endParaRPr/>
          </a:p>
        </p:txBody>
      </p:sp>
      <p:sp>
        <p:nvSpPr>
          <p:cNvPr id="330" name=""/>
          <p:cNvSpPr/>
          <p:nvPr/>
        </p:nvSpPr>
        <p:spPr>
          <a:xfrm rot="0" flipH="0" flipV="0">
            <a:off x="381000" y="4238625"/>
            <a:ext cx="685800" cy="304800"/>
          </a:xfrm>
          <a:prstGeom prst="roundRect">
            <a:avLst>
              <a:gd name="adj" fmla="val 125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1" name="" descr="{&quot;isTemplate&quot;:true,&quot;type&quot;:&quot;text&quot;}"/>
          <p:cNvSpPr txBox="1"/>
          <p:nvPr/>
        </p:nvSpPr>
        <p:spPr>
          <a:xfrm rot="0" flipH="0" flipV="0">
            <a:off x="495300" y="4295775"/>
            <a:ext cx="457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时间账</a:t>
            </a:r>
            <a:endParaRPr/>
          </a:p>
        </p:txBody>
      </p:sp>
      <p:sp>
        <p:nvSpPr>
          <p:cNvPr id="332" name="" descr="{&quot;isTemplate&quot;:true,&quot;type&quot;:&quot;text&quot;}"/>
          <p:cNvSpPr txBox="1"/>
          <p:nvPr/>
        </p:nvSpPr>
        <p:spPr>
          <a:xfrm rot="0" flipH="0" flipV="0">
            <a:off x="1162050" y="4248150"/>
            <a:ext cx="7458075" cy="2857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视觉前端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>27.8 ms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　·　局部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>40.5 ms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　·　回环摊销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>121.6 ms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（仅绕回起点时）　·　渲染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>480 fps</a:t>
            </a:r>
            <a:endParaRPr/>
          </a:p>
        </p:txBody>
      </p:sp>
      <p:sp>
        <p:nvSpPr>
          <p:cNvPr id="333" name="" descr="{&quot;isTemplate&quot;:true,&quot;type&quot;:&quot;text&quot;}"/>
          <p:cNvSpPr txBox="1"/>
          <p:nvPr/>
        </p:nvSpPr>
        <p:spPr>
          <a:xfrm rot="0" flipH="0" flipV="0">
            <a:off x="381000" y="4581525"/>
            <a:ext cx="11430000" cy="1809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63">
                <a:solidFill>
                  <a:srgbClr val="8B97A8"/>
                </a:solidFill>
                <a:latin typeface="Microsoft YaHei"/>
                <a:ea typeface="Microsoft YaHei"/>
              </a:rPr>
              <a:t>以上为论文单关键帧摊销实测；②③</a:t>
            </a:r>
            <a:r>
              <a:rPr lang="en-US" sz="1163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63">
                <a:solidFill>
                  <a:srgbClr val="8B97A8"/>
                </a:solidFill>
                <a:latin typeface="Microsoft YaHei"/>
                <a:ea typeface="Microsoft YaHei"/>
              </a:rPr>
              <a:t>的候选数已压到</a:t>
            </a:r>
            <a:r>
              <a:rPr lang="en-US" sz="1163">
                <a:solidFill>
                  <a:srgbClr val="8B97A8"/>
                </a:solidFill>
                <a:latin typeface="Microsoft YaHei"/>
                <a:ea typeface="Microsoft YaHei"/>
              </a:rPr>
              <a:t xml:space="preserve"> 20 / 5</a:t>
            </a:r>
            <a:r>
              <a:rPr lang="zh-CN" sz="1163">
                <a:solidFill>
                  <a:srgbClr val="8B97A8"/>
                </a:solidFill>
                <a:latin typeface="Microsoft YaHei"/>
                <a:ea typeface="Microsoft YaHei"/>
              </a:rPr>
              <a:t>，所以前端不是瓶颈——瓶颈是一次回环后的全局修正。</a:t>
            </a:r>
            <a:endParaRPr/>
          </a:p>
        </p:txBody>
      </p:sp>
      <p:sp>
        <p:nvSpPr>
          <p:cNvPr id="334" name=""/>
          <p:cNvSpPr/>
          <p:nvPr/>
        </p:nvSpPr>
        <p:spPr>
          <a:xfrm rot="0" flipH="0" flipV="0">
            <a:off x="428625" y="4914900"/>
            <a:ext cx="11430000" cy="4572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35" name=""/>
          <p:cNvSpPr/>
          <p:nvPr/>
        </p:nvSpPr>
        <p:spPr>
          <a:xfrm rot="0" flipH="0" flipV="0">
            <a:off x="381000" y="4914900"/>
            <a:ext cx="11477625" cy="457200"/>
          </a:xfrm>
          <a:custGeom>
            <a:pathLst>
              <a:path w="1205" h="48">
                <a:moveTo>
                  <a:pt x="0" y="0"/>
                </a:moveTo>
                <a:lnTo>
                  <a:pt x="5" y="0"/>
                </a:lnTo>
                <a:lnTo>
                  <a:pt x="5" y="48"/>
                </a:lnTo>
                <a:lnTo>
                  <a:pt x="0" y="4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36" name="" descr="{&quot;isTemplate&quot;:true,&quot;type&quot;:&quot;text&quot;}"/>
          <p:cNvSpPr txBox="1"/>
          <p:nvPr/>
        </p:nvSpPr>
        <p:spPr>
          <a:xfrm rot="0" flipH="0" flipV="0">
            <a:off x="581025" y="5000625"/>
            <a:ext cx="11077575" cy="2857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节奏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　①–⑤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与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 ⑦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每个关键帧都跑；</a:t>
            </a:r>
            <a:r>
              <a:rPr lang="en-US" sz="1313">
                <a:solidFill>
                  <a:srgbClr val="1A2230"/>
                </a:solidFill>
                <a:latin typeface="Microsoft YaHei"/>
                <a:ea typeface="Microsoft YaHei"/>
              </a:rPr>
              <a:t xml:space="preserve">⑥ 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只在检测到回环时跑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——“每帧做小事、偶尔做一次大事”的具体分工。</a:t>
            </a:r>
            <a:endParaRPr/>
          </a:p>
        </p:txBody>
      </p:sp>
      <p:sp>
        <p:nvSpPr>
          <p:cNvPr id="337" name=""/>
          <p:cNvSpPr/>
          <p:nvPr/>
        </p:nvSpPr>
        <p:spPr>
          <a:xfrm rot="0" flipH="0" flipV="0">
            <a:off x="428625" y="5448300"/>
            <a:ext cx="11430000" cy="45720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38" name=""/>
          <p:cNvSpPr/>
          <p:nvPr/>
        </p:nvSpPr>
        <p:spPr>
          <a:xfrm rot="0" flipH="0" flipV="0">
            <a:off x="381000" y="5448300"/>
            <a:ext cx="11477625" cy="457200"/>
          </a:xfrm>
          <a:custGeom>
            <a:pathLst>
              <a:path w="1205" h="48">
                <a:moveTo>
                  <a:pt x="0" y="0"/>
                </a:moveTo>
                <a:lnTo>
                  <a:pt x="5" y="0"/>
                </a:lnTo>
                <a:lnTo>
                  <a:pt x="5" y="48"/>
                </a:lnTo>
                <a:lnTo>
                  <a:pt x="0" y="48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339" name="" descr="{&quot;isTemplate&quot;:true,&quot;type&quot;:&quot;text&quot;}"/>
          <p:cNvSpPr txBox="1"/>
          <p:nvPr/>
        </p:nvSpPr>
        <p:spPr>
          <a:xfrm rot="0" flipH="0" flipV="0">
            <a:off x="581025" y="5534025"/>
            <a:ext cx="11077575" cy="2857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容错</a:t>
            </a:r>
            <a:r>
              <a:rPr lang="zh-CN" sz="1313">
                <a:solidFill>
                  <a:srgbClr val="1A2230"/>
                </a:solidFill>
                <a:latin typeface="Microsoft YaHei"/>
                <a:ea typeface="Microsoft YaHei"/>
              </a:rPr>
              <a:t>　匹配失败的帧先“搁置”，后续出现相似帧时再取出重试——乱序输入因此不必强求一次成功。</a:t>
            </a:r>
            <a:endParaRPr/>
          </a:p>
        </p:txBody>
      </p:sp>
      <p:sp>
        <p:nvSpPr>
          <p:cNvPr id="340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接下来七页，一步一页：每页都是「这步在做什么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长什么样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核心公式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超参取值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为什么这么做」。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41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6px 40px 0px 40px', flexDirection: 'row', justifyContent: 'space-between', alignItems: 'flex-end' }}&gt;&#13;&#10;        &lt;Text style={{ fontSize: 33, fontWeight: 'bold', color: '#1E4FA8' }}&gt;全局检索：先不问“在哪”，只问“像不像”&lt;/Text&gt;&#13;&#10;        &lt;Text style={{ fontSize: 15, color: '#8B97A8' }}&gt;05 / 15&lt;/Text&gt;&#13;&#10;    &lt;/Box&gt;&#13;&#10;    &lt;Box style={{ padding: '8px 40px 0px 40px' }}&gt;&#13;&#10;        &lt;Text style={{ fontSize: 20, color: '#4A5568', lineHeight: 1.4 }}&gt;每来一个关键帧，先用一个全局描述子和全部历史帧比一次，取出 20 个“可能同处”的候选——这一步完全不看拍摄顺序。&lt;/Text&gt;&#13;&#10;    &lt;/Box&gt;&#13;&#10;    &lt;Box style={{ padding: '14px 40px 0px 40px', flexDirection: 'row', gap: 20 }}&gt;&#13;&#10;        &lt;Box style={{ width: 600, flexDirection: 'column', gap: 11 }}&gt;&#13;&#10;            &lt;Box style={{ backgroundColor: '#F7F9FC', border: '1px solid #D6DCE5', borderRadius: 6, padding: '9px 16px' }}&gt;&#13;&#10;                &lt;Text style={{ fontSize: 18, color: '#1A2230', lineHeight: 1.45 }}&gt;&lt;b&gt;输入&lt;/b&gt;　新帧图像 ＋ 已收下的历史关键帧库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做法&lt;/b&gt;　MegaLoc 输出 4096 维描述子；与库内全部描述子算余弦相似度，排序取前 20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输出&lt;/b&gt;　20 个候选帧（只是“像”，还不保证几何对得上）&lt;/Text&gt;&#13;&#10;            &lt;/Box&gt;&#13;&#10;            &lt;Box style={{ backgroundColor: '#F0F5FC', border: '1px solid #3D7BD9', borderRadius: 6, padding: '10px 16px', flexDirection: 'column' }}&gt;&#13;&#10;                &lt;Text style={{ fontSize: 18, color: '#1A2230', lineHeight: 1.45 }}&gt;&lt;b&gt;关键取值&lt;/b&gt;　K = 20 个候选　·　num_prev_keyframes_check = 20&lt;/Text&gt;&#13;&#10;                &lt;Text style={{ fontSize: 16, color: '#4A5568', lineHeight: 1.4, marginTop: 4 }}&gt;论文写 MixVPR，开源代码因许可换成 MegaLoc；两者都是“一帧 → 一个向量”&lt;/Text&gt;&#13;&#10;            &lt;/Box&gt;&#13;&#10;        &lt;/Box&gt;&#13;&#10;        &lt;Box style={{ width: 580, flexDirection: 'column' }}&gt;&#13;&#10;            &lt;Image src=&quot;figs/fig1_vpr.png&quot; style={{ width: 580, height: 362 }} /&gt;&#13;&#10;            &lt;Text style={{ fontSize: 14.5, color: '#8B97A8', marginTop: 5 }}&gt;图 1　检索与帧序无关：n 帧只做 n 次比对，不做 n² 次。&lt;/Text&gt;&#13;&#10;        &lt;/Box&gt;&#13;&#10;    &lt;/Box&gt;&#13;&#10;    &lt;Box style={{ margin: '12px 40px 0px 40px', backgroundColor: '#F7F9FC', borderLeft: '5px solid #1E4FA8', padding: '10px 18px', flexDirection: 'column' }}&gt;&#13;&#10;        &lt;Image src=&quot;formula/f05.png&quot; style={{ width: 149.5, height: 50.0 }} /&gt;&#13;&#10;        &lt;Text style={{ fontSize: 16.5, color: '#4A5568', lineHeight: 1.4, marginTop: 3 }}&gt;相似度只看外观、不看时间——乱序输入在这里第一次被“原谅”；代价 ≈ 1 ms / 1000 对，是整条链里最便宜的一步。&lt;/Text&gt;&#13;&#10;    &lt;/Box&gt;&#13;&#10;    &lt;Box style={{ marginTop: 'auto', padding: '10px 40px 12px 40px' }}&gt;&#13;&#10;        &lt;Text style={{ fontSize: 15, color: '#8B97A8' }}&gt;治的是“乱”：不再假设新帧只和上一帧有关，而是和全部历史都有关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3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44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62865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全局检索：先不问“在哪”，只问“像不像”</a:t>
            </a:r>
            <a:endParaRPr/>
          </a:p>
        </p:txBody>
      </p:sp>
      <p:sp>
        <p:nvSpPr>
          <p:cNvPr id="345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05 / 15</a:t>
            </a:r>
            <a:endParaRPr/>
          </a:p>
        </p:txBody>
      </p:sp>
      <p:sp>
        <p:nvSpPr>
          <p:cNvPr id="346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每来一个关键帧，先用一个全局描述子和全部历史帧比一次，取出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个“可能同处”的候选——这一步完全不看拍摄顺序。</a:t>
            </a:r>
            <a:endParaRPr/>
          </a:p>
        </p:txBody>
      </p:sp>
      <p:sp>
        <p:nvSpPr>
          <p:cNvPr id="347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48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新帧图像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已收下的历史关键帧库</a:t>
            </a:r>
            <a:endParaRPr/>
          </a:p>
        </p:txBody>
      </p:sp>
      <p:sp>
        <p:nvSpPr>
          <p:cNvPr id="349" name=""/>
          <p:cNvSpPr/>
          <p:nvPr/>
        </p:nvSpPr>
        <p:spPr>
          <a:xfrm rot="0" flipH="0" flipV="0">
            <a:off x="381000" y="18192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50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MegaLoc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4096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维描述子；与库内全部描述子算余弦相似度，排序取前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</a:t>
            </a:r>
            <a:endParaRPr/>
          </a:p>
        </p:txBody>
      </p:sp>
      <p:sp>
        <p:nvSpPr>
          <p:cNvPr id="351" name=""/>
          <p:cNvSpPr/>
          <p:nvPr/>
        </p:nvSpPr>
        <p:spPr>
          <a:xfrm rot="0" flipH="0" flipV="0">
            <a:off x="381000" y="26955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52" name="" descr="{&quot;isTemplate&quot;:true,&quot;type&quot;:&quot;text&quot;}"/>
          <p:cNvSpPr txBox="1"/>
          <p:nvPr/>
        </p:nvSpPr>
        <p:spPr>
          <a:xfrm rot="0" flipH="0" flipV="0">
            <a:off x="533400" y="27813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个候选帧（只是“像”，还不保证几何对得上）</a:t>
            </a:r>
            <a:endParaRPr/>
          </a:p>
        </p:txBody>
      </p:sp>
      <p:sp>
        <p:nvSpPr>
          <p:cNvPr id="353" name=""/>
          <p:cNvSpPr/>
          <p:nvPr/>
        </p:nvSpPr>
        <p:spPr>
          <a:xfrm rot="0" flipH="0" flipV="0">
            <a:off x="381000" y="3276600"/>
            <a:ext cx="5715000" cy="1047750"/>
          </a:xfrm>
          <a:prstGeom prst="roundRect">
            <a:avLst>
              <a:gd name="adj" fmla="val 5455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354" name="" descr="{&quot;isTemplate&quot;:true,&quot;type&quot;:&quot;text&quot;}"/>
          <p:cNvSpPr txBox="1"/>
          <p:nvPr/>
        </p:nvSpPr>
        <p:spPr>
          <a:xfrm rot="0" flipH="0" flipV="0">
            <a:off x="533400" y="337185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K =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　·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num_prev_keyframes_check = 20</a:t>
            </a:r>
            <a:endParaRPr/>
          </a:p>
        </p:txBody>
      </p:sp>
      <p:sp>
        <p:nvSpPr>
          <p:cNvPr id="355" name="" descr="{&quot;isTemplate&quot;:true,&quot;type&quot;:&quot;text&quot;}"/>
          <p:cNvSpPr txBox="1"/>
          <p:nvPr/>
        </p:nvSpPr>
        <p:spPr>
          <a:xfrm rot="0" flipH="0" flipV="0">
            <a:off x="533400" y="3714750"/>
            <a:ext cx="541020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论文写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MixVPR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，开源代码因许可换成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MegaLoc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；两者都是“一帧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一个向量”</a:t>
            </a:r>
            <a:endParaRPr/>
          </a:p>
        </p:txBody>
      </p:sp>
      <p:pic>
        <p:nvPicPr>
          <p:cNvPr id="356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357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检索与帧序无关：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n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帧只做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n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次比对，不做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n²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次。</a:t>
            </a:r>
            <a:endParaRPr/>
          </a:p>
        </p:txBody>
      </p:sp>
      <p:sp>
        <p:nvSpPr>
          <p:cNvPr id="358" name=""/>
          <p:cNvSpPr/>
          <p:nvPr/>
        </p:nvSpPr>
        <p:spPr>
          <a:xfrm rot="0" flipH="0" flipV="0">
            <a:off x="428625" y="5019675"/>
            <a:ext cx="11430000" cy="96202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59" name=""/>
          <p:cNvSpPr/>
          <p:nvPr/>
        </p:nvSpPr>
        <p:spPr>
          <a:xfrm rot="0" flipH="0" flipV="0">
            <a:off x="381000" y="5019675"/>
            <a:ext cx="11477625" cy="962025"/>
          </a:xfrm>
          <a:custGeom>
            <a:pathLst>
              <a:path w="1205" h="101">
                <a:moveTo>
                  <a:pt x="0" y="0"/>
                </a:moveTo>
                <a:lnTo>
                  <a:pt x="5" y="0"/>
                </a:lnTo>
                <a:lnTo>
                  <a:pt x="5" y="101"/>
                </a:lnTo>
                <a:lnTo>
                  <a:pt x="0" y="101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360" name=""/>
          <p:cNvPicPr>
            <a:picLocks noChangeAspect="1"/>
          </p:cNvPicPr>
          <p:nvPr/>
        </p:nvPicPr>
        <p:blipFill>
          <a:blip r:embed="rId2"/>
          <a:srcRect l="0" t="166" r="0" b="166"/>
          <a:stretch>
            <a:fillRect/>
          </a:stretch>
        </p:blipFill>
        <p:spPr>
          <a:xfrm rot="0" flipH="0" flipV="0">
            <a:off x="600075" y="5114925"/>
            <a:ext cx="1428750" cy="476250"/>
          </a:xfrm>
          <a:prstGeom prst="rect">
            <a:avLst/>
          </a:prstGeom>
          <a:ln/>
        </p:spPr>
      </p:pic>
      <p:sp>
        <p:nvSpPr>
          <p:cNvPr id="361" name="" descr="{&quot;isTemplate&quot;:true,&quot;type&quot;:&quot;text&quot;}"/>
          <p:cNvSpPr txBox="1"/>
          <p:nvPr/>
        </p:nvSpPr>
        <p:spPr>
          <a:xfrm rot="0" flipH="0" flipV="0">
            <a:off x="600075" y="5619750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相似度只看外观、不看时间——乱序输入在这里第一次被“原谅”；代价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≈ 1 ms / 1000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对，是整条链里最便宜的一步。</a:t>
            </a:r>
            <a:endParaRPr/>
          </a:p>
        </p:txBody>
      </p:sp>
      <p:sp>
        <p:nvSpPr>
          <p:cNvPr id="362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治的是“乱”：不再假设新帧只和上一帧有关，而是和全部历史都有关。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63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6px 40px 0px 40px', flexDirection: 'row', justifyContent: 'space-between', alignItems: 'flex-end' }}&gt;&#13;&#10;        &lt;Text style={{ fontSize: 33, fontWeight: 'bold', color: '#1E4FA8' }}&gt;局部粗筛：砍掉“看着像、其实没对上”的候选&lt;/Text&gt;&#13;&#10;        &lt;Text style={{ fontSize: 15, color: '#8B97A8' }}&gt;06 / 15&lt;/Text&gt;&#13;&#10;    &lt;/Box&gt;&#13;&#10;    &lt;Box style={{ padding: '8px 40px 0px 40px' }}&gt;&#13;&#10;        &lt;Text style={{ fontSize: 20, color: '#4A5568', lineHeight: 1.4 }}&gt;对 20 个候选各跑一次轻量局部匹配，按能对上的关键点数排序，只把前 5 个留给精确匹配。&lt;/Text&gt;&#13;&#10;    &lt;/Box&gt;&#13;&#10;    &lt;Box style={{ padding: '14px 40px 0px 40px', flexDirection: 'row', gap: 20 }}&gt;&#13;&#10;        &lt;Box style={{ width: 600, flexDirection: 'column', gap: 11 }}&gt;&#13;&#10;            &lt;Box style={{ backgroundColor: '#F7F9FC', border: '1px solid #D6DCE5', borderRadius: 6, padding: '9px 16px' }}&gt;&#13;&#10;                &lt;Text style={{ fontSize: 18, color: '#1A2230', lineHeight: 1.45 }}&gt;&lt;b&gt;输入&lt;/b&gt;　① 给出的 20 个候选帧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做法&lt;/b&gt;　XFeat 提稀疏关键点，只比坐标一致性，得到内点对数 |M_ij|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输出&lt;/b&gt;　5 个候选（外观像 ＋ 确实对上了点）&lt;/Text&gt;&#13;&#10;            &lt;/Box&gt;&#13;&#10;            &lt;Box style={{ backgroundColor: '#F0F5FC', border: '1px solid #3D7BD9', borderRadius: 6, padding: '10px 16px', flexDirection: 'column' }}&gt;&#13;&#10;                &lt;Text style={{ fontSize: 18, color: '#1A2230', lineHeight: 1.45 }}&gt;&lt;b&gt;关键取值&lt;/b&gt;　保留 K′ = 5 个　·　约 0.5 ms / 对&lt;/Text&gt;&#13;&#10;                &lt;Text style={{ fontSize: 16, color: '#4A5568', lineHeight: 1.4, marginTop: 4 }}&gt;这一步故意用“便宜但粗糙”的特征：它的任务只是排序，不是定论&lt;/Text&gt;&#13;&#10;            &lt;/Box&gt;&#13;&#10;        &lt;/Box&gt;&#13;&#10;        &lt;Box style={{ width: 580, flexDirection: 'column' }}&gt;&#13;&#10;            &lt;Image src=&quot;figs/fig2_xfeat.png&quot; style={{ width: 580, height: 362 }} /&gt;&#13;&#10;            &lt;Text style={{ fontSize: 14.5, color: '#8B97A8', marginTop: 5 }}&gt;图 2　20 个候选按内点数排序，只有前 5 个进入下一级。&lt;/Text&gt;&#13;&#10;        &lt;/Box&gt;&#13;&#10;    &lt;/Box&gt;&#13;&#10;    &lt;Box style={{ margin: '12px 40px 0px 40px', backgroundColor: '#F7F9FC', borderLeft: '5px solid #1E4FA8', padding: '10px 18px', flexDirection: 'column' }}&gt;&#13;&#10;        &lt;Image src=&quot;formula/f06.png&quot; style={{ width: 197.5, height: 30.5 }} /&gt;&#13;&#10;        &lt;Text style={{ fontSize: 16.5, color: '#4A5568', lineHeight: 1.4, marginTop: 3 }}&gt;淘汰的正是纯外观检索的典型假阳性：两个角落都“长得像窗台”，但一个点都对不上。&lt;/Text&gt;&#13;&#10;    &lt;/Box&gt;&#13;&#10;    &lt;Box style={{ marginTop: 'auto', padding: '10px 40px 12px 40px' }}&gt;&#13;&#10;        &lt;Text style={{ fontSize: 15, color: '#8B97A8' }}&gt;三级串联的意义：候选集 1000 → 20 → 5 → 1，贵的操作只作用在极小的集合上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66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66008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局部粗筛：砍掉“看着像、其实没对上”的候选</a:t>
            </a:r>
            <a:endParaRPr/>
          </a:p>
        </p:txBody>
      </p:sp>
      <p:sp>
        <p:nvSpPr>
          <p:cNvPr id="367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06 / 15</a:t>
            </a:r>
            <a:endParaRPr/>
          </a:p>
        </p:txBody>
      </p:sp>
      <p:sp>
        <p:nvSpPr>
          <p:cNvPr id="368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对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个候选各跑一次轻量局部匹配，按能对上的关键点数排序，只把前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个留给精确匹配。</a:t>
            </a:r>
            <a:endParaRPr/>
          </a:p>
        </p:txBody>
      </p:sp>
      <p:sp>
        <p:nvSpPr>
          <p:cNvPr id="369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70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①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给出的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个候选帧</a:t>
            </a:r>
            <a:endParaRPr/>
          </a:p>
        </p:txBody>
      </p:sp>
      <p:sp>
        <p:nvSpPr>
          <p:cNvPr id="371" name=""/>
          <p:cNvSpPr/>
          <p:nvPr/>
        </p:nvSpPr>
        <p:spPr>
          <a:xfrm rot="0" flipH="0" flipV="0">
            <a:off x="381000" y="18192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72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XFeat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提稀疏关键点，只比坐标一致性，得到内点对数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|M_ij|</a:t>
            </a:r>
            <a:endParaRPr/>
          </a:p>
        </p:txBody>
      </p:sp>
      <p:sp>
        <p:nvSpPr>
          <p:cNvPr id="373" name=""/>
          <p:cNvSpPr/>
          <p:nvPr/>
        </p:nvSpPr>
        <p:spPr>
          <a:xfrm rot="0" flipH="0" flipV="0">
            <a:off x="381000" y="240030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74" name="" descr="{&quot;isTemplate&quot;:true,&quot;type&quot;:&quot;text&quot;}"/>
          <p:cNvSpPr txBox="1"/>
          <p:nvPr/>
        </p:nvSpPr>
        <p:spPr>
          <a:xfrm rot="0" flipH="0" flipV="0">
            <a:off x="533400" y="248602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5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个候选（外观像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确实对上了点）</a:t>
            </a:r>
            <a:endParaRPr/>
          </a:p>
        </p:txBody>
      </p:sp>
      <p:sp>
        <p:nvSpPr>
          <p:cNvPr id="375" name=""/>
          <p:cNvSpPr/>
          <p:nvPr/>
        </p:nvSpPr>
        <p:spPr>
          <a:xfrm rot="0" flipH="0" flipV="0">
            <a:off x="381000" y="2981325"/>
            <a:ext cx="5715000" cy="790575"/>
          </a:xfrm>
          <a:prstGeom prst="roundRect">
            <a:avLst>
              <a:gd name="adj" fmla="val 722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376" name="" descr="{&quot;isTemplate&quot;:true,&quot;type&quot;:&quot;text&quot;}"/>
          <p:cNvSpPr txBox="1"/>
          <p:nvPr/>
        </p:nvSpPr>
        <p:spPr>
          <a:xfrm rot="0" flipH="0" flipV="0">
            <a:off x="533400" y="30765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保留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K′ = 5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　·　约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0.5 ms /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对</a:t>
            </a:r>
            <a:endParaRPr/>
          </a:p>
        </p:txBody>
      </p:sp>
      <p:sp>
        <p:nvSpPr>
          <p:cNvPr id="377" name="" descr="{&quot;isTemplate&quot;:true,&quot;type&quot;:&quot;text&quot;}"/>
          <p:cNvSpPr txBox="1"/>
          <p:nvPr/>
        </p:nvSpPr>
        <p:spPr>
          <a:xfrm rot="0" flipH="0" flipV="0">
            <a:off x="533400" y="3419475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这一步故意用“便宜但粗糙”的特征：它的任务只是排序，不是定论</a:t>
            </a:r>
            <a:endParaRPr/>
          </a:p>
        </p:txBody>
      </p:sp>
      <p:pic>
        <p:nvPicPr>
          <p:cNvPr id="378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379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2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20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个候选按内点数排序，只有前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个进入下一级。</a:t>
            </a:r>
            <a:endParaRPr/>
          </a:p>
        </p:txBody>
      </p:sp>
      <p:sp>
        <p:nvSpPr>
          <p:cNvPr id="380" name=""/>
          <p:cNvSpPr/>
          <p:nvPr/>
        </p:nvSpPr>
        <p:spPr>
          <a:xfrm rot="0" flipH="0" flipV="0">
            <a:off x="428625" y="5019675"/>
            <a:ext cx="11430000" cy="7810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81" name=""/>
          <p:cNvSpPr/>
          <p:nvPr/>
        </p:nvSpPr>
        <p:spPr>
          <a:xfrm rot="0" flipH="0" flipV="0">
            <a:off x="381000" y="5019675"/>
            <a:ext cx="11477625" cy="781050"/>
          </a:xfrm>
          <a:custGeom>
            <a:pathLst>
              <a:path w="1205" h="82">
                <a:moveTo>
                  <a:pt x="0" y="0"/>
                </a:moveTo>
                <a:lnTo>
                  <a:pt x="5" y="0"/>
                </a:lnTo>
                <a:lnTo>
                  <a:pt x="5" y="82"/>
                </a:lnTo>
                <a:lnTo>
                  <a:pt x="0" y="8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382" name=""/>
          <p:cNvPicPr>
            <a:picLocks noChangeAspect="1"/>
          </p:cNvPicPr>
          <p:nvPr/>
        </p:nvPicPr>
        <p:blipFill>
          <a:blip r:embed="rId2"/>
          <a:srcRect l="681" t="0" r="681" b="0"/>
          <a:stretch>
            <a:fillRect/>
          </a:stretch>
        </p:blipFill>
        <p:spPr>
          <a:xfrm rot="0" flipH="0" flipV="0">
            <a:off x="600075" y="5114925"/>
            <a:ext cx="1885950" cy="295275"/>
          </a:xfrm>
          <a:prstGeom prst="rect">
            <a:avLst/>
          </a:prstGeom>
          <a:ln/>
        </p:spPr>
      </p:pic>
      <p:sp>
        <p:nvSpPr>
          <p:cNvPr id="383" name="" descr="{&quot;isTemplate&quot;:true,&quot;type&quot;:&quot;text&quot;}"/>
          <p:cNvSpPr txBox="1"/>
          <p:nvPr/>
        </p:nvSpPr>
        <p:spPr>
          <a:xfrm rot="0" flipH="0" flipV="0">
            <a:off x="600075" y="5438775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淘汰的正是纯外观检索的典型假阳性：两个角落都“长得像窗台”，但一个点都对不上。</a:t>
            </a:r>
            <a:endParaRPr/>
          </a:p>
        </p:txBody>
      </p:sp>
      <p:sp>
        <p:nvSpPr>
          <p:cNvPr id="384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三级串联的意义：候选集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1000 → 20 → 5 → 1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，贵的操作只作用在极小的集合上。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85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6px 40px 0px 40px', flexDirection: 'row', justifyContent: 'space-between', alignItems: 'flex-end' }}&gt;&#13;&#10;        &lt;Text style={{ fontSize: 33, fontWeight: 'bold', color: '#1E4FA8' }}&gt;精确验证：通过才建边，边就是后面一切判断的依据&lt;/Text&gt;&#13;&#10;        &lt;Text style={{ fontSize: 15, color: '#8B97A8' }}&gt;07 / 15&lt;/Text&gt;&#13;&#10;    &lt;/Box&gt;&#13;&#10;    &lt;Box style={{ padding: '8px 40px 0px 40px' }}&gt;&#13;&#10;        &lt;Text style={{ fontSize: 20, color: '#4A5568', lineHeight: 1.4 }}&gt;对 5 个候选跑 LightGlue 精确配对，RANSAC 剔除外点，内点数超过 500 才写进协视图。&lt;/Text&gt;&#13;&#10;    &lt;/Box&gt;&#13;&#10;    &lt;Box style={{ padding: '14px 40px 0px 40px', flexDirection: 'row', gap: 20 }}&gt;&#13;&#10;        &lt;Box style={{ width: 600, flexDirection: 'column', gap: 11 }}&gt;&#13;&#10;            &lt;Box style={{ backgroundColor: '#F7F9FC', border: '1px solid #D6DCE5', borderRadius: 6, padding: '9px 16px' }}&gt;&#13;&#10;                &lt;Text style={{ fontSize: 18, color: '#1A2230', lineHeight: 1.45 }}&gt;&lt;b&gt;输入&lt;/b&gt;　② 留下的 5 个候选帧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做法&lt;/b&gt;　LightGlue 精确配对 ＋ RANSAC 剔外点；内点数 |M_ij| 即“这条边有多可信”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输出&lt;/b&gt;　加权协视图 G = (M, E, W)，边权 w_ij = 1/|M_ij|&lt;/Text&gt;&#13;&#10;            &lt;/Box&gt;&#13;&#10;            &lt;Box style={{ backgroundColor: '#F0F5FC', border: '1px solid #3D7BD9', borderRadius: 6, padding: '10px 16px', flexDirection: 'column' }}&gt;&#13;&#10;                &lt;Text style={{ fontSize: 18, color: '#1A2230', lineHeight: 1.45 }}&gt;&lt;b&gt;关键取值&lt;/b&gt;　τ_m = 500 内点　·　min_matches_edge = 500&lt;/Text&gt;&#13;&#10;                &lt;Text style={{ fontSize: 16, color: '#4A5568', lineHeight: 1.4, marginTop: 4 }}&gt;边权取内点数倒数：内点越多边越短，于是图上“最短路”= 最可靠的位姿链&lt;/Text&gt;&#13;&#10;            &lt;/Box&gt;&#13;&#10;        &lt;/Box&gt;&#13;&#10;        &lt;Box style={{ width: 580, flexDirection: 'column' }}&gt;&#13;&#10;            &lt;Image src=&quot;figs/fig3_lightglue.png&quot; style={{ width: 580, height: 362 }} /&gt;&#13;&#10;            &lt;Text style={{ fontSize: 14.5, color: '#8B97A8', marginTop: 5 }}&gt;图 3　绿=内点、红叉=被 RANSAC 剔除；通过的帧对才成为图上的一条边。&lt;/Text&gt;&#13;&#10;        &lt;/Box&gt;&#13;&#10;    &lt;/Box&gt;&#13;&#10;    &lt;Box style={{ margin: '12px 40px 0px 40px', backgroundColor: '#F7F9FC', borderLeft: '5px solid #1E4FA8', padding: '10px 18px', flexDirection: 'column' }}&gt;&#13;&#10;        &lt;Image src=&quot;formula/f07.png&quot; style={{ width: 498.0, height: 30.5 }} /&gt;&#13;&#10;        &lt;Text style={{ fontSize: 16.5, color: '#4A5568', lineHeight: 1.4, marginTop: 3 }}&gt;这是全链唯一产生“共视约束”的地方——后面所有位姿都由这些点对推出来，边建错，后面全歪。&lt;/Text&gt;&#13;&#10;    &lt;/Box&gt;&#13;&#10;    &lt;Box style={{ marginTop: 'auto', padding: '10px 40px 12px 40px' }}&gt;&#13;&#10;        &lt;Text style={{ fontSize: 15, color: '#8B97A8' }}&gt;到这一步为止，一张图还没解；但“谁和谁能一起算”已经确定下来了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7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88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722947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精确验证：通过才建边，边就是后面一切判断的依据</a:t>
            </a:r>
            <a:endParaRPr/>
          </a:p>
        </p:txBody>
      </p:sp>
      <p:sp>
        <p:nvSpPr>
          <p:cNvPr id="389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07 / 15</a:t>
            </a:r>
            <a:endParaRPr/>
          </a:p>
        </p:txBody>
      </p:sp>
      <p:sp>
        <p:nvSpPr>
          <p:cNvPr id="390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对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个候选跑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LightGlue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精确配对，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RANSAC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剔除外点，内点数超过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才写进协视图。</a:t>
            </a:r>
            <a:endParaRPr/>
          </a:p>
        </p:txBody>
      </p:sp>
      <p:sp>
        <p:nvSpPr>
          <p:cNvPr id="391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92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②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留下的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个候选帧</a:t>
            </a:r>
            <a:endParaRPr/>
          </a:p>
        </p:txBody>
      </p:sp>
      <p:sp>
        <p:nvSpPr>
          <p:cNvPr id="393" name=""/>
          <p:cNvSpPr/>
          <p:nvPr/>
        </p:nvSpPr>
        <p:spPr>
          <a:xfrm rot="0" flipH="0" flipV="0">
            <a:off x="381000" y="18192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94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LightGlue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精确配对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RANSAC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剔外点；内点数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|M_ij|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即“这条边有多可信”</a:t>
            </a:r>
            <a:endParaRPr/>
          </a:p>
        </p:txBody>
      </p:sp>
      <p:sp>
        <p:nvSpPr>
          <p:cNvPr id="395" name=""/>
          <p:cNvSpPr/>
          <p:nvPr/>
        </p:nvSpPr>
        <p:spPr>
          <a:xfrm rot="0" flipH="0" flipV="0">
            <a:off x="381000" y="26955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396" name="" descr="{&quot;isTemplate&quot;:true,&quot;type&quot;:&quot;text&quot;}"/>
          <p:cNvSpPr txBox="1"/>
          <p:nvPr/>
        </p:nvSpPr>
        <p:spPr>
          <a:xfrm rot="0" flipH="0" flipV="0">
            <a:off x="533400" y="27813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加权协视图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 = (M, E, W)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，边权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w_ij = 1/|M_ij|</a:t>
            </a:r>
            <a:endParaRPr/>
          </a:p>
        </p:txBody>
      </p:sp>
      <p:sp>
        <p:nvSpPr>
          <p:cNvPr id="397" name=""/>
          <p:cNvSpPr/>
          <p:nvPr/>
        </p:nvSpPr>
        <p:spPr>
          <a:xfrm rot="0" flipH="0" flipV="0">
            <a:off x="381000" y="3276600"/>
            <a:ext cx="5715000" cy="790575"/>
          </a:xfrm>
          <a:prstGeom prst="roundRect">
            <a:avLst>
              <a:gd name="adj" fmla="val 722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398" name="" descr="{&quot;isTemplate&quot;:true,&quot;type&quot;:&quot;text&quot;}"/>
          <p:cNvSpPr txBox="1"/>
          <p:nvPr/>
        </p:nvSpPr>
        <p:spPr>
          <a:xfrm rot="0" flipH="0" flipV="0">
            <a:off x="533400" y="337185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_m = 500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内点　·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min_matches_edge = 500</a:t>
            </a:r>
            <a:endParaRPr/>
          </a:p>
        </p:txBody>
      </p:sp>
      <p:sp>
        <p:nvSpPr>
          <p:cNvPr id="399" name="" descr="{&quot;isTemplate&quot;:true,&quot;type&quot;:&quot;text&quot;}"/>
          <p:cNvSpPr txBox="1"/>
          <p:nvPr/>
        </p:nvSpPr>
        <p:spPr>
          <a:xfrm rot="0" flipH="0" flipV="0">
            <a:off x="533400" y="3714750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边权取内点数倒数：内点越多边越短，于是图上“最短路”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=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最可靠的位姿链</a:t>
            </a:r>
            <a:endParaRPr/>
          </a:p>
        </p:txBody>
      </p:sp>
      <p:pic>
        <p:nvPicPr>
          <p:cNvPr id="400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401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3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绿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>=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内点、红叉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>=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被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RANSAC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剔除；通过的帧对才成为图上的一条边。</a:t>
            </a:r>
            <a:endParaRPr/>
          </a:p>
        </p:txBody>
      </p:sp>
      <p:sp>
        <p:nvSpPr>
          <p:cNvPr id="402" name=""/>
          <p:cNvSpPr/>
          <p:nvPr/>
        </p:nvSpPr>
        <p:spPr>
          <a:xfrm rot="0" flipH="0" flipV="0">
            <a:off x="428625" y="5019675"/>
            <a:ext cx="11430000" cy="7810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03" name=""/>
          <p:cNvSpPr/>
          <p:nvPr/>
        </p:nvSpPr>
        <p:spPr>
          <a:xfrm rot="0" flipH="0" flipV="0">
            <a:off x="381000" y="5019675"/>
            <a:ext cx="11477625" cy="781050"/>
          </a:xfrm>
          <a:custGeom>
            <a:pathLst>
              <a:path w="1205" h="82">
                <a:moveTo>
                  <a:pt x="0" y="0"/>
                </a:moveTo>
                <a:lnTo>
                  <a:pt x="5" y="0"/>
                </a:lnTo>
                <a:lnTo>
                  <a:pt x="5" y="82"/>
                </a:lnTo>
                <a:lnTo>
                  <a:pt x="0" y="8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04" name=""/>
          <p:cNvPicPr>
            <a:picLocks noChangeAspect="1"/>
          </p:cNvPicPr>
          <p:nvPr/>
        </p:nvPicPr>
        <p:blipFill>
          <a:blip r:embed="rId2"/>
          <a:srcRect l="806" t="0" r="806" b="0"/>
          <a:stretch>
            <a:fillRect/>
          </a:stretch>
        </p:blipFill>
        <p:spPr>
          <a:xfrm rot="0" flipH="0" flipV="0">
            <a:off x="600075" y="5114925"/>
            <a:ext cx="4743450" cy="295275"/>
          </a:xfrm>
          <a:prstGeom prst="rect">
            <a:avLst/>
          </a:prstGeom>
          <a:ln/>
        </p:spPr>
      </p:pic>
      <p:sp>
        <p:nvSpPr>
          <p:cNvPr id="405" name="" descr="{&quot;isTemplate&quot;:true,&quot;type&quot;:&quot;text&quot;}"/>
          <p:cNvSpPr txBox="1"/>
          <p:nvPr/>
        </p:nvSpPr>
        <p:spPr>
          <a:xfrm rot="0" flipH="0" flipV="0">
            <a:off x="600075" y="5438775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这是全链唯一产生“共视约束”的地方——后面所有位姿都由这些点对推出来，边建错，后面全歪。</a:t>
            </a:r>
            <a:endParaRPr/>
          </a:p>
        </p:txBody>
      </p:sp>
      <p:sp>
        <p:nvSpPr>
          <p:cNvPr id="406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到这一步为止，一张图还没解；但“谁和谁能一起算”已经确定下来了。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07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6px 40px 0px 40px', flexDirection: 'row', justifyContent: 'space-between', alignItems: 'flex-end' }}&gt;&#13;&#10;        &lt;Text style={{ fontSize: 33, fontWeight: 'bold', color: '#1E4FA8' }}&gt;选窗：从图里挑出最该一起优化的 20 帧&lt;/Text&gt;&#13;&#10;        &lt;Text style={{ fontSize: 15, color: '#8B97A8' }}&gt;08 / 15&lt;/Text&gt;&#13;&#10;    &lt;/Box&gt;&#13;&#10;    &lt;Box style={{ padding: '8px 40px 0px 40px' }}&gt;&#13;&#10;        &lt;Text style={{ fontSize: 20, color: '#4A5568', lineHeight: 1.4 }}&gt;不是“最近 20 帧”，而是“和当前集合连接最强的那个”——一次加一个，贪心扩张到 20 个。&lt;/Text&gt;&#13;&#10;    &lt;/Box&gt;&#13;&#10;    &lt;Box style={{ padding: '14px 40px 0px 40px', flexDirection: 'row', gap: 20 }}&gt;&#13;&#10;        &lt;Box style={{ width: 600, flexDirection: 'column', gap: 11 }}&gt;&#13;&#10;            &lt;Box style={{ backgroundColor: '#F7F9FC', border: '1px solid #D6DCE5', borderRadius: 6, padding: '9px 16px' }}&gt;&#13;&#10;                &lt;Text style={{ fontSize: 18, color: '#1A2230', lineHeight: 1.45 }}&gt;&lt;b&gt;输入&lt;/b&gt;　③ 更新后的加权协视图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做法&lt;/b&gt;　每步选“与已选集合累计内点数最大”的节点加入，直到凑满 N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输出&lt;/b&gt;　局部 BA 的变量集合 S（这一步只决定“算谁”，不动数值）&lt;/Text&gt;&#13;&#10;            &lt;/Box&gt;&#13;&#10;            &lt;Box style={{ backgroundColor: '#F0F5FC', border: '1px solid #3D7BD9', borderRadius: 6, padding: '10px 16px', flexDirection: 'column' }}&gt;&#13;&#10;                &lt;Text style={{ fontSize: 18, color: '#1A2230', lineHeight: 1.45 }}&gt;&lt;b&gt;关键取值&lt;/b&gt;　N = 20 帧　·　num_prev_keyframes_miniba_incr = 5&lt;/Text&gt;&#13;&#10;                &lt;Text style={{ fontSize: 16, color: '#4A5568', lineHeight: 1.4, marginTop: 4 }}&gt;每个节点平均只有约 10 条边，所以一次 argmax 的开销可以忽略&lt;/Text&gt;&#13;&#10;            &lt;/Box&gt;&#13;&#10;        &lt;/Box&gt;&#13;&#10;        &lt;Box style={{ width: 580, flexDirection: 'column' }}&gt;&#13;&#10;            &lt;Image src=&quot;figs/fig4_window.png&quot; style={{ width: 580, height: 362 }} /&gt;&#13;&#10;            &lt;Text style={{ fontSize: 14.5, color: '#8B97A8', marginTop: 5 }}&gt;图 4　实心=已选，红圈=本轮 argmax；贪心比全局最优便宜得多。&lt;/Text&gt;&#13;&#10;        &lt;/Box&gt;&#13;&#10;    &lt;/Box&gt;&#13;&#10;    &lt;Box style={{ margin: '12px 40px 0px 40px', backgroundColor: '#F7F9FC', borderLeft: '5px solid #1E4FA8', padding: '10px 18px', flexDirection: 'column' }}&gt;&#13;&#10;        &lt;Image src=&quot;formula/f08.png&quot; style={{ width: 437.0, height: 67.5 }} /&gt;&#13;&#10;        &lt;Text style={{ fontSize: 16.5, color: '#4A5568', lineHeight: 1.4, marginTop: 3 }}&gt;消融 NoKFSelection：PSNR 26.29 → 24.56 dB。选窗比匹配本身更影响最终质量——窗选错，后面怎么优化都救不回。&lt;/Text&gt;&#13;&#10;    &lt;/Box&gt;&#13;&#10;    &lt;Box style={{ marginTop: 'auto', padding: '10px 40px 12px 40px' }}&gt;&#13;&#10;        &lt;Text style={{ fontSize: 15, color: '#8B97A8' }}&gt;前四步合起来只回答一件事：哪些帧该放到同一张桌子上一起算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0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0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5610225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选窗：从图里挑出最该一起优化的</a:t>
            </a:r>
            <a:r>
              <a:rPr lang="en-US" sz="247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411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08 / 15</a:t>
            </a:r>
            <a:endParaRPr/>
          </a:p>
        </p:txBody>
      </p:sp>
      <p:sp>
        <p:nvSpPr>
          <p:cNvPr id="412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不是“最近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帧”，而是“和当前集合连接最强的那个”——一次加一个，贪心扩张到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个。</a:t>
            </a:r>
            <a:endParaRPr/>
          </a:p>
        </p:txBody>
      </p:sp>
      <p:sp>
        <p:nvSpPr>
          <p:cNvPr id="413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14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③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更新后的加权协视图</a:t>
            </a:r>
            <a:endParaRPr/>
          </a:p>
        </p:txBody>
      </p:sp>
      <p:sp>
        <p:nvSpPr>
          <p:cNvPr id="415" name=""/>
          <p:cNvSpPr/>
          <p:nvPr/>
        </p:nvSpPr>
        <p:spPr>
          <a:xfrm rot="0" flipH="0" flipV="0">
            <a:off x="381000" y="18192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16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每步选“与已选集合累计内点数最大”的节点加入，直到凑满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N</a:t>
            </a:r>
            <a:endParaRPr/>
          </a:p>
        </p:txBody>
      </p:sp>
      <p:sp>
        <p:nvSpPr>
          <p:cNvPr id="417" name=""/>
          <p:cNvSpPr/>
          <p:nvPr/>
        </p:nvSpPr>
        <p:spPr>
          <a:xfrm rot="0" flipH="0" flipV="0">
            <a:off x="381000" y="240030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18" name="" descr="{&quot;isTemplate&quot;:true,&quot;type&quot;:&quot;text&quot;}"/>
          <p:cNvSpPr txBox="1"/>
          <p:nvPr/>
        </p:nvSpPr>
        <p:spPr>
          <a:xfrm rot="0" flipH="0" flipV="0">
            <a:off x="533400" y="248602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局部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的变量集合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（这一步只决定“算谁”，不动数值）</a:t>
            </a:r>
            <a:endParaRPr/>
          </a:p>
        </p:txBody>
      </p:sp>
      <p:sp>
        <p:nvSpPr>
          <p:cNvPr id="419" name=""/>
          <p:cNvSpPr/>
          <p:nvPr/>
        </p:nvSpPr>
        <p:spPr>
          <a:xfrm rot="0" flipH="0" flipV="0">
            <a:off x="381000" y="2981325"/>
            <a:ext cx="5715000" cy="790575"/>
          </a:xfrm>
          <a:prstGeom prst="roundRect">
            <a:avLst>
              <a:gd name="adj" fmla="val 722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20" name="" descr="{&quot;isTemplate&quot;:true,&quot;type&quot;:&quot;text&quot;}"/>
          <p:cNvSpPr txBox="1"/>
          <p:nvPr/>
        </p:nvSpPr>
        <p:spPr>
          <a:xfrm rot="0" flipH="0" flipV="0">
            <a:off x="533400" y="30765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N =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　·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num_prev_keyframes_miniba_incr = 5</a:t>
            </a:r>
            <a:endParaRPr/>
          </a:p>
        </p:txBody>
      </p:sp>
      <p:sp>
        <p:nvSpPr>
          <p:cNvPr id="421" name="" descr="{&quot;isTemplate&quot;:true,&quot;type&quot;:&quot;text&quot;}"/>
          <p:cNvSpPr txBox="1"/>
          <p:nvPr/>
        </p:nvSpPr>
        <p:spPr>
          <a:xfrm rot="0" flipH="0" flipV="0">
            <a:off x="533400" y="3419475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每个节点平均只有约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条边，所以一次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argmax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的开销可以忽略</a:t>
            </a:r>
            <a:endParaRPr/>
          </a:p>
        </p:txBody>
      </p:sp>
      <p:pic>
        <p:nvPicPr>
          <p:cNvPr id="422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423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4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实心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>=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已选，红圈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>=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本轮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argmax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；贪心比全局最优便宜得多。</a:t>
            </a:r>
            <a:endParaRPr/>
          </a:p>
        </p:txBody>
      </p:sp>
      <p:sp>
        <p:nvSpPr>
          <p:cNvPr id="424" name=""/>
          <p:cNvSpPr/>
          <p:nvPr/>
        </p:nvSpPr>
        <p:spPr>
          <a:xfrm rot="0" flipH="0" flipV="0">
            <a:off x="428625" y="5019675"/>
            <a:ext cx="11430000" cy="11334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25" name=""/>
          <p:cNvSpPr/>
          <p:nvPr/>
        </p:nvSpPr>
        <p:spPr>
          <a:xfrm rot="0" flipH="0" flipV="0">
            <a:off x="381000" y="5019675"/>
            <a:ext cx="11477625" cy="1133475"/>
          </a:xfrm>
          <a:custGeom>
            <a:pathLst>
              <a:path w="1205" h="119">
                <a:moveTo>
                  <a:pt x="0" y="0"/>
                </a:moveTo>
                <a:lnTo>
                  <a:pt x="5" y="0"/>
                </a:lnTo>
                <a:lnTo>
                  <a:pt x="5" y="119"/>
                </a:lnTo>
                <a:lnTo>
                  <a:pt x="0" y="119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26" name=""/>
          <p:cNvPicPr>
            <a:picLocks noChangeAspect="1"/>
          </p:cNvPicPr>
          <p:nvPr/>
        </p:nvPicPr>
        <p:blipFill>
          <a:blip r:embed="rId2"/>
          <a:srcRect l="367" t="0" r="367" b="0"/>
          <a:stretch>
            <a:fillRect/>
          </a:stretch>
        </p:blipFill>
        <p:spPr>
          <a:xfrm rot="0" flipH="0" flipV="0">
            <a:off x="600075" y="5114925"/>
            <a:ext cx="4162425" cy="647700"/>
          </a:xfrm>
          <a:prstGeom prst="rect">
            <a:avLst/>
          </a:prstGeom>
          <a:ln/>
        </p:spPr>
      </p:pic>
      <p:sp>
        <p:nvSpPr>
          <p:cNvPr id="427" name="" descr="{&quot;isTemplate&quot;:true,&quot;type&quot;:&quot;text&quot;}"/>
          <p:cNvSpPr txBox="1"/>
          <p:nvPr/>
        </p:nvSpPr>
        <p:spPr>
          <a:xfrm rot="0" flipH="0" flipV="0">
            <a:off x="600075" y="5791200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消融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NoKFSelection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：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>PSNR 26.29 → 24.56 dB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。选窗比匹配本身更影响最终质量——窗选错，后面怎么优化都救不回。</a:t>
            </a:r>
            <a:endParaRPr/>
          </a:p>
        </p:txBody>
      </p:sp>
      <p:sp>
        <p:nvSpPr>
          <p:cNvPr id="428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前四步合起来只回答一件事：哪些帧该放到同一张桌子上一起算。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429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6px 40px 0px 40px', flexDirection: 'row', justifyContent: 'space-between', alignItems: 'flex-end' }}&gt;&#13;&#10;        &lt;Text style={{ fontSize: 33, fontWeight: 'bold', color: '#1E4FA8' }}&gt;局部 BA：真正把位姿解出来的唯一一步&lt;/Text&gt;&#13;&#10;        &lt;Text style={{ fontSize: 15, color: '#8B97A8' }}&gt;09 / 15&lt;/Text&gt;&#13;&#10;    &lt;/Box&gt;&#13;&#10;    &lt;Box style={{ padding: '8px 40px 0px 40px' }}&gt;&#13;&#10;        &lt;Text style={{ fontSize: 20, color: '#4A5568', lineHeight: 1.4 }}&gt;在选出的 20 帧上解一次带鲁棒核的最小二乘，用 Schur 补把问题压到“只解相机”。&lt;/Text&gt;&#13;&#10;    &lt;/Box&gt;&#13;&#10;    &lt;Box style={{ padding: '14px 40px 0px 40px', flexDirection: 'row', gap: 20 }}&gt;&#13;&#10;        &lt;Box style={{ width: 600, flexDirection: 'column', gap: 11 }}&gt;&#13;&#10;            &lt;Box style={{ backgroundColor: '#F7F9FC', border: '1px solid #D6DCE5', borderRadius: 6, padding: '9px 16px' }}&gt;&#13;&#10;                &lt;Text style={{ fontSize: 18, color: '#1A2230', lineHeight: 1.45 }}&gt;&lt;b&gt;输入&lt;/b&gt;　S 内 20 个关键帧 ＋ 约 1 万路标点（按被观测次数采样）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做法&lt;/b&gt;　LM 迭代：残差 = 重投影误差；构造正规方程后做稠密 Schur 消元，Cholesky 解相机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输出&lt;/b&gt;　相机位姿 T_i 与三维路标点 X_j —— 重建本体&lt;/Text&gt;&#13;&#10;            &lt;/Box&gt;&#13;&#10;            &lt;Box style={{ backgroundColor: '#F0F5FC', border: '1px solid #3D7BD9', borderRadius: 6, padding: '10px 16px', flexDirection: 'column' }}&gt;&#13;&#10;                &lt;Text style={{ fontSize: 18, color: '#1A2230', lineHeight: 1.45 }}&gt;&lt;b&gt;关键取值&lt;/b&gt;　N = 20、K ≈ 1e4　·　LM 阻尼按 mul_(1 + lm) 自适应&lt;/Text&gt;&#13;&#10;                &lt;Text style={{ fontSize: 16, color: '#4A5568', lineHeight: 1.4, marginTop: 4 }}&gt;每个路标只允许被协视性选出的固定子集观测，避免观测数随帧数二次增长&lt;/Text&gt;&#13;&#10;            &lt;/Box&gt;&#13;&#10;        &lt;/Box&gt;&#13;&#10;        &lt;Box style={{ width: 580, flexDirection: 'column' }}&gt;&#13;&#10;            &lt;Image src=&quot;figs/fig5_ba.png&quot; style={{ width: 580, height: 362 }} /&gt;&#13;&#10;            &lt;Text style={{ fontSize: 14.5, color: '#8B97A8', marginTop: 5 }}&gt;图 5　二部图求解 + 分块矩阵：C 对角可逐点求逆，B 稀疏只解相机。&lt;/Text&gt;&#13;&#10;        &lt;/Box&gt;&#13;&#10;    &lt;/Box&gt;&#13;&#10;    &lt;Box style={{ margin: '12px 40px 0px 40px', backgroundColor: '#F7F9FC', borderLeft: '5px solid #1E4FA8', padding: '10px 18px', flexDirection: 'column' }}&gt;&#13;&#10;        &lt;Image src=&quot;formula/f09.png&quot; style={{ width: 596.5, height: 55.5 }} /&gt;&#13;&#10;        &lt;Text style={{ fontSize: 16.5, color: '#4A5568', lineHeight: 1.4, marginTop: 3 }}&gt;SLAM 通常只用 5 帧时间窗；这里用 20 帧并把核函数写到 GPU 上，比 g2o / CUDA-BA 快约 5 倍。&lt;/Text&gt;&#13;&#10;    &lt;/Box&gt;&#13;&#10;    &lt;Box style={{ marginTop: 'auto', padding: '10px 40px 12px 40px' }}&gt;&#13;&#10;        &lt;Text style={{ fontSize: 15, color: '#8B97A8' }}&gt;前四步是“准备”，第六步是“纠错”，只有这一步在解——位姿重建真正发生在这里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32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558165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局部</a:t>
            </a:r>
            <a:r>
              <a:rPr lang="en-US" sz="247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：真正把位姿解出来的唯一一步</a:t>
            </a:r>
            <a:endParaRPr/>
          </a:p>
        </p:txBody>
      </p:sp>
      <p:sp>
        <p:nvSpPr>
          <p:cNvPr id="433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09 / 15</a:t>
            </a:r>
            <a:endParaRPr/>
          </a:p>
        </p:txBody>
      </p:sp>
      <p:sp>
        <p:nvSpPr>
          <p:cNvPr id="434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在选出的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帧上解一次带鲁棒核的最小二乘，用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补把问题压到“只解相机”。</a:t>
            </a:r>
            <a:endParaRPr/>
          </a:p>
        </p:txBody>
      </p:sp>
      <p:sp>
        <p:nvSpPr>
          <p:cNvPr id="435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36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S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内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个关键帧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约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万路标点（按被观测次数采样）</a:t>
            </a:r>
            <a:endParaRPr/>
          </a:p>
        </p:txBody>
      </p:sp>
      <p:sp>
        <p:nvSpPr>
          <p:cNvPr id="437" name=""/>
          <p:cNvSpPr/>
          <p:nvPr/>
        </p:nvSpPr>
        <p:spPr>
          <a:xfrm rot="0" flipH="0" flipV="0">
            <a:off x="381000" y="18192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38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迭代：残差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重投影误差；构造正规方程后做稠密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Schur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消元，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Cholesky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解相机</a:t>
            </a:r>
            <a:endParaRPr/>
          </a:p>
        </p:txBody>
      </p:sp>
      <p:sp>
        <p:nvSpPr>
          <p:cNvPr id="439" name=""/>
          <p:cNvSpPr/>
          <p:nvPr/>
        </p:nvSpPr>
        <p:spPr>
          <a:xfrm rot="0" flipH="0" flipV="0">
            <a:off x="381000" y="26955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0" name="" descr="{&quot;isTemplate&quot;:true,&quot;type&quot;:&quot;text&quot;}"/>
          <p:cNvSpPr txBox="1"/>
          <p:nvPr/>
        </p:nvSpPr>
        <p:spPr>
          <a:xfrm rot="0" flipH="0" flipV="0">
            <a:off x="533400" y="27813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相机位姿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T_i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与三维路标点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X_j ——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重建本体</a:t>
            </a:r>
            <a:endParaRPr/>
          </a:p>
        </p:txBody>
      </p:sp>
      <p:sp>
        <p:nvSpPr>
          <p:cNvPr id="441" name=""/>
          <p:cNvSpPr/>
          <p:nvPr/>
        </p:nvSpPr>
        <p:spPr>
          <a:xfrm rot="0" flipH="0" flipV="0">
            <a:off x="381000" y="3276600"/>
            <a:ext cx="5715000" cy="790575"/>
          </a:xfrm>
          <a:prstGeom prst="roundRect">
            <a:avLst>
              <a:gd name="adj" fmla="val 7229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442" name="" descr="{&quot;isTemplate&quot;:true,&quot;type&quot;:&quot;text&quot;}"/>
          <p:cNvSpPr txBox="1"/>
          <p:nvPr/>
        </p:nvSpPr>
        <p:spPr>
          <a:xfrm rot="0" flipH="0" flipV="0">
            <a:off x="533400" y="337185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N = 20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、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K ≈ 1e4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·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阻尼按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mul_(1 + lm)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自适应</a:t>
            </a:r>
            <a:endParaRPr/>
          </a:p>
        </p:txBody>
      </p:sp>
      <p:sp>
        <p:nvSpPr>
          <p:cNvPr id="443" name="" descr="{&quot;isTemplate&quot;:true,&quot;type&quot;:&quot;text&quot;}"/>
          <p:cNvSpPr txBox="1"/>
          <p:nvPr/>
        </p:nvSpPr>
        <p:spPr>
          <a:xfrm rot="0" flipH="0" flipV="0">
            <a:off x="533400" y="3714750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每个路标只允许被协视性选出的固定子集观测，避免观测数随帧数二次增长</a:t>
            </a:r>
            <a:endParaRPr/>
          </a:p>
        </p:txBody>
      </p:sp>
      <p:pic>
        <p:nvPicPr>
          <p:cNvPr id="444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445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5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二部图求解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分块矩阵：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C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对角可逐点求逆，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B 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稀疏只解相机。</a:t>
            </a:r>
            <a:endParaRPr/>
          </a:p>
        </p:txBody>
      </p:sp>
      <p:sp>
        <p:nvSpPr>
          <p:cNvPr id="446" name=""/>
          <p:cNvSpPr/>
          <p:nvPr/>
        </p:nvSpPr>
        <p:spPr>
          <a:xfrm rot="0" flipH="0" flipV="0">
            <a:off x="428625" y="5019675"/>
            <a:ext cx="11430000" cy="10191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447" name=""/>
          <p:cNvSpPr/>
          <p:nvPr/>
        </p:nvSpPr>
        <p:spPr>
          <a:xfrm rot="0" flipH="0" flipV="0">
            <a:off x="381000" y="5019675"/>
            <a:ext cx="11477625" cy="1019175"/>
          </a:xfrm>
          <a:custGeom>
            <a:pathLst>
              <a:path w="1205" h="107">
                <a:moveTo>
                  <a:pt x="0" y="0"/>
                </a:moveTo>
                <a:lnTo>
                  <a:pt x="5" y="0"/>
                </a:lnTo>
                <a:lnTo>
                  <a:pt x="5" y="107"/>
                </a:lnTo>
                <a:lnTo>
                  <a:pt x="0" y="107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448" name=""/>
          <p:cNvPicPr>
            <a:picLocks noChangeAspect="1"/>
          </p:cNvPicPr>
          <p:nvPr/>
        </p:nvPicPr>
        <p:blipFill>
          <a:blip r:embed="rId2"/>
          <a:srcRect l="404" t="0" r="404" b="0"/>
          <a:stretch>
            <a:fillRect/>
          </a:stretch>
        </p:blipFill>
        <p:spPr>
          <a:xfrm rot="0" flipH="0" flipV="0">
            <a:off x="600075" y="5114925"/>
            <a:ext cx="5686425" cy="533400"/>
          </a:xfrm>
          <a:prstGeom prst="rect">
            <a:avLst/>
          </a:prstGeom>
          <a:ln/>
        </p:spPr>
      </p:pic>
      <p:sp>
        <p:nvSpPr>
          <p:cNvPr id="449" name="" descr="{&quot;isTemplate&quot;:true,&quot;type&quot;:&quot;text&quot;}"/>
          <p:cNvSpPr txBox="1"/>
          <p:nvPr/>
        </p:nvSpPr>
        <p:spPr>
          <a:xfrm rot="0" flipH="0" flipV="0">
            <a:off x="600075" y="5676900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SLAM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通常只用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帧时间窗；这里用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帧并把核函数写到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GPU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上，比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g2o / CUDA-BA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快约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倍。</a:t>
            </a:r>
            <a:endParaRPr/>
          </a:p>
        </p:txBody>
      </p:sp>
      <p:sp>
        <p:nvSpPr>
          <p:cNvPr id="450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前四步是“准备”，第六步是“纠错”，只有这一步在解——位姿重建真正发生在这里。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3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6px 40px 0px 40px', flexDirection: 'row', justifyContent: 'space-between', alignItems: 'flex-end' }}&gt;&#13;&#10;        &lt;Text style={{ fontSize: 33, fontWeight: 'bold', color: '#1E4FA8' }}&gt;回环修正：判定“两簇其实重叠”，再把修正摊回全图&lt;/Text&gt;&#13;&#10;        &lt;Text style={{ fontSize: 15, color: '#8B97A8' }}&gt;10 / 15&lt;/Text&gt;&#13;&#10;    &lt;/Box&gt;&#13;&#10;    &lt;Box style={{ padding: '8px 40px 0px 40px' }}&gt;&#13;&#10;        &lt;Text style={{ fontSize: 20, color: '#4A5568', lineHeight: 1.4 }}&gt;不重跑全局 BA：用一次焊接窗口 BA 求出 Sim(3)，再沿主干路径按测地距离插值摊开。&lt;/Text&gt;&#13;&#10;    &lt;/Box&gt;&#13;&#10;    &lt;Box style={{ padding: '14px 40px 0px 40px', flexDirection: 'row', gap: 20 }}&gt;&#13;&#10;        &lt;Box style={{ width: 600, flexDirection: 'column', gap: 11 }}&gt;&#13;&#10;            &lt;Box style={{ backgroundColor: '#F7F9FC', border: '1px solid #D6DCE5', borderRadius: 6, padding: '9px 16px' }}&gt;&#13;&#10;                &lt;Text style={{ fontSize: 18, color: '#1A2230', lineHeight: 1.45 }}&gt;&lt;b&gt;输入&lt;/b&gt;　新边让两簇之间突然出现跨簇匹配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判定&lt;/b&gt;　加权图距 &amp;#62; 10（min_loop_size）且跨簇有效匹配对 &amp;#62; 2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做法&lt;/b&gt;　两簇各扩 N/2 帧做焊接 BA 得相对变换，深度变化估尺度 → Sim(3)；Dijkstra 找主干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输出&lt;/b&gt;　全图位姿与高斯的同一份 Sim(3) 修正（高斯整棵子树跟着出生帧走）&lt;/Text&gt;&#13;&#10;            &lt;/Box&gt;&#13;&#10;            &lt;Box style={{ backgroundColor: '#F0F5FC', border: '1px solid #3D7BD9', borderRadius: 6, padding: '10px 16px', flexDirection: 'column' }}&gt;&#13;&#10;                &lt;Text style={{ fontSize: 18, color: '#1A2230', lineHeight: 1.45 }}&gt;&lt;b&gt;关键取值&lt;/b&gt;　min_loop_size = 10（加权图距）　·　焊接窗口两簇各扩 N/2 帧&lt;/Text&gt;&#13;&#10;                &lt;Text style={{ fontSize: 16, color: '#4A5568', lineHeight: 1.4, marginTop: 4 }}&gt;论文原文写“跳数 &amp;#62; 5”，按开源代码默认值应为加权图距 &amp;#62; 10&lt;/Text&gt;&#13;&#10;            &lt;/Box&gt;&#13;&#10;        &lt;/Box&gt;&#13;&#10;        &lt;Box style={{ width: 580, flexDirection: 'column' }}&gt;&#13;&#10;            &lt;Image src=&quot;figs/fig6_loop.png&quot; style={{ width: 580, height: 362 }} /&gt;&#13;&#10;            &lt;Text style={{ fontSize: 14.5, color: '#8B97A8', marginTop: 5 }}&gt;图 6　左：两簇间的加权图距就是回环判据；右：修正沿主干按距离摊开。&lt;/Text&gt;&#13;&#10;        &lt;/Box&gt;&#13;&#10;    &lt;/Box&gt;&#13;&#10;    &lt;Box style={{ margin: '12px 40px 0px 40px', backgroundColor: '#F7F9FC', borderLeft: '5px solid #1E4FA8', padding: '10px 18px', flexDirection: 'column' }}&gt;&#13;&#10;        &lt;Image src=&quot;formula/f10.png&quot; style={{ width: 375.0, height: 30.5 }} /&gt;&#13;&#10;        &lt;Text style={{ fontSize: 16.5, color: '#4A5568', lineHeight: 1.4, marginTop: 3 }}&gt;用“图上的距离”替换“全局优化的解”：牺牲一点精度，把回环代价从“再跑一次全局 BA”降到近似线性。&lt;/Text&gt;&#13;&#10;    &lt;/Box&gt;&#13;&#10;    &lt;Box style={{ marginTop: 'auto', padding: '10px 40px 12px 40px' }}&gt;&#13;&#10;        &lt;Text style={{ fontSize: 15, color: '#8B97A8' }}&gt;这是全文最值得借鉴的工程取舍——不追求最优解，追求“够用且算得起”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75438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回环修正：判定“两簇其实重叠”，再把修正摊回全图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10 / 15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不重跑全局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：用一次焊接窗口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求出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Sim(3)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，再沿主干路径按测地距离插值摊开。</a:t>
            </a:r>
            <a:endParaRPr/>
          </a:p>
        </p:txBody>
      </p:sp>
      <p:sp>
        <p:nvSpPr>
          <p:cNvPr id="19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新边让两簇之间突然出现跨簇匹配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381000" y="1819275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判定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加权图距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10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min_loop_size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）且跨簇有效匹配对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2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381000" y="2400300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533400" y="2486025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两簇各扩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N/2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帧做焊接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得相对变换，深度变化估尺度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Sim(3)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；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Dijkstra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找主干</a:t>
            </a:r>
            <a:endParaRPr/>
          </a:p>
        </p:txBody>
      </p:sp>
      <p:sp>
        <p:nvSpPr>
          <p:cNvPr id="25" name=""/>
          <p:cNvSpPr/>
          <p:nvPr/>
        </p:nvSpPr>
        <p:spPr>
          <a:xfrm rot="0" flipH="0" flipV="0">
            <a:off x="381000" y="3276600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533400" y="3362325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全图位姿与高斯的同一份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Sim(3)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修正（高斯整棵子树跟着出生帧走）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381000" y="4152900"/>
            <a:ext cx="5715000" cy="1085850"/>
          </a:xfrm>
          <a:prstGeom prst="roundRect">
            <a:avLst>
              <a:gd name="adj" fmla="val 5263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533400" y="424815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min_loop_size = 10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（加权图距）　·　焊接窗口两簇各扩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N/2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533400" y="4886325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论文原文写“跳数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&gt; 5”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，按开源代码默认值应为加权图距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&gt; 10</a:t>
            </a:r>
            <a:endParaRPr/>
          </a:p>
        </p:txBody>
      </p:sp>
      <p:pic>
        <p:nvPicPr>
          <p:cNvPr id="30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6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左：两簇间的加权图距就是回环判据；右：修正沿主干按距离摊开。</a:t>
            </a:r>
            <a:endParaRPr/>
          </a:p>
        </p:txBody>
      </p:sp>
      <p:sp>
        <p:nvSpPr>
          <p:cNvPr id="32" name=""/>
          <p:cNvSpPr/>
          <p:nvPr/>
        </p:nvSpPr>
        <p:spPr>
          <a:xfrm rot="0" flipH="0" flipV="0">
            <a:off x="428625" y="5353050"/>
            <a:ext cx="11430000" cy="7810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33" name=""/>
          <p:cNvSpPr/>
          <p:nvPr/>
        </p:nvSpPr>
        <p:spPr>
          <a:xfrm rot="0" flipH="0" flipV="0">
            <a:off x="381000" y="5353050"/>
            <a:ext cx="11477625" cy="781050"/>
          </a:xfrm>
          <a:custGeom>
            <a:pathLst>
              <a:path w="1205" h="82">
                <a:moveTo>
                  <a:pt x="0" y="0"/>
                </a:moveTo>
                <a:lnTo>
                  <a:pt x="5" y="0"/>
                </a:lnTo>
                <a:lnTo>
                  <a:pt x="5" y="82"/>
                </a:lnTo>
                <a:lnTo>
                  <a:pt x="0" y="82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34" name=""/>
          <p:cNvPicPr>
            <a:picLocks noChangeAspect="1"/>
          </p:cNvPicPr>
          <p:nvPr/>
        </p:nvPicPr>
        <p:blipFill>
          <a:blip r:embed="rId2"/>
          <a:srcRect l="806" t="0" r="806" b="0"/>
          <a:stretch>
            <a:fillRect/>
          </a:stretch>
        </p:blipFill>
        <p:spPr>
          <a:xfrm rot="0" flipH="0" flipV="0">
            <a:off x="600075" y="5448300"/>
            <a:ext cx="3571875" cy="295275"/>
          </a:xfrm>
          <a:prstGeom prst="rect">
            <a:avLst/>
          </a:prstGeom>
          <a:ln/>
        </p:spPr>
      </p:pic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600075" y="5772150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用“图上的距离”替换“全局优化的解”：牺牲一点精度，把回环代价从“再跑一次全局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BA”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降到近似线性。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这是全文最值得借鉴的工程取舍——不追求最优解，追求“够用且算得起”。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37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26px 40px 0px 40px', flexDirection: 'row', justifyContent: 'space-between', alignItems: 'flex-end' }}&gt;&#13;&#10;        &lt;Text style={{ fontSize: 33, fontWeight: 'bold', color: '#1E4FA8' }}&gt;落位：先把深度对齐，再按屏幕尺寸压成层级&lt;/Text&gt;&#13;&#10;        &lt;Text style={{ fontSize: 15, color: '#8B97A8' }}&gt;11 / 15&lt;/Text&gt;&#13;&#10;    &lt;/Box&gt;&#13;&#10;    &lt;Box style={{ padding: '8px 40px 0px 40px' }}&gt;&#13;&#10;        &lt;Text style={{ fontSize: 20, color: '#4A5568', lineHeight: 1.4 }}&gt;位姿定下来之后才投放高斯：分块估深度尺度与偏移，再把屏幕上看不见的小高斯合并掉。&lt;/Text&gt;&#13;&#10;    &lt;/Box&gt;&#13;&#10;    &lt;Box style={{ padding: '14px 40px 0px 40px', flexDirection: 'row', gap: 20 }}&gt;&#13;&#10;        &lt;Box style={{ width: 600, flexDirection: 'column', gap: 11 }}&gt;&#13;&#10;            &lt;Box style={{ backgroundColor: '#F7F9FC', border: '1px solid #D6DCE5', borderRadius: 6, padding: '9px 16px' }}&gt;&#13;&#10;                &lt;Text style={{ fontSize: 18, color: '#1A2230', lineHeight: 1.45 }}&gt;&lt;b&gt;输入&lt;/b&gt;　位姿 ＋ 三角化稀疏点 ＋ 单目深度（Depth Anything 3）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做法&lt;/b&gt;　图像切 4×4 块，每块单独拟合 s、o 再插值上采样；层级按屏幕投影尺寸合并&lt;/Text&gt;&#13;&#10;            &lt;/Box&gt;&#13;&#10;            &lt;Box style={{ backgroundColor: '#F7F9FC', border: '1px solid #D6DCE5', borderRadius: 6, padding: '9px 16px' }}&gt;&#13;&#10;                &lt;Text style={{ fontSize: 18, color: '#1A2230', lineHeight: 1.45 }}&gt;&lt;b&gt;输出&lt;/b&gt;　每关键帧固定 30 次迭代的高斯优化；显存只留“看得见”的部分&lt;/Text&gt;&#13;&#10;            &lt;/Box&gt;&#13;&#10;            &lt;Box style={{ backgroundColor: '#F0F5FC', border: '1px solid #3D7BD9', borderRadius: 6, padding: '10px 16px', flexDirection: 'column' }}&gt;&#13;&#10;                &lt;Text style={{ fontSize: 18, color: '#1A2230', lineHeight: 1.45 }}&gt;&lt;b&gt;关键取值&lt;/b&gt;　depth_grid = 4　·　τ_l = 0.5 px　·　可并数 &amp;#62; max(10%, 20 万)&lt;/Text&gt;&#13;&#10;                &lt;Text style={{ fontSize: 16, color: '#4A5568', lineHeight: 1.4, marginTop: 4 }}&gt;hierarchy_merge_ratio = 0.1、hierarchy_merge_min_count = 200000&lt;/Text&gt;&#13;&#10;            &lt;/Box&gt;&#13;&#10;        &lt;/Box&gt;&#13;&#10;        &lt;Box style={{ width: 580, flexDirection: 'column' }}&gt;&#13;&#10;            &lt;Image src=&quot;figs/fig7_gauss.png&quot; style={{ width: 580, height: 362 }} /&gt;&#13;&#10;            &lt;Text style={{ fontSize: 14.5, color: '#8B97A8', marginTop: 5 }}&gt;图 7　左：分块深度对齐；右：叶节点按屏幕尺寸合并成父节点。&lt;/Text&gt;&#13;&#10;        &lt;/Box&gt;&#13;&#10;    &lt;/Box&gt;&#13;&#10;    &lt;Box style={{ margin: '12px 40px 0px 40px', backgroundColor: '#F7F9FC', borderLeft: '5px solid #1E4FA8', padding: '10px 18px', flexDirection: 'column' }}&gt;&#13;&#10;        &lt;Image src=&quot;formula/f11.png&quot; style={{ width: 408.5, height: 26.5 }} /&gt;&#13;&#10;        &lt;Text style={{ fontSize: 16.5, color: '#4A5568', lineHeight: 1.4, marginTop: 3 }}&gt;消融 NoLoDepAlgn：26.29 → 25.41 dB。层级只压显存、不改位姿，所以能安全放在链路末端。&lt;/Text&gt;&#13;&#10;    &lt;/Box&gt;&#13;&#10;    &lt;Box style={{ marginTop: 'auto', padding: '10px 40px 12px 40px' }}&gt;&#13;&#10;        &lt;Text style={{ fontSize: 15, color: '#8B97A8' }}&gt;7 步走完，一帧的贡献结束；下一个关键帧进来，从第 ① 步重新开始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381000" y="323850"/>
            <a:ext cx="6286500" cy="3810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75" b="1">
                <a:solidFill>
                  <a:srgbClr val="1E4FA8"/>
                </a:solidFill>
                <a:latin typeface="Microsoft YaHei"/>
                <a:ea typeface="Microsoft YaHei"/>
              </a:rPr>
              <a:t>落位：先把深度对齐，再按屏幕尺寸压成层级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11325225" y="533400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11 / 15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81000" y="781050"/>
            <a:ext cx="11430000" cy="32385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位姿定下来之后才投放高斯：分块估深度尺度与偏移，再把屏幕上看不见的小高斯合并掉。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381000" y="1238250"/>
            <a:ext cx="5715000" cy="476250"/>
          </a:xfrm>
          <a:prstGeom prst="roundRect">
            <a:avLst>
              <a:gd name="adj" fmla="val 12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533400" y="1323975"/>
            <a:ext cx="5410200" cy="304800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输入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位姿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三角化稀疏点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＋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单目深度（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Depth Anything 3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381000" y="18192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533400" y="19050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做法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图像切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4×4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块，每块单独拟合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s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、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o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再插值上采样；层级按屏幕投影尺寸合并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381000" y="2695575"/>
            <a:ext cx="5715000" cy="771525"/>
          </a:xfrm>
          <a:prstGeom prst="roundRect">
            <a:avLst>
              <a:gd name="adj" fmla="val 7407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533400" y="2781300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输出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每关键帧固定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次迭代的高斯优化；显存只留“看得见”的部分</a:t>
            </a:r>
            <a:endParaRPr/>
          </a:p>
        </p:txBody>
      </p:sp>
      <p:sp>
        <p:nvSpPr>
          <p:cNvPr id="49" name=""/>
          <p:cNvSpPr/>
          <p:nvPr/>
        </p:nvSpPr>
        <p:spPr>
          <a:xfrm rot="0" flipH="0" flipV="0">
            <a:off x="381000" y="3571875"/>
            <a:ext cx="5715000" cy="1085850"/>
          </a:xfrm>
          <a:prstGeom prst="roundRect">
            <a:avLst>
              <a:gd name="adj" fmla="val 5263"/>
            </a:avLst>
          </a:prstGeom>
          <a:solidFill>
            <a:srgbClr val="F0F5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/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533400" y="3667125"/>
            <a:ext cx="5410200" cy="600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关键取值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depth_grid = 4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·　τ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_l = 0.5 px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　·　可并数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 xml:space="preserve"> &gt; max(10%, 20 </a:t>
            </a:r>
            <a:r>
              <a:rPr lang="zh-CN" sz="1350">
                <a:solidFill>
                  <a:srgbClr val="1A2230"/>
                </a:solidFill>
                <a:latin typeface="Microsoft YaHei"/>
                <a:ea typeface="Microsoft YaHei"/>
              </a:rPr>
              <a:t>万</a:t>
            </a:r>
            <a:r>
              <a:rPr lang="en-US" sz="1350">
                <a:solidFill>
                  <a:srgbClr val="1A2230"/>
                </a:solidFill>
                <a:latin typeface="Microsoft YaHei"/>
                <a:ea typeface="Microsoft YaHei"/>
              </a:rPr>
              <a:t>)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533400" y="4305300"/>
            <a:ext cx="5410200" cy="2571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hierarchy_merge_ratio = 0.1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、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>hierarchy_merge_min_count = 200000</a:t>
            </a:r>
            <a:endParaRPr/>
          </a:p>
        </p:txBody>
      </p:sp>
      <p:pic>
        <p:nvPicPr>
          <p:cNvPr id="52" name=""/>
          <p:cNvPicPr>
            <a:picLocks noChangeAspect="1"/>
          </p:cNvPicPr>
          <p:nvPr/>
        </p:nvPicPr>
        <p:blipFill>
          <a:blip r:embed="rId1"/>
          <a:srcRect l="0" t="68" r="0" b="68"/>
          <a:stretch>
            <a:fillRect/>
          </a:stretch>
        </p:blipFill>
        <p:spPr>
          <a:xfrm rot="0" flipH="0" flipV="0">
            <a:off x="6286500" y="1238250"/>
            <a:ext cx="5524500" cy="3448050"/>
          </a:xfrm>
          <a:prstGeom prst="rect">
            <a:avLst/>
          </a:prstGeom>
          <a:ln/>
        </p:spPr>
      </p:pic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6286500" y="4733925"/>
            <a:ext cx="5524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图</a:t>
            </a:r>
            <a:r>
              <a:rPr lang="en-US" sz="1088">
                <a:solidFill>
                  <a:srgbClr val="8B97A8"/>
                </a:solidFill>
                <a:latin typeface="Microsoft YaHei"/>
                <a:ea typeface="Microsoft YaHei"/>
              </a:rPr>
              <a:t xml:space="preserve"> 7</a:t>
            </a:r>
            <a:r>
              <a:rPr lang="zh-CN" sz="1088">
                <a:solidFill>
                  <a:srgbClr val="8B97A8"/>
                </a:solidFill>
                <a:latin typeface="Microsoft YaHei"/>
                <a:ea typeface="Microsoft YaHei"/>
              </a:rPr>
              <a:t>　左：分块深度对齐；右：叶节点按屏幕尺寸合并成父节点。</a:t>
            </a:r>
            <a:endParaRPr/>
          </a:p>
        </p:txBody>
      </p:sp>
      <p:sp>
        <p:nvSpPr>
          <p:cNvPr id="54" name=""/>
          <p:cNvSpPr/>
          <p:nvPr/>
        </p:nvSpPr>
        <p:spPr>
          <a:xfrm rot="0" flipH="0" flipV="0">
            <a:off x="428625" y="5019675"/>
            <a:ext cx="11430000" cy="7429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55" name=""/>
          <p:cNvSpPr/>
          <p:nvPr/>
        </p:nvSpPr>
        <p:spPr>
          <a:xfrm rot="0" flipH="0" flipV="0">
            <a:off x="381000" y="5019675"/>
            <a:ext cx="11477625" cy="742950"/>
          </a:xfrm>
          <a:custGeom>
            <a:pathLst>
              <a:path w="1205" h="78">
                <a:moveTo>
                  <a:pt x="0" y="0"/>
                </a:moveTo>
                <a:lnTo>
                  <a:pt x="5" y="0"/>
                </a:lnTo>
                <a:lnTo>
                  <a:pt x="5" y="78"/>
                </a:lnTo>
                <a:lnTo>
                  <a:pt x="0" y="7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pic>
        <p:nvPicPr>
          <p:cNvPr id="56" name=""/>
          <p:cNvPicPr>
            <a:picLocks noChangeAspect="1"/>
          </p:cNvPicPr>
          <p:nvPr/>
        </p:nvPicPr>
        <p:blipFill>
          <a:blip r:embed="rId2"/>
          <a:srcRect l="865" t="0" r="865" b="0"/>
          <a:stretch>
            <a:fillRect/>
          </a:stretch>
        </p:blipFill>
        <p:spPr>
          <a:xfrm rot="0" flipH="0" flipV="0">
            <a:off x="600075" y="5114925"/>
            <a:ext cx="3895725" cy="257175"/>
          </a:xfrm>
          <a:prstGeom prst="rect">
            <a:avLst/>
          </a:prstGeom>
          <a:ln/>
        </p:spPr>
      </p:pic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600075" y="5400675"/>
            <a:ext cx="11039475" cy="266700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消融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 xml:space="preserve"> NoLoDepAlgn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：</a:t>
            </a:r>
            <a:r>
              <a:rPr lang="en-US" sz="1238">
                <a:solidFill>
                  <a:srgbClr val="4A5568"/>
                </a:solidFill>
                <a:latin typeface="Microsoft YaHei"/>
                <a:ea typeface="Microsoft YaHei"/>
              </a:rPr>
              <a:t>26.29 → 25.41 dB</a:t>
            </a:r>
            <a:r>
              <a:rPr lang="zh-CN" sz="1238">
                <a:solidFill>
                  <a:srgbClr val="4A5568"/>
                </a:solidFill>
                <a:latin typeface="Microsoft YaHei"/>
                <a:ea typeface="Microsoft YaHei"/>
              </a:rPr>
              <a:t>。层级只压显存、不改位姿，所以能安全放在链路末端。</a:t>
            </a:r>
            <a:endParaRPr/>
          </a:p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381000" y="6572250"/>
            <a:ext cx="11430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7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步走完，一帧的贡献结束；下一个关键帧进来，从第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①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步重新开始。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59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30px 40px 0px 40px', flexDirection: 'row', justifyContent: 'space-between', alignItems: 'flex-end' }}&gt;&#13;&#10;        &lt;Text style={{ fontSize: 34, fontWeight: 'bold', color: '#1E4FA8' }}&gt;论文实验：快一个数量级，只差 1–2 dB&lt;/Text&gt;&#13;&#10;        &lt;Text style={{ fontSize: 15, color: '#8B97A8' }}&gt;12 / 15&lt;/Text&gt;&#13;&#10;    &lt;/Box&gt;&#13;&#10;    &lt;Box style={{ padding: '18px 40px 0px 40px', flexDirection: 'column' }}&gt;&#13;&#10;        &lt;Box style={{ flexDirection: 'row', backgroundColor: '#1E4FA8', padding: '11px 14px' }}&gt;&#13;&#10;            &lt;Text style={{ flex: 1.5, fontSize: 19, fontWeight: 'bold', color: '#FFFFFF' }}&gt;数据集（有序）&lt;/Text&gt;&#13;&#10;            &lt;Text style={{ flex: 1.4, fontSize: 19, fontWeight: 'bold', color: '#FFFFFF' }}&gt;本方法 PSNR / 时间&lt;/Text&gt;&#13;&#10;            &lt;Text style={{ flex: 1.7, fontSize: 19, fontWeight: 'bold', color: '#FFFFFF' }}&gt;离线参考 GLOMAP+3DGS(7k)&lt;/Text&gt;&#13;&#10;            &lt;Text style={{ flex: 1.4, fontSize: 19, fontWeight: 'bold', color: '#FFFFFF' }}&gt;结论&lt;/Text&gt;&#13;&#10;        &lt;/Box&gt;&#13;&#10;        &lt;Box style={{ flexDirection: 'row', padding: '11px 14px', borderBottom: '1px solid #D6DCE5' }}&gt;&#13;&#10;            &lt;Text style={{ flex: 1.5, fontSize: 19, color: '#1A2230' }}&gt;TUM&lt;/Text&gt;&#13;&#10;            &lt;Text style={{ flex: 1.4, fontSize: 19, fontWeight: 'bold', color: '#1E4FA8' }}&gt;24.77 / 1:22&lt;/Text&gt;&#13;&#10;            &lt;Text style={{ flex: 1.7, fontSize: 19, color: '#1A2230' }}&gt;25.29 / 3:33&lt;/Text&gt;&#13;&#10;            &lt;Text style={{ flex: 1.4, fontSize: 19, color: '#1A2230' }}&gt;比 LongSplat 快约 75×&lt;/Text&gt;&#13;&#10;        &lt;/Box&gt;&#13;&#10;        &lt;Box style={{ flexDirection: 'row', padding: '11px 14px', backgroundColor: '#F7F9FC', borderBottom: '1px solid #D6DCE5' }}&gt;&#13;&#10;            &lt;Text style={{ flex: 1.5, fontSize: 19, color: '#1A2230' }}&gt;MipNeRF360&lt;/Text&gt;&#13;&#10;            &lt;Text style={{ flex: 1.4, fontSize: 19, fontWeight: 'bold', color: '#1E4FA8' }}&gt;26.29 / 1:17&lt;/Text&gt;&#13;&#10;            &lt;Text style={{ flex: 1.7, fontSize: 19, color: '#1A2230' }}&gt;27.52 / 8:50&lt;/Text&gt;&#13;&#10;            &lt;Text style={{ flex: 1.4, fontSize: 19, color: '#1A2230' }}&gt;快 6.9×，差 1.23 dB&lt;/Text&gt;&#13;&#10;        &lt;/Box&gt;&#13;&#10;        &lt;Box style={{ flexDirection: 'row', padding: '11px 14px', borderBottom: '1px solid #D6DCE5' }}&gt;&#13;&#10;            &lt;Text style={{ flex: 1.5, fontSize: 19, color: '#1A2230' }}&gt;StaticHikes&lt;/Text&gt;&#13;&#10;            &lt;Text style={{ flex: 1.4, fontSize: 19, fontWeight: 'bold', color: '#1E4FA8' }}&gt;22.12 / 2:14&lt;/Text&gt;&#13;&#10;            &lt;Text style={{ flex: 1.7, fontSize: 19, color: '#1A2230' }}&gt;20.23 / 1:02:34&lt;/Text&gt;&#13;&#10;            &lt;Text style={{ flex: 1.4, fontSize: 19, color: '#1A2230' }}&gt;质量反超离线&lt;/Text&gt;&#13;&#10;        &lt;/Box&gt;&#13;&#10;        &lt;Box style={{ flexDirection: 'row', padding: '11px 14px', backgroundColor: '#F7F9FC', borderBottom: '1px solid #D6DCE5' }}&gt;&#13;&#10;            &lt;Text style={{ flex: 1.5, fontSize: 19, color: '#1A2230' }}&gt;CityWalk（4050 帧）&lt;/Text&gt;&#13;&#10;            &lt;Text style={{ flex: 1.4, fontSize: 19, fontWeight: 'bold', color: '#1E4FA8' }}&gt;22.03 / 29:38&lt;/Text&gt;&#13;&#10;            &lt;Text style={{ flex: 1.7, fontSize: 19, color: '#1A2230' }}&gt;Octree-GS 17.33 / 3:11:40&lt;/Text&gt;&#13;&#10;            &lt;Text style={{ flex: 1.4, fontSize: 19, color: '#1A2230' }}&gt;大场景最优&lt;/Text&gt;&#13;&#10;        &lt;/Box&gt;&#13;&#10;    &lt;/Box&gt;&#13;&#10;    &lt;Box style={{ padding: '16px 40px 0px 40px', flexDirection: 'row', gap: 16 }}&gt;&#13;&#10;        &lt;Box style={{ flex: 1, backgroundColor: '#F0F5FC', borderRadius: 6, padding: '13px 16px', flexDirection: 'column' }}&gt;&#13;&#10;            &lt;Text style={{ fontSize: 36, fontWeight: 'bold', color: '#1E4FA8' }}&gt;0.5 dB&lt;/Text&gt;&#13;&#10;            &lt;Text style={{ fontSize: 19, color: '#1A2230', lineHeight: 1.45, marginTop: 4 }}&gt;输入顺序打乱后 PSNR 26.29 → 25.73，&quot;无序&quot;不是门槛&lt;/Text&gt;&#13;&#10;        &lt;/Box&gt;&#13;&#10;        &lt;Box style={{ flex: 1, backgroundColor: '#F0F5FC', borderRadius: 6, padding: '13px 16px', flexDirection: 'column' }}&gt;&#13;&#10;            &lt;Text style={{ fontSize: 36, fontWeight: 'bold', color: '#1E4FA8' }}&gt;8.5&lt;/Text&gt;&#13;&#10;            &lt;Text style={{ fontSize: 19, color: '#1A2230', lineHeight: 1.45, marginTop: 4 }}&gt;MipNeRF360 平移 APE（对比 Photo-SLAM 161+）&lt;/Text&gt;&#13;&#10;        &lt;/Box&gt;&#13;&#10;        &lt;Box style={{ flex: 1, backgroundColor: '#F0F5FC', borderRadius: 6, padding: '13px 16px', flexDirection: 'column' }}&gt;&#13;&#10;            &lt;Text style={{ fontSize: 36, fontWeight: 'bold', color: '#1E4FA8' }}&gt;324 ms&lt;/Text&gt;&#13;&#10;            &lt;Text style={{ fontSize: 19, color: '#1A2230', lineHeight: 1.45, marginTop: 4 }}&gt;MipNeRF360 平均每帧延迟，具备&quot;即时反馈&quot;资格&lt;/Text&gt;&#13;&#10;        &lt;/Box&gt;&#13;&#10;    &lt;/Box&gt;&#13;&#10;&#13;&#10;    &lt;Box style={{ padding: '18px 40px 0px 40px', flexDirection: 'column' }}&gt;&#13;&#10;        &lt;Box style={{ flexDirection: 'row', alignItems: 'flex-end', gap: 12 }}&gt;&#13;&#10;            &lt;Text style={{ fontSize: 22, fontWeight: 'bold', color: '#1E4FA8' }}&gt;消融：哪一步最不能省&lt;/Text&gt;&#13;&#10;            &lt;Text style={{ fontSize: 16, color: '#8B97A8' }}&gt;MipNeRF360 · PSNR（dB）· 横轴自 24 起，条越长越好&lt;/Text&gt;&#13;&#10;        &lt;/Box&gt;&#13;&#10;        &lt;Box style={{ flexDirection: 'row', alignItems: 'center', padding: '8px 0px 4px 0px' }}&gt;&#13;&#10;            &lt;Text style={{ width: 330, fontSize: 17, fontWeight: 'bold', color: '#1A2230' }}&gt;完整方法&lt;/Text&gt;&#13;&#10;            &lt;Box style={{ width: 568, height: 21, backgroundColor: '#1E4FA8', borderRadius: 2 }} /&gt;&#13;&#10;            &lt;Text style={{ fontSize: 17.5, fontWeight: 'bold', color: '#1E4FA8', marginLeft: 9 }}&gt;26.29&lt;/Text&gt;&#13;&#10;        &lt;/Box&gt;&#13;&#10;        &lt;Box style={{ flexDirection: 'row', alignItems: 'center', padding: '4px 0px' }}&gt;&#13;&#10;            &lt;Text style={{ width: 330, fontSize: 17, color: '#1A2230' }}&gt;不分块深度对齐（NoLoDepAlgn）&lt;/Text&gt;&#13;&#10;            &lt;Box style={{ width: 349, height: 21, backgroundColor: '#3D7BD9', borderRadius: 2 }} /&gt;&#13;&#10;            &lt;Text style={{ fontSize: 17.5, fontWeight: 'bold', color: '#1A2230', marginLeft: 9 }}&gt;25.41　&lt;Text style={{ fontSize: 15.5, color: '#D9534F' }}&gt;−0.88&lt;/Text&gt;&lt;/Text&gt;&#13;&#10;        &lt;/Box&gt;&#13;&#10;        &lt;Box style={{ flexDirection: 'row', alignItems: 'center', padding: '4px 0px' }}&gt;&#13;&#10;            &lt;Text style={{ width: 330, fontSize: 17, color: '#1A2230' }}&gt;去掉 VPR，只比相邻 5 帧&lt;/Text&gt;&#13;&#10;            &lt;Box style={{ width: 193, height: 21, backgroundColor: '#7FA5D8', borderRadius: 2 }} /&gt;&#13;&#10;            &lt;Text style={{ fontSize: 17.5, fontWeight: 'bold', color: '#1A2230', marginLeft: 9 }}&gt;24.78　&lt;Text style={{ fontSize: 15.5, color: '#D9534F' }}&gt;−1.51&lt;/Text&gt;&lt;/Text&gt;&#13;&#10;        &lt;/Box&gt;&#13;&#10;        &lt;Box style={{ flexDirection: 'row', alignItems: 'center', padding: '4px 0px' }}&gt;&#13;&#10;            &lt;Text style={{ width: 330, fontSize: 17, color: '#1A2230' }}&gt;优化窗改成&quot;最后 20 帧&quot;&lt;/Text&gt;&#13;&#10;            &lt;Box style={{ width: 139, height: 21, backgroundColor: '#A8BFE0', borderRadius: 2 }} /&gt;&#13;&#10;            &lt;Text style={{ fontSize: 17.5, fontWeight: 'bold', color: '#1A2230', marginLeft: 9 }}&gt;24.56　&lt;Text style={{ fontSize: 15.5, color: '#D9534F' }}&gt;−1.73&lt;/Text&gt;&lt;/Text&gt;&#13;&#10;        &lt;/Box&gt;&#13;&#10;    &lt;/Box&gt;&#13;&#10;&#13;&#10;    &lt;Box style={{ margin: '12px 40px 0px 40px', backgroundColor: '#F7F9FC', borderLeft: '5px solid #1E4FA8', padding: '9px 16px' }}&gt;&#13;&#10;        &lt;Text style={{ fontSize: 17, color: '#1A2230', lineHeight: 1.4 }}&gt;三处消融都掉 0.9–1.7 dB，但省下的时间远不止——这正是&quot;&lt;b&gt;先保实时、再谈精度&lt;/b&gt;&quot;的取舍证据；其中&lt;b&gt;选窗最贵&lt;/b&gt;，所以第 08 页把它单列一页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1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743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论文实验：快一个数量级，只差</a:t>
            </a: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 1–2 dB</a:t>
            </a:r>
            <a:endParaRPr/>
          </a:p>
        </p:txBody>
      </p:sp>
      <p:sp>
        <p:nvSpPr>
          <p:cNvPr id="63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12 / 15</a:t>
            </a:r>
            <a:endParaRPr/>
          </a:p>
        </p:txBody>
      </p:sp>
      <p:sp>
        <p:nvSpPr>
          <p:cNvPr id="64" name=""/>
          <p:cNvSpPr/>
          <p:nvPr/>
        </p:nvSpPr>
        <p:spPr>
          <a:xfrm rot="0" flipH="0" flipV="0">
            <a:off x="381000" y="923925"/>
            <a:ext cx="11430000" cy="428625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514350" y="1028700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数据集（有序）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3305175" y="1028700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本方法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PSNR / </a:t>
            </a: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时间</a:t>
            </a:r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5905500" y="1028700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离线参考</a:t>
            </a:r>
            <a:r>
              <a:rPr lang="en-US" sz="1425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GLOMAP+3DGS(7k)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9077325" y="1028700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FFFFFF"/>
                </a:solidFill>
                <a:latin typeface="Microsoft YaHei"/>
                <a:ea typeface="Microsoft YaHei"/>
              </a:rPr>
              <a:t>结论</a:t>
            </a:r>
            <a:endParaRPr/>
          </a:p>
        </p:txBody>
      </p:sp>
      <p:sp>
        <p:nvSpPr>
          <p:cNvPr id="69" name=""/>
          <p:cNvSpPr/>
          <p:nvPr/>
        </p:nvSpPr>
        <p:spPr>
          <a:xfrm rot="0" flipH="0" flipV="0">
            <a:off x="381000" y="135255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514350" y="145732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TUM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305175" y="14573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24.77 / 1:22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5905500" y="145732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25.29 / 3:33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9077325" y="14573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比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LongSplat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快约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75×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381000" y="1790700"/>
            <a:ext cx="11430000" cy="4381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75" name=""/>
          <p:cNvSpPr/>
          <p:nvPr/>
        </p:nvSpPr>
        <p:spPr>
          <a:xfrm rot="0" flipH="0" flipV="0">
            <a:off x="381000" y="179070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514350" y="189547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MipNeRF360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3305175" y="18954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26.29 / 1:17</a:t>
            </a:r>
            <a:endParaRPr/>
          </a:p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5905500" y="189547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27.52 / 8:50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9077325" y="18954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快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6.9×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，差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1.23 dB</a:t>
            </a:r>
            <a:endParaRPr/>
          </a:p>
        </p:txBody>
      </p:sp>
      <p:sp>
        <p:nvSpPr>
          <p:cNvPr id="80" name=""/>
          <p:cNvSpPr/>
          <p:nvPr/>
        </p:nvSpPr>
        <p:spPr>
          <a:xfrm rot="0" flipH="0" flipV="0">
            <a:off x="381000" y="222885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514350" y="233362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StaticHikes</a:t>
            </a:r>
            <a:endParaRPr/>
          </a:p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305175" y="23336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22.12 / 2:14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5905500" y="233362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20.23 / 1:02:34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9077325" y="233362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质量反超离线</a:t>
            </a:r>
            <a:endParaRPr/>
          </a:p>
        </p:txBody>
      </p:sp>
      <p:sp>
        <p:nvSpPr>
          <p:cNvPr id="85" name=""/>
          <p:cNvSpPr/>
          <p:nvPr/>
        </p:nvSpPr>
        <p:spPr>
          <a:xfrm rot="0" flipH="0" flipV="0">
            <a:off x="381000" y="2667000"/>
            <a:ext cx="11430000" cy="438150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86" name=""/>
          <p:cNvSpPr/>
          <p:nvPr/>
        </p:nvSpPr>
        <p:spPr>
          <a:xfrm rot="0" flipH="0" flipV="0">
            <a:off x="381000" y="2667000"/>
            <a:ext cx="11430000" cy="447675"/>
          </a:xfrm>
          <a:custGeom>
            <a:pathLst>
              <a:path w="1200" h="47">
                <a:moveTo>
                  <a:pt x="0" y="46"/>
                </a:moveTo>
                <a:lnTo>
                  <a:pt x="1200" y="46"/>
                </a:lnTo>
                <a:lnTo>
                  <a:pt x="1200" y="47"/>
                </a:lnTo>
                <a:lnTo>
                  <a:pt x="0" y="47"/>
                </a:lnTo>
                <a:close/>
              </a:path>
            </a:pathLst>
          </a:custGeom>
          <a:solidFill>
            <a:srgbClr val="D6DCE5"/>
          </a:solidFill>
          <a:ln/>
        </p:spPr>
        <p:txBody>
          <a:bodyPr/>
          <a:p/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514350" y="2771775"/>
            <a:ext cx="2790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CityWalk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（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4050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帧）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3305175" y="27717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>22.03 / 29:38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5905500" y="2771775"/>
            <a:ext cx="31718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Octree-GS 17.33 / 3:11:40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9077325" y="2771775"/>
            <a:ext cx="2600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大场景最优</a:t>
            </a:r>
            <a:endParaRPr/>
          </a:p>
        </p:txBody>
      </p:sp>
      <p:sp>
        <p:nvSpPr>
          <p:cNvPr id="91" name=""/>
          <p:cNvSpPr/>
          <p:nvPr/>
        </p:nvSpPr>
        <p:spPr>
          <a:xfrm rot="0" flipH="0" flipV="0">
            <a:off x="381000" y="3257550"/>
            <a:ext cx="3705225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533400" y="3381375"/>
            <a:ext cx="34004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0.5 dB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533400" y="3838575"/>
            <a:ext cx="340042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输入顺序打乱后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PSNR 26.29 → 25.73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无序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不是门槛</a:t>
            </a:r>
            <a:endParaRPr/>
          </a:p>
        </p:txBody>
      </p:sp>
      <p:sp>
        <p:nvSpPr>
          <p:cNvPr id="94" name=""/>
          <p:cNvSpPr/>
          <p:nvPr/>
        </p:nvSpPr>
        <p:spPr>
          <a:xfrm rot="0" flipH="0" flipV="0">
            <a:off x="4238625" y="3257550"/>
            <a:ext cx="3714750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4391025" y="3381375"/>
            <a:ext cx="340995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8.5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4391025" y="3838575"/>
            <a:ext cx="3409950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平移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APE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（对比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 Photo-SLAM 161+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97" name=""/>
          <p:cNvSpPr/>
          <p:nvPr/>
        </p:nvSpPr>
        <p:spPr>
          <a:xfrm rot="0" flipH="0" flipV="0">
            <a:off x="8105775" y="3257550"/>
            <a:ext cx="3705225" cy="1343025"/>
          </a:xfrm>
          <a:prstGeom prst="roundRect">
            <a:avLst>
              <a:gd name="adj" fmla="val 425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8258175" y="3381375"/>
            <a:ext cx="34004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1E4FA8"/>
                </a:solidFill>
                <a:latin typeface="Microsoft YaHei"/>
                <a:ea typeface="Microsoft YaHei"/>
              </a:rPr>
              <a:t>324 ms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8258175" y="3838575"/>
            <a:ext cx="3400425" cy="6381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45000"/>
              </a:lnSpc>
            </a:pP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 xml:space="preserve">MipNeRF360 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平均每帧延迟，具备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即时反馈</a:t>
            </a:r>
            <a:r>
              <a:rPr lang="en-US" sz="14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425">
                <a:solidFill>
                  <a:srgbClr val="1A2230"/>
                </a:solidFill>
                <a:latin typeface="Microsoft YaHei"/>
                <a:ea typeface="Microsoft YaHei"/>
              </a:rPr>
              <a:t>资格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381000" y="4772025"/>
            <a:ext cx="2095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E4FA8"/>
                </a:solidFill>
                <a:latin typeface="Microsoft YaHei"/>
                <a:ea typeface="Microsoft YaHei"/>
              </a:rPr>
              <a:t>消融：哪一步最不能省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2590800" y="4838700"/>
            <a:ext cx="38576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MipNeRF360 · PSNR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（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>dB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）·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横轴自</a:t>
            </a:r>
            <a:r>
              <a:rPr lang="en-US" sz="1200">
                <a:solidFill>
                  <a:srgbClr val="8B97A8"/>
                </a:solidFill>
                <a:latin typeface="Microsoft YaHei"/>
                <a:ea typeface="Microsoft YaHei"/>
              </a:rPr>
              <a:t xml:space="preserve"> 24 </a:t>
            </a:r>
            <a:r>
              <a:rPr lang="zh-CN" sz="1200">
                <a:solidFill>
                  <a:srgbClr val="8B97A8"/>
                </a:solidFill>
                <a:latin typeface="Microsoft YaHei"/>
                <a:ea typeface="Microsoft YaHei"/>
              </a:rPr>
              <a:t>起，条越长越好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381000" y="5105400"/>
            <a:ext cx="314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2230"/>
                </a:solidFill>
                <a:latin typeface="Microsoft YaHei"/>
                <a:ea typeface="Microsoft YaHei"/>
              </a:rPr>
              <a:t>完整方法</a:t>
            </a:r>
            <a:endParaRPr/>
          </a:p>
        </p:txBody>
      </p:sp>
      <p:sp>
        <p:nvSpPr>
          <p:cNvPr id="103" name=""/>
          <p:cNvSpPr/>
          <p:nvPr/>
        </p:nvSpPr>
        <p:spPr>
          <a:xfrm rot="0" flipH="0" flipV="0">
            <a:off x="3524250" y="5105400"/>
            <a:ext cx="5410200" cy="200025"/>
          </a:xfrm>
          <a:prstGeom prst="roundRect">
            <a:avLst>
              <a:gd name="adj" fmla="val 9524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4" name="" descr="{&quot;isTemplate&quot;:true,&quot;type&quot;:&quot;text&quot;}"/>
          <p:cNvSpPr txBox="1"/>
          <p:nvPr/>
        </p:nvSpPr>
        <p:spPr>
          <a:xfrm rot="0" flipH="0" flipV="0">
            <a:off x="9020175" y="5105400"/>
            <a:ext cx="4667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E4FA8"/>
                </a:solidFill>
                <a:latin typeface="Microsoft YaHei"/>
                <a:ea typeface="Microsoft YaHei"/>
              </a:rPr>
              <a:t>26.29</a:t>
            </a:r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381000" y="5381625"/>
            <a:ext cx="314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不分块深度对齐（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NoLoDepAlgn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06" name=""/>
          <p:cNvSpPr/>
          <p:nvPr/>
        </p:nvSpPr>
        <p:spPr>
          <a:xfrm rot="0" flipH="0" flipV="0">
            <a:off x="3524250" y="5381625"/>
            <a:ext cx="3324225" cy="200025"/>
          </a:xfrm>
          <a:prstGeom prst="roundRect">
            <a:avLst>
              <a:gd name="adj" fmla="val 9524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6934200" y="5381625"/>
            <a:ext cx="1114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25.41</a:t>
            </a: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−0.88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381000" y="5657850"/>
            <a:ext cx="314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去掉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VPR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，只比相邻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3524250" y="5657850"/>
            <a:ext cx="1838325" cy="200025"/>
          </a:xfrm>
          <a:prstGeom prst="roundRect">
            <a:avLst>
              <a:gd name="adj" fmla="val 9524"/>
            </a:avLst>
          </a:prstGeom>
          <a:solidFill>
            <a:srgbClr val="7FA5D8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5448300" y="5657850"/>
            <a:ext cx="1114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24.78</a:t>
            </a: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−1.51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381000" y="5934075"/>
            <a:ext cx="3143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优化窗改成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最后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20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帧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12" name=""/>
          <p:cNvSpPr/>
          <p:nvPr/>
        </p:nvSpPr>
        <p:spPr>
          <a:xfrm rot="0" flipH="0" flipV="0">
            <a:off x="3524250" y="5934075"/>
            <a:ext cx="1323975" cy="200025"/>
          </a:xfrm>
          <a:prstGeom prst="roundRect">
            <a:avLst>
              <a:gd name="adj" fmla="val 9524"/>
            </a:avLst>
          </a:prstGeom>
          <a:solidFill>
            <a:srgbClr val="A8BFE0"/>
          </a:solidFill>
          <a:ln/>
        </p:spPr>
        <p:txBody>
          <a:bodyPr/>
          <a:p/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4933950" y="5934075"/>
            <a:ext cx="11144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24.56</a:t>
            </a:r>
            <a:r>
              <a:rPr lang="zh-CN" sz="1313" b="1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313" b="1">
                <a:solidFill>
                  <a:srgbClr val="1A2230"/>
                </a:solidFill>
                <a:latin typeface="Microsoft YaHei"/>
                <a:ea typeface="Microsoft YaHei"/>
              </a:rPr>
              <a:t>−1.73</a:t>
            </a:r>
            <a:endParaRPr/>
          </a:p>
        </p:txBody>
      </p:sp>
      <p:sp>
        <p:nvSpPr>
          <p:cNvPr id="114" name=""/>
          <p:cNvSpPr/>
          <p:nvPr/>
        </p:nvSpPr>
        <p:spPr>
          <a:xfrm rot="0" flipH="0" flipV="0">
            <a:off x="428625" y="6286500"/>
            <a:ext cx="11430000" cy="447675"/>
          </a:xfrm>
          <a:prstGeom prst="rect">
            <a:avLst/>
          </a:prstGeom>
          <a:solidFill>
            <a:srgbClr val="F7F9FC"/>
          </a:solidFill>
          <a:ln/>
        </p:spPr>
        <p:txBody>
          <a:bodyPr/>
          <a:p/>
        </p:txBody>
      </p:sp>
      <p:sp>
        <p:nvSpPr>
          <p:cNvPr id="115" name=""/>
          <p:cNvSpPr/>
          <p:nvPr/>
        </p:nvSpPr>
        <p:spPr>
          <a:xfrm rot="0" flipH="0" flipV="0">
            <a:off x="381000" y="6286500"/>
            <a:ext cx="11477625" cy="447675"/>
          </a:xfrm>
          <a:custGeom>
            <a:pathLst>
              <a:path w="1205" h="47">
                <a:moveTo>
                  <a:pt x="0" y="0"/>
                </a:moveTo>
                <a:lnTo>
                  <a:pt x="5" y="0"/>
                </a:lnTo>
                <a:lnTo>
                  <a:pt x="5" y="47"/>
                </a:lnTo>
                <a:lnTo>
                  <a:pt x="0" y="47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581025" y="6372225"/>
            <a:ext cx="11077575" cy="27622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三处消融都掉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0.9–1.7 dB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，但省下的时间远不止——这正是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先保实时、再谈精度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的取舍证据；其中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选窗最贵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，所以第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08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页把它单列一页。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17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30px 40px 0px 40px', flexDirection: 'row', justifyContent: 'space-between', alignItems: 'flex-end' }}&gt;&#13;&#10;        &lt;Text style={{ fontSize: 34, fontWeight: 'bold', color: '#1E4FA8' }}&gt;不足与改进：哪些是硬伤，哪些能补&lt;/Text&gt;&#13;&#10;        &lt;Text style={{ fontSize: 15, color: '#8B97A8' }}&gt;13 / 15&lt;/Text&gt;&#13;&#10;    &lt;/Box&gt;&#13;&#10;    &lt;Box style={{ padding: '18px 40px 0px 40px' }}&gt;&#13;&#10;        &lt;Text style={{ fontSize: 21, color: '#4A5568', lineHeight: 1.5 }}&gt;左栏是它现在的边界（均来自论文自述），右栏是对应的补法。&lt;/Text&gt;&#13;&#10;    &lt;/Box&gt;&#13;&#10;    &lt;Box style={{ padding: '12px 40px 0px 40px', flexDirection: 'row', gap: 26 }}&gt;&#13;&#10;        &lt;Box style={{ flex: 1, flexDirection: 'column' }}&gt;&#13;&#10;            &lt;Box style={{ flexDirection: 'row', alignItems: 'center', gap: 8 }}&gt;&#13;&#10;                &lt;Box style={{ width: '5px', height: '26px', backgroundColor: '#D9534F' }} /&gt;&#13;&#10;                &lt;Text style={{ fontSize: 26, fontWeight: 'bold', color: '#1A2230' }}&gt;目前方法的不足&lt;/Text&gt;&#13;&#10;            &lt;/Box&gt;&#13;&#10;            &lt;Text style={{ fontSize: 20, color: '#1A2230', lineHeight: 1.55, marginTop: 16 }}&gt;&lt;b&gt;① 低视差直接失效&lt;/b&gt;　纯旋转或平移太小，三角化不出深度，论文自述这类采集会失败。&lt;/Text&gt;&#13;&#10;            &lt;Text style={{ fontSize: 20, color: '#1A2230', lineHeight: 1.55, marginTop: 16 }}&gt;&lt;b&gt;② 精度有天花板&lt;/b&gt;　作者用 NoGraphProp 消融证明图传播不比全局 PGO 差，但同时承认仍不如全局 BA。&lt;/Text&gt;&#13;&#10;            &lt;Text style={{ fontSize: 20, color: '#1A2230', lineHeight: 1.55, marginTop: 16 }}&gt;&lt;b&gt;③ 上游依赖重&lt;/b&gt;　VPR + XFeat + LightGlue + Depth Anything 3 串成一条链，任一环失效整条断。&lt;/Text&gt;&#13;&#10;            &lt;Text style={{ fontSize: 20, color: '#1A2230', lineHeight: 1.55, marginTop: 16 }}&gt;&lt;b&gt;④ 阈值靠经验&lt;/b&gt;　合并 0.5 px / 占比 10%、加权图距 10、建边 500 匹配，换场景需重调。&lt;/Text&gt;&#13;&#10;            &#13;&#10;        &lt;/Box&gt;&#13;&#10;        &lt;Box style={{ width: '1px', backgroundColor: '#D6DCE5' }} /&gt;&#13;&#10;        &lt;Box style={{ flex: 1, flexDirection: 'column' }}&gt;&#13;&#10;            &lt;Box style={{ flexDirection: 'row', alignItems: 'center', gap: 8 }}&gt;&#13;&#10;                &lt;Box style={{ width: '5px', height: '26px', backgroundColor: '#1E4FA8' }} /&gt;&#13;&#10;                &lt;Text style={{ fontSize: 26, fontWeight: 'bold', color: '#1A2230' }}&gt;以后的改进点&lt;/Text&gt;&#13;&#10;            &lt;/Box&gt;&#13;&#10;            &lt;Text style={{ fontSize: 20, color: '#1A2230', lineHeight: 1.55, marginTop: 16 }}&gt;&lt;b&gt;① 低视差帧降级&lt;/b&gt;　只参与渲染、不进位姿求解，避免污染轨迹。&lt;/Text&gt;&#13;&#10;            &lt;Text style={{ fontSize: 20, color: '#1A2230', lineHeight: 1.55, marginTop: 16 }}&gt;&lt;b&gt;② 在线粗 + 离线精&lt;/b&gt;　实时出预览，结束时用 GLOMAP 回填一次全局 BA，把 1.2 dB 补回来。&lt;/Text&gt;&#13;&#10;            &lt;Text style={{ fontSize: 20, color: '#1A2230', lineHeight: 1.55, marginTop: 16 }}&gt;&lt;b&gt;③ 采集端闭环&lt;/b&gt;　实时覆盖率与重投影误差热图，直接提示&quot;这块没拍&quot;——论文 motivation 的自然下一步。&lt;/Text&gt;&#13;&#10;            &lt;Text style={{ fontSize: 20, color: '#1A2230', lineHeight: 1.55, marginTop: 16 }}&gt;&lt;b&gt;④ 阈值自适应&lt;/b&gt;　按纹理强度与重叠度在线估计，替代固定常数。&lt;/Text&gt;&#13;&#10;            &lt;Text style={{ fontSize: 20, color: '#1A2230', lineHeight: 1.55, marginTop: 16 }}&gt;&lt;b&gt;⑤ 验证还可扩展&lt;/b&gt;　打乱输入顺序（--shuffle）、全分辨率重跑、换 2–3 个场景验证阈值是否稳定。&lt;/Text&gt;&#13;&#10;        &lt;/Box&gt;&#13;&#10;    &lt;/Box&gt;&#13;&#10;    &lt;Box style={{ margin: '12px 40px 0px 40px', backgroundColor: '#F0F5FC', borderLeft: '5px solid #1E4FA8', padding: '15px 20px' }}&gt;&#13;&#10;        &lt;Text style={{ fontSize: 21, color: '#1A2230', lineHeight: 1.5 }}&gt;它把&quot;精度&quot;换成了&quot;时间&quot;。补回精度只有两条路：&lt;b&gt;要么离线回填，要么让采集端少犯错&lt;/b&gt;——后者才是它真正打开的方向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9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5181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不足与改进：哪些是硬伤，哪些能补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13 / 15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381000" y="923925"/>
            <a:ext cx="11430000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4A5568"/>
                </a:solidFill>
                <a:latin typeface="Microsoft YaHei"/>
                <a:ea typeface="Microsoft YaHei"/>
              </a:rPr>
              <a:t>左栏是它现在的边界（均来自论文自述），右栏是对应的补法。</a:t>
            </a:r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381000" y="1428750"/>
            <a:ext cx="47625" cy="247650"/>
          </a:xfrm>
          <a:prstGeom prst="rect">
            <a:avLst/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504825" y="1400175"/>
            <a:ext cx="17335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目前方法的不足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381000" y="1857375"/>
            <a:ext cx="54673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低视差直接失效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纯旋转或平移太小，三角化不出深度，论文自述这类采集会失败。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381000" y="2724150"/>
            <a:ext cx="54673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精度有天花板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作者用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NoGraphProp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消融证明图传播不比全局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PGO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差，但同时承认仍不如全局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381000" y="3590925"/>
            <a:ext cx="54673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上游依赖重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VPR + XFeat + LightGlue + Depth Anything 3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串成一条链，任一环失效整条断。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381000" y="4457700"/>
            <a:ext cx="5467350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阈值靠经验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合并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0.5 px /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占比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10%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、加权图距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10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、建边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500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匹配，换场景需重调。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6096000" y="1400175"/>
            <a:ext cx="9525" cy="39338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/>
        </p:txBody>
      </p:sp>
      <p:sp>
        <p:nvSpPr>
          <p:cNvPr id="130" name=""/>
          <p:cNvSpPr/>
          <p:nvPr/>
        </p:nvSpPr>
        <p:spPr>
          <a:xfrm rot="0" flipH="0" flipV="0">
            <a:off x="6353175" y="1428750"/>
            <a:ext cx="47625" cy="24765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6477000" y="1400175"/>
            <a:ext cx="14859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以后的改进点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6353175" y="1857375"/>
            <a:ext cx="5457825" cy="3619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低视差帧降级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只参与渲染、不进位姿求解，避免污染轨迹。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6353175" y="2371725"/>
            <a:ext cx="54578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在线粗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离线精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实时出预览，结束时用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GLOMAP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回填一次全局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，把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1.2 dB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补回来。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6353175" y="3238500"/>
            <a:ext cx="54578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采集端闭环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实时覆盖率与重投影误差热图，直接提示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这块没拍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"——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论文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motivation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的自然下一步。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6353175" y="4105275"/>
            <a:ext cx="5457825" cy="361950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阈值自适应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按纹理强度与重叠度在线估计，替代固定常数。</a:t>
            </a:r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6353175" y="4619625"/>
            <a:ext cx="5457825" cy="7143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55000"/>
              </a:lnSpc>
            </a:pP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⑤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验证还可扩展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　打乱输入顺序（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>--shuffle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）、全分辨率重跑、换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2–3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个场景验证阈值是否稳定。</a:t>
            </a:r>
            <a:endParaRPr/>
          </a:p>
        </p:txBody>
      </p:sp>
      <p:sp>
        <p:nvSpPr>
          <p:cNvPr id="137" name=""/>
          <p:cNvSpPr/>
          <p:nvPr/>
        </p:nvSpPr>
        <p:spPr>
          <a:xfrm rot="0" flipH="0" flipV="0">
            <a:off x="428625" y="5448300"/>
            <a:ext cx="11430000" cy="647700"/>
          </a:xfrm>
          <a:prstGeom prst="rect">
            <a:avLst/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38" name=""/>
          <p:cNvSpPr/>
          <p:nvPr/>
        </p:nvSpPr>
        <p:spPr>
          <a:xfrm rot="0" flipH="0" flipV="0">
            <a:off x="381000" y="5448300"/>
            <a:ext cx="11477625" cy="647700"/>
          </a:xfrm>
          <a:custGeom>
            <a:pathLst>
              <a:path w="1205" h="68">
                <a:moveTo>
                  <a:pt x="0" y="0"/>
                </a:moveTo>
                <a:lnTo>
                  <a:pt x="5" y="0"/>
                </a:lnTo>
                <a:lnTo>
                  <a:pt x="5" y="68"/>
                </a:lnTo>
                <a:lnTo>
                  <a:pt x="0" y="6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619125" y="5591175"/>
            <a:ext cx="11001375" cy="3619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它把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精度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换成了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时间</a:t>
            </a:r>
            <a:r>
              <a:rPr lang="en-US" sz="15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。补回精度只有两条路：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要么离线回填，要么让采集端少犯错</a:t>
            </a:r>
            <a:r>
              <a:rPr lang="zh-CN" sz="1575">
                <a:solidFill>
                  <a:srgbClr val="1A2230"/>
                </a:solidFill>
                <a:latin typeface="Microsoft YaHei"/>
                <a:ea typeface="Microsoft YaHei"/>
              </a:rPr>
              <a:t>——后者才是它真正打开的方向。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>
  <p:cSld>
    <p:spTree>
      <p:nvGrpSpPr>
        <p:cNvPr id="140" name="" descr="&lt;Slide style={{ width: '1280px', height: '720px', backgroundColor: '#FFFFFF', padding: '0px', flexDirection: 'column' }}&gt;&#10;    &lt;Box style={{ width: '1280px', height: '8px', backgroundColor: '#1E4FA8' }} /&gt;&#10;    &lt;Box style={{ padding: '30px 40px 0px 40px', flexDirection: 'row', justifyContent: 'space-between', alignItems: 'flex-end' }}&gt;&#10;        &lt;Text style={{ fontSize: 34, fontWeight: 'bold', color: '#1E4FA8' }}&gt;结论：三句话带走&lt;/Text&gt;&#10;        &lt;Text style={{ fontSize: 15, color: '#8B97A8' }}&gt;14 / 15&lt;/Text&gt;&#10;    &lt;/Box&gt;&#10;&#10;    &lt;Box style={{ padding: '24px 40px 0px 40px', flexDirection: 'column', gap: 20 }}&gt;&#10;        &lt;Box style={{ flexDirection: 'row', gap: 18, alignItems: 'flex-start' }}&gt;&#10;            &lt;Box style={{ width: '38px', height: '38px', backgroundColor: '#1E4FA8', borderRadius: 4, alignItems: 'center', justifyContent: 'center' }}&gt;&#10;                &lt;Text style={{ fontSize: 21, fontWeight: 'bold', color: '#FFFFFF' }}&gt;1&lt;/Text&gt;&#10;            &lt;/Box&gt;&#10;            &lt;Box style={{ flex: 1, flexDirection: 'column' }}&gt;&#10;                &lt;Text style={{ fontSize: 26, fontWeight: 'bold', color: '#1A2230' }}&gt;它填的是一块空格，不是&quot;更快的离线 SfM&quot;&lt;/Text&gt;&#10;                &lt;Text style={{ fontSize: 20, color: '#4A5568', lineHeight: 1.45, marginTop: 6 }}&gt;即时、无序、全局一致三者同时成立，此前没有方法做到。速度只是手段，&quot;现场可判断&quot;才是目的。&lt;/Text&gt;&#10;            &lt;/Box&gt;&#10;        &lt;/Box&gt;&#10;        &lt;Box style={{ flexDirection: 'row', gap: 18, alignItems: 'flex-start' }}&gt;&#10;            &lt;Box style={{ width: '38px', height: '38px', backgroundColor: '#1E4FA8', borderRadius: 4, alignItems: 'center', justifyContent: 'center' }}&gt;&#10;                &lt;Text style={{ fontSize: 21, fontWeight: 'bold', color: '#FFFFFF' }}&gt;2&lt;/Text&gt;&#10;            &lt;/Box&gt;&#10;            &lt;Box style={{ flex: 1, flexDirection: 'column' }}&gt;&#10;                &lt;Text style={{ fontSize: 26, fontWeight: 'bold', color: '#1A2230' }}&gt;题眼是用&quot;图上的距离&quot;替换&quot;全局优化的解&quot;&lt;/Text&gt;&#10;                &lt;Text style={{ fontSize: 20, color: '#4A5568', lineHeight: 1.45, marginTop: 6 }}&gt;判定看加权图距、不看时间，求解用焊接窗口得 Sim(3)，再把修正按测地距离摊给全图——回环不必重算第二遍。&lt;/Text&gt;&#10;            &lt;/Box&gt;&#10;        &lt;/Box&gt;&#10;        &lt;Box style={{ flexDirection: 'row', gap: 18, alignItems: 'flex-start' }}&gt;&#10;            &lt;Box style={{ width: '38px', height: '38px', backgroundColor: '#0E3F8C', borderRadius: 4, alignItems: 'center', justifyContent: 'center' }}&gt;&#10;                &lt;Text style={{ fontSize: 21, fontWeight: 'bold', color: '#FFFFFF' }}&gt;3&lt;/Text&gt;&#10;            &lt;/Box&gt;&#10;            &lt;Box style={{ flex: 1, flexDirection: 'column' }}&gt;&#10;                &lt;Text style={{ fontSize: 26, fontWeight: 'bold', color: '#1A2230' }}&gt;代价是真的：1.2 dB 与一条更重的依赖链&lt;/Text&gt;&#10;                &lt;Text style={{ fontSize: 20, color: '#4A5568', lineHeight: 1.45, marginTop: 6 }}&gt;精度上限低于全局 BA，低视差会失败，阈值靠经验。它换的是时间，不是免费午餐。&lt;/Text&gt;&#10;            &lt;/Box&gt;&#10;        &lt;/Box&gt;&#10;    &lt;/Box&gt;&#10;&#10;    &lt;Box style={{ padding: '22px 40px 0px 40px', flexDirection: 'row', gap: 16 }}&gt;&#10;        &lt;Box style={{ flex: 1, backgroundColor: '#F0F5FC', borderRadius: 6, padding: '12px 16px', flexDirection: 'row', alignItems: 'baseline', gap: 10 }}&gt;&#10;            &lt;Text style={{ fontSize: 32, fontWeight: 'bold', color: '#1E4FA8' }}&gt;26.29 dB&lt;/Text&gt;&#10;            &lt;Text style={{ fontSize: 17, color: '#1A2230' }}&gt;论文在 MipNeRF360 的成绩&lt;/Text&gt;&#10;        &lt;/Box&gt;&#10;        &lt;Box style={{ flex: 1, backgroundColor: '#F0F5FC', borderRadius: 6, padding: '12px 16px', flexDirection: 'row', alignItems: 'baseline', gap: 10 }}&gt;&#10;            &lt;Text style={{ fontSize: 32, fontWeight: 'bold', color: '#1E4FA8' }}&gt;0.5 dB&lt;/Text&gt;&#10;            &lt;Text style={{ fontSize: 17, color: '#1A2230' }}&gt;输入打乱后的代价&lt;/Text&gt;&#10;        &lt;/Box&gt;&#10;        &lt;Box style={{ flex: 1, backgroundColor: '#F0F5FC', borderRadius: 6, padding: '12px 16px', flexDirection: 'row', alignItems: 'baseline', gap: 10 }}&gt;&#10;            &lt;Text style={{ fontSize: 32, fontWeight: 'bold', color: '#1E4FA8' }}&gt;25.95 dB&lt;/Text&gt;&#10;            &lt;Text style={{ fontSize: 17, color: '#1A2230' }}&gt;我们自己跑出来的&lt;/Text&gt;&#10;        &lt;/Box&gt;&#10;    &lt;/Box&gt;&#10;&#10;    &lt;Box style={{ margin: '16px 40px 0px 40px', backgroundColor: '#1E4FA8', borderRadius: 6, padding: '15px 22px' }}&gt;&#10;        &lt;Text style={{ fontSize: 22, fontWeight: 'bold', color: '#FFFFFF', lineHeight: 1.45 }}&gt;一句话总结：它把 3DGS 从&quot;拍完再算的离线工具&quot;变成了&quot;拍摄现场的仪表盘&quot;，代价是让出一点精度。&lt;/Text&gt;&#10;    &lt;/Box&gt;&#10;&#10;    &lt;Box style={{ marginTop: 'auto', padding: '20px 40px 0px 40px', paddingBottom: '26px', flexDirection: 'row', justifyContent: 'space-between', alignItems: 'center' }}&gt;&#10;        &lt;Text style={{ fontSize: 26, fontWeight: 'bold', color: '#1E4FA8' }}&gt;谢谢，欢迎提问&lt;/Text&gt;&#10;        &lt;Text style={{ fontSize: 15, color: '#8B97A8' }}&gt;论文：SIGGRAPH 2026 / arXiv:2607.14481 · 代码：github.com/graphdeco-inria/i3dgs&lt;/Text&gt;&#10;  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381000" y="361950"/>
            <a:ext cx="2590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结论：三句话带走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11325225" y="58102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14 / 15</a:t>
            </a:r>
            <a:endParaRPr/>
          </a:p>
        </p:txBody>
      </p:sp>
      <p:sp>
        <p:nvSpPr>
          <p:cNvPr id="145" name=""/>
          <p:cNvSpPr/>
          <p:nvPr/>
        </p:nvSpPr>
        <p:spPr>
          <a:xfrm rot="0" flipH="0" flipV="0">
            <a:off x="381000" y="981075"/>
            <a:ext cx="361950" cy="361950"/>
          </a:xfrm>
          <a:prstGeom prst="roundRect">
            <a:avLst>
              <a:gd name="adj" fmla="val 1052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504825" y="1038225"/>
            <a:ext cx="123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47" name="" descr="{&quot;isTemplate&quot;:true,&quot;type&quot;:&quot;text&quot;}"/>
          <p:cNvSpPr txBox="1"/>
          <p:nvPr/>
        </p:nvSpPr>
        <p:spPr>
          <a:xfrm rot="0" flipH="0" flipV="0">
            <a:off x="914400" y="981075"/>
            <a:ext cx="10896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它填的是一块空格，不是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更快的离线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 SfM"</a:t>
            </a:r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914400" y="1343025"/>
            <a:ext cx="10896600" cy="3333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即时、无序、全局一致三者同时成立，此前没有方法做到。速度只是手段，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现场可判断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才是目的。</a:t>
            </a:r>
            <a:endParaRPr/>
          </a:p>
        </p:txBody>
      </p:sp>
      <p:sp>
        <p:nvSpPr>
          <p:cNvPr id="149" name=""/>
          <p:cNvSpPr/>
          <p:nvPr/>
        </p:nvSpPr>
        <p:spPr>
          <a:xfrm rot="0" flipH="0" flipV="0">
            <a:off x="381000" y="1866900"/>
            <a:ext cx="361950" cy="361950"/>
          </a:xfrm>
          <a:prstGeom prst="roundRect">
            <a:avLst>
              <a:gd name="adj" fmla="val 1052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504825" y="1924050"/>
            <a:ext cx="123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914400" y="1866900"/>
            <a:ext cx="10896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题眼是用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图上的距离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替换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全局优化的解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152" name="" descr="{&quot;isTemplate&quot;:true,&quot;type&quot;:&quot;text&quot;}"/>
          <p:cNvSpPr txBox="1"/>
          <p:nvPr/>
        </p:nvSpPr>
        <p:spPr>
          <a:xfrm rot="0" flipH="0" flipV="0">
            <a:off x="914400" y="2228850"/>
            <a:ext cx="10896600" cy="3333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判定看加权图距、不看时间，求解用焊接窗口得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Sim(3)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，再把修正按测地距离摊给全图——回环不必重算第二遍。</a:t>
            </a:r>
            <a:endParaRPr/>
          </a:p>
        </p:txBody>
      </p:sp>
      <p:sp>
        <p:nvSpPr>
          <p:cNvPr id="153" name=""/>
          <p:cNvSpPr/>
          <p:nvPr/>
        </p:nvSpPr>
        <p:spPr>
          <a:xfrm rot="0" flipH="0" flipV="0">
            <a:off x="381000" y="2752725"/>
            <a:ext cx="361950" cy="361950"/>
          </a:xfrm>
          <a:prstGeom prst="roundRect">
            <a:avLst>
              <a:gd name="adj" fmla="val 1052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504825" y="2809875"/>
            <a:ext cx="123825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7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914400" y="2752725"/>
            <a:ext cx="108966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代价是真的：</a:t>
            </a:r>
            <a:r>
              <a:rPr lang="en-US" sz="1950" b="1">
                <a:solidFill>
                  <a:srgbClr val="1A2230"/>
                </a:solidFill>
                <a:latin typeface="Microsoft YaHei"/>
                <a:ea typeface="Microsoft YaHei"/>
              </a:rPr>
              <a:t xml:space="preserve">1.2 dB </a:t>
            </a:r>
            <a:r>
              <a:rPr lang="zh-CN" sz="1950" b="1">
                <a:solidFill>
                  <a:srgbClr val="1A2230"/>
                </a:solidFill>
                <a:latin typeface="Microsoft YaHei"/>
                <a:ea typeface="Microsoft YaHei"/>
              </a:rPr>
              <a:t>与一条更重的依赖链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914400" y="3114675"/>
            <a:ext cx="10896600" cy="3333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精度上限低于全局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，低视差会失败，阈值靠经验。它换的是时间，不是免费午餐。</a:t>
            </a:r>
            <a:endParaRPr/>
          </a:p>
        </p:txBody>
      </p:sp>
      <p:sp>
        <p:nvSpPr>
          <p:cNvPr id="157" name=""/>
          <p:cNvSpPr/>
          <p:nvPr/>
        </p:nvSpPr>
        <p:spPr>
          <a:xfrm rot="0" flipH="0" flipV="0">
            <a:off x="381000" y="3657600"/>
            <a:ext cx="3705225" cy="600075"/>
          </a:xfrm>
          <a:prstGeom prst="roundRect">
            <a:avLst>
              <a:gd name="adj" fmla="val 952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533400" y="3771900"/>
            <a:ext cx="12954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1E4FA8"/>
                </a:solidFill>
                <a:latin typeface="Microsoft YaHei"/>
                <a:ea typeface="Microsoft YaHei"/>
              </a:rPr>
              <a:t>26.29 dB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1924050" y="3771900"/>
            <a:ext cx="200977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论文在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MipNeRF360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的成绩</a:t>
            </a:r>
            <a:endParaRPr/>
          </a:p>
        </p:txBody>
      </p:sp>
      <p:sp>
        <p:nvSpPr>
          <p:cNvPr id="160" name=""/>
          <p:cNvSpPr/>
          <p:nvPr/>
        </p:nvSpPr>
        <p:spPr>
          <a:xfrm rot="0" flipH="0" flipV="0">
            <a:off x="4238625" y="3657600"/>
            <a:ext cx="3714750" cy="600075"/>
          </a:xfrm>
          <a:prstGeom prst="roundRect">
            <a:avLst>
              <a:gd name="adj" fmla="val 952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4391025" y="3771900"/>
            <a:ext cx="9715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1E4FA8"/>
                </a:solidFill>
                <a:latin typeface="Microsoft YaHei"/>
                <a:ea typeface="Microsoft YaHei"/>
              </a:rPr>
              <a:t>0.5 dB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5457825" y="3771900"/>
            <a:ext cx="12954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输入打乱后的代价</a:t>
            </a:r>
            <a:endParaRPr/>
          </a:p>
        </p:txBody>
      </p:sp>
      <p:sp>
        <p:nvSpPr>
          <p:cNvPr id="163" name=""/>
          <p:cNvSpPr/>
          <p:nvPr/>
        </p:nvSpPr>
        <p:spPr>
          <a:xfrm rot="0" flipH="0" flipV="0">
            <a:off x="8105775" y="3657600"/>
            <a:ext cx="3705225" cy="600075"/>
          </a:xfrm>
          <a:prstGeom prst="roundRect">
            <a:avLst>
              <a:gd name="adj" fmla="val 9524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64" name="" descr="{&quot;isTemplate&quot;:true,&quot;type&quot;:&quot;text&quot;}"/>
          <p:cNvSpPr txBox="1"/>
          <p:nvPr/>
        </p:nvSpPr>
        <p:spPr>
          <a:xfrm rot="0" flipH="0" flipV="0">
            <a:off x="8258175" y="3771900"/>
            <a:ext cx="13430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1E4FA8"/>
                </a:solidFill>
                <a:latin typeface="Microsoft YaHei"/>
                <a:ea typeface="Microsoft YaHei"/>
              </a:rPr>
              <a:t>25.95 dB</a:t>
            </a:r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9696450" y="3771900"/>
            <a:ext cx="12954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我们自己跑出来的</a:t>
            </a:r>
            <a:endParaRPr/>
          </a:p>
        </p:txBody>
      </p:sp>
      <p:sp>
        <p:nvSpPr>
          <p:cNvPr id="166" name=""/>
          <p:cNvSpPr/>
          <p:nvPr/>
        </p:nvSpPr>
        <p:spPr>
          <a:xfrm rot="0" flipH="0" flipV="0">
            <a:off x="381000" y="4410075"/>
            <a:ext cx="11430000" cy="657225"/>
          </a:xfrm>
          <a:prstGeom prst="roundRect">
            <a:avLst>
              <a:gd name="adj" fmla="val 869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590550" y="4552950"/>
            <a:ext cx="11010900" cy="371475"/>
          </a:xfrm>
          <a:prstGeom prst="rect"/>
        </p:spPr>
        <p:txBody>
          <a:bodyPr wrap="none" lIns="0" tIns="0" rIns="0" bIns="0"/>
          <a:p>
            <a:pPr>
              <a:lnSpc>
                <a:spcPct val="145000"/>
              </a:lnSpc>
            </a:pP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一句话总结：它把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3DGS 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从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拍完再算的离线工具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变成了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拍摄现场的仪表盘</a:t>
            </a:r>
            <a:r>
              <a:rPr lang="en-US" sz="1650" b="1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650" b="1">
                <a:solidFill>
                  <a:srgbClr val="FFFFFF"/>
                </a:solidFill>
                <a:latin typeface="Microsoft YaHei"/>
                <a:ea typeface="Microsoft YaHei"/>
              </a:rPr>
              <a:t>，代价是让出一点精度。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381000" y="6305550"/>
            <a:ext cx="17335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>
                <a:solidFill>
                  <a:srgbClr val="1E4FA8"/>
                </a:solidFill>
                <a:latin typeface="Microsoft YaHei"/>
                <a:ea typeface="Microsoft YaHei"/>
              </a:rPr>
              <a:t>谢谢，欢迎提问</a:t>
            </a:r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6048375" y="6372225"/>
            <a:ext cx="5762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论文：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SIGGRAPH 2026 / arXiv:2607.14481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代码：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github.com/graphdeco-inria/i3dgs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70" name="" descr="&lt;Slide style={{ width: '1280px', height: '720px', backgroundColor: '#FFFFFF', padding: '0px', flexDirection: 'column' }}&gt;&#13;&#10;    &lt;Box style={{ width: '1280px', height: '8px', backgroundColor: '#1E4FA8' }} /&gt;&#13;&#10;    &lt;Box style={{ padding: '14px 40px 0px 40px', flexDirection: 'row', justifyContent: 'space-between', alignItems: 'flex-end' }}&gt;&#13;&#10;        &lt;Text style={{ fontSize: 32, fontWeight: 'bold', color: '#1E4FA8' }}&gt;附：七个步骤在源码里长什么样&lt;/Text&gt;&#13;&#10;        &lt;Text style={{ fontSize: 15, color: '#8B97A8' }}&gt;15 / 15&lt;/Text&gt;&#13;&#10;    &lt;/Box&gt;&#13;&#10;    &lt;Box style={{ padding: '5px 40px 0px 40px' }}&gt;&#13;&#10;        &lt;Text style={{ fontSize: 17, color: '#4A5568' }}&gt;真实源码截图，与第 04 页七步链、第 05–11 页逐页对应：&lt;b&gt;①②③ 定跟谁比、④ 定跟谁一起算、⑤ 才真解位姿、⑥⑦ 修漂移与压显存&lt;/b&gt;。&lt;/Text&gt;&#13;&#10;    &lt;/Box&gt;&#13;&#10;    &lt;Box style={{ padding: '8px 40px 0px 40px', flexDirection: 'row', gap: 14 }}&gt;&#13;&#10;        &lt;Box style={{ flex: 1, flexDirection: 'column', gap: 10 }}&gt;&#13;&#10;        &lt;Box style={{ backgroundColor: '#1E1E1E', borderRadius: 5, padding: '5px 11px 5px 11px', flexDirection: 'column' }}&gt;&#13;&#10;            &lt;Text style={{ fontSize: 13, fontWeight: 'bold', color: '#8FBBFF', marginBottom: 0 }}&gt;① ② ③  检索 → 粗筛 → 建边&lt;/Text&gt;&#13;&#10;            &lt;Text style={{ fontFamily: 'Consolas', fontSize: 10, color: '#7F8C9F', marginBottom: 2 }}&gt;scene/scene_model_loop_closure.py:179&lt;/Text&gt;&#13;&#10;            &lt;Image src=&quot;code_png/01.png&quot; style={{ width: 568, height: 104.5 }} /&gt;&#13;&#10;        &lt;/Box&gt;&#13;&#10;        &lt;Box style={{ backgroundColor: '#1E1E1E', borderRadius: 5, padding: '5px 11px 5px 11px', flexDirection: 'column' }}&gt;&#13;&#10;            &lt;Text style={{ fontSize: 13, fontWeight: 'bold', color: '#8FBBFF', marginBottom: 0 }}&gt;④  协视图贪心扩张（式 1）&lt;/Text&gt;&#13;&#10;            &lt;Text style={{ fontFamily: 'Consolas', fontSize: 10, color: '#7F8C9F', marginBottom: 2 }}&gt;poses/ba_problem.py:648&lt;/Text&gt;&#13;&#10;            &lt;Image src=&quot;code_png/02.png&quot; style={{ width: 568, height: 123.0 }} /&gt;&#13;&#10;        &lt;/Box&gt;&#13;&#10;        &lt;Box style={{ backgroundColor: '#1E1E1E', borderRadius: 5, padding: '5px 11px 5px 11px', flexDirection: 'column' }}&gt;&#13;&#10;            &lt;Text style={{ fontSize: 13, fontWeight: 'bold', color: '#8FBBFF', marginBottom: 0 }}&gt;⑤  局部 BA：LM 迭代 + Schur 消元&lt;/Text&gt;&#13;&#10;            &lt;Text style={{ fontFamily: 'Consolas', fontSize: 10, color: '#7F8C9F', marginBottom: 2 }}&gt;poses/mini_ba.py:285&lt;/Text&gt;&#13;&#10;            &lt;Image src=&quot;code_png/03.png&quot; style={{ width: 568, height: 160.0 }} /&gt;&#13;&#10;        &lt;/Box&gt;&#13;&#10;        &lt;/Box&gt;&#13;&#10;        &lt;Box style={{ flex: 1, flexDirection: 'column', gap: 10 }}&gt;&#13;&#10;        &lt;Box style={{ backgroundColor: '#1E1E1E', borderRadius: 5, padding: '5px 11px 5px 11px', flexDirection: 'column' }}&gt;&#13;&#10;            &lt;Text style={{ fontSize: 13, fontWeight: 'bold', color: '#8FBBFF', marginBottom: 0 }}&gt;⑥  回环检测与补边&lt;/Text&gt;&#13;&#10;            &lt;Text style={{ fontFamily: 'Consolas', fontSize: 10, color: '#7F8C9F', marginBottom: 2 }}&gt;poses/ba_problem.py:1054&lt;/Text&gt;&#13;&#10;            &lt;Image src=&quot;code_png/04.png&quot; style={{ width: 568, height: 123.0 }} /&gt;&#13;&#10;        &lt;/Box&gt;&#13;&#10;        &lt;Box style={{ backgroundColor: '#1E1E1E', borderRadius: 5, padding: '5px 11px 5px 11px', flexDirection: 'column' }}&gt;&#13;&#10;            &lt;Text style={{ fontSize: 13, fontWeight: 'bold', color: '#8FBBFF', marginBottom: 0 }}&gt;⑦-a  分块深度对齐&lt;/Text&gt;&#13;&#10;            &lt;Text style={{ fontFamily: 'Consolas', fontSize: 10, color: '#7F8C9F', marginBottom: 2 }}&gt;scene/mono_depth.py:315&lt;/Text&gt;&#13;&#10;            &lt;Image src=&quot;code_png/05.png&quot; style={{ width: 568, height: 86.0 }} /&gt;&#13;&#10;        &lt;/Box&gt;&#13;&#10;        &lt;Box style={{ backgroundColor: '#1E1E1E', borderRadius: 5, padding: '5px 11px 5px 11px', flexDirection: 'column' }}&gt;&#13;&#10;            &lt;Text style={{ fontSize: 13, fontWeight: 'bold', color: '#8FBBFF', marginBottom: 0 }}&gt;⑦-b  渐进层级与合并&lt;/Text&gt;&#13;&#10;            &lt;Text style={{ fontFamily: 'Consolas', fontSize: 10, color: '#7F8C9F', marginBottom: 2 }}&gt;scene/hierarchy_cut.py:105&lt;/Text&gt;&#13;&#10;            &lt;Image src=&quot;code_png/06.png&quot; style={{ width: 568, height: 104.5 }} /&gt;&#13;&#10;        &lt;/Box&gt;&#13;&#10;        &lt;/Box&gt;&#13;&#10;    &lt;/Box&gt;&#13;&#10;    &lt;Box style={{ padding: '7px 40px 0px 40px' }}&gt;&#13;&#10;        &lt;Text style={{ fontSize: 13.5, color: '#8B97A8', lineHeight: 1.35 }}&gt;行号指向片段起点；为投影宽度做了换行与变量缩写（w = edge_weight），逻辑未改。第 04、05–11 页已按源码默认值修正：回环触发为&lt;b&gt;加权图距 &amp;gt; 10&lt;/b&gt;；层级合并触发为&lt;b&gt;可并数 &amp;gt; max(10%, 20 万)&lt;/b&gt;，且是 &lt;b&gt;kNN 加权平均&lt;/b&gt;而非 KL。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2" name=""/>
          <p:cNvSpPr/>
          <p:nvPr/>
        </p:nvSpPr>
        <p:spPr>
          <a:xfrm rot="0" flipH="0" flipV="0">
            <a:off x="0" y="0"/>
            <a:ext cx="12192000" cy="76200"/>
          </a:xfrm>
          <a:prstGeom prst="rect">
            <a:avLst/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381000" y="209550"/>
            <a:ext cx="42672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1E4FA8"/>
                </a:solidFill>
                <a:latin typeface="Microsoft YaHei"/>
                <a:ea typeface="Microsoft YaHei"/>
              </a:rPr>
              <a:t>附：七个步骤在源码里长什么样</a:t>
            </a:r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11325225" y="409575"/>
            <a:ext cx="485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15 / 15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381000" y="628650"/>
            <a:ext cx="11430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真实源码截图，与第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04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页七步链、第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05–11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页逐页对应：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①②③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定跟谁比、④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定跟谁一起算、⑤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才真解位姿、⑥⑦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修漂移与压显存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381000" y="904875"/>
            <a:ext cx="5648325" cy="1381125"/>
          </a:xfrm>
          <a:prstGeom prst="roundRect">
            <a:avLst>
              <a:gd name="adj" fmla="val 3448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485775" y="952500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① ② ③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检索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粗筛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建边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485775" y="110490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scene/scene_model_loop_closure.py:179</a:t>
            </a:r>
            <a:endParaRPr/>
          </a:p>
        </p:txBody>
      </p:sp>
      <p:pic>
        <p:nvPicPr>
          <p:cNvPr id="179" name=""/>
          <p:cNvPicPr>
            <a:picLocks noChangeAspect="1"/>
          </p:cNvPicPr>
          <p:nvPr/>
        </p:nvPicPr>
        <p:blipFill>
          <a:blip r:embed="rId1"/>
          <a:srcRect l="238" t="0" r="238" b="0"/>
          <a:stretch>
            <a:fillRect/>
          </a:stretch>
        </p:blipFill>
        <p:spPr>
          <a:xfrm rot="0" flipH="0" flipV="0">
            <a:off x="485775" y="1238250"/>
            <a:ext cx="5410200" cy="1000125"/>
          </a:xfrm>
          <a:prstGeom prst="rect">
            <a:avLst/>
          </a:prstGeom>
          <a:ln/>
        </p:spPr>
      </p:pic>
      <p:sp>
        <p:nvSpPr>
          <p:cNvPr id="180" name=""/>
          <p:cNvSpPr/>
          <p:nvPr/>
        </p:nvSpPr>
        <p:spPr>
          <a:xfrm rot="0" flipH="0" flipV="0">
            <a:off x="381000" y="2381250"/>
            <a:ext cx="5648325" cy="1552575"/>
          </a:xfrm>
          <a:prstGeom prst="roundRect">
            <a:avLst>
              <a:gd name="adj" fmla="val 3067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485775" y="242887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④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协视图贪心扩张（式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1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485775" y="2581275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poses/ba_problem.py:648</a:t>
            </a:r>
            <a:endParaRPr/>
          </a:p>
        </p:txBody>
      </p:sp>
      <p:pic>
        <p:nvPicPr>
          <p:cNvPr id="183" name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0" flipH="0" flipV="0">
            <a:off x="485775" y="2714625"/>
            <a:ext cx="5410200" cy="1171575"/>
          </a:xfrm>
          <a:prstGeom prst="rect">
            <a:avLst/>
          </a:prstGeom>
          <a:ln/>
        </p:spPr>
      </p:pic>
      <p:sp>
        <p:nvSpPr>
          <p:cNvPr id="184" name=""/>
          <p:cNvSpPr/>
          <p:nvPr/>
        </p:nvSpPr>
        <p:spPr>
          <a:xfrm rot="0" flipH="0" flipV="0">
            <a:off x="381000" y="4029075"/>
            <a:ext cx="5648325" cy="1905000"/>
          </a:xfrm>
          <a:prstGeom prst="roundRect">
            <a:avLst>
              <a:gd name="adj" fmla="val 2500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485775" y="4076700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⑤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局部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BA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：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LM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迭代</a:t>
            </a: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 + Schur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消元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485775" y="422910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poses/mini_ba.py:285</a:t>
            </a:r>
            <a:endParaRPr/>
          </a:p>
        </p:txBody>
      </p:sp>
      <p:pic>
        <p:nvPicPr>
          <p:cNvPr id="187" name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0" flipH="0" flipV="0">
            <a:off x="485775" y="4362450"/>
            <a:ext cx="5410200" cy="1524000"/>
          </a:xfrm>
          <a:prstGeom prst="rect">
            <a:avLst/>
          </a:prstGeom>
          <a:ln/>
        </p:spPr>
      </p:pic>
      <p:sp>
        <p:nvSpPr>
          <p:cNvPr id="188" name=""/>
          <p:cNvSpPr/>
          <p:nvPr/>
        </p:nvSpPr>
        <p:spPr>
          <a:xfrm rot="0" flipH="0" flipV="0">
            <a:off x="6162675" y="904875"/>
            <a:ext cx="5648325" cy="1552575"/>
          </a:xfrm>
          <a:prstGeom prst="roundRect">
            <a:avLst>
              <a:gd name="adj" fmla="val 3067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89" name="" descr="{&quot;isTemplate&quot;:true,&quot;type&quot;:&quot;text&quot;}"/>
          <p:cNvSpPr txBox="1"/>
          <p:nvPr/>
        </p:nvSpPr>
        <p:spPr>
          <a:xfrm rot="0" flipH="0" flipV="0">
            <a:off x="6267450" y="952500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⑥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回环检测与补边</a:t>
            </a:r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6267450" y="1104900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poses/ba_problem.py:1054</a:t>
            </a:r>
            <a:endParaRPr/>
          </a:p>
        </p:txBody>
      </p:sp>
      <p:pic>
        <p:nvPicPr>
          <p:cNvPr id="191" name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0" flipH="0" flipV="0">
            <a:off x="6267450" y="1238250"/>
            <a:ext cx="5410200" cy="1171575"/>
          </a:xfrm>
          <a:prstGeom prst="rect">
            <a:avLst/>
          </a:prstGeom>
          <a:ln/>
        </p:spPr>
      </p:pic>
      <p:sp>
        <p:nvSpPr>
          <p:cNvPr id="192" name=""/>
          <p:cNvSpPr/>
          <p:nvPr/>
        </p:nvSpPr>
        <p:spPr>
          <a:xfrm rot="0" flipH="0" flipV="0">
            <a:off x="6162675" y="2552700"/>
            <a:ext cx="5648325" cy="1200150"/>
          </a:xfrm>
          <a:prstGeom prst="roundRect">
            <a:avLst>
              <a:gd name="adj" fmla="val 3968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6267450" y="260032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⑦-a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分块深度对齐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6267450" y="2752725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scene/mono_depth.py:315</a:t>
            </a:r>
            <a:endParaRPr/>
          </a:p>
        </p:txBody>
      </p:sp>
      <p:pic>
        <p:nvPicPr>
          <p:cNvPr id="195" name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0" flipH="0" flipV="0">
            <a:off x="6267450" y="2886075"/>
            <a:ext cx="5410200" cy="819150"/>
          </a:xfrm>
          <a:prstGeom prst="rect">
            <a:avLst/>
          </a:prstGeom>
          <a:ln/>
        </p:spPr>
      </p:pic>
      <p:sp>
        <p:nvSpPr>
          <p:cNvPr id="196" name=""/>
          <p:cNvSpPr/>
          <p:nvPr/>
        </p:nvSpPr>
        <p:spPr>
          <a:xfrm rot="0" flipH="0" flipV="0">
            <a:off x="6162675" y="3848100"/>
            <a:ext cx="5648325" cy="1381125"/>
          </a:xfrm>
          <a:prstGeom prst="roundRect">
            <a:avLst>
              <a:gd name="adj" fmla="val 3448"/>
            </a:avLst>
          </a:prstGeom>
          <a:solidFill>
            <a:srgbClr val="1E1E1E"/>
          </a:solidFill>
          <a:ln/>
        </p:spPr>
        <p:txBody>
          <a:bodyPr/>
          <a:p/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6267450" y="3895725"/>
            <a:ext cx="54387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8FBBFF"/>
                </a:solidFill>
                <a:latin typeface="Microsoft YaHei"/>
                <a:ea typeface="Microsoft YaHei"/>
              </a:rPr>
              <a:t xml:space="preserve">⑦-b  </a:t>
            </a:r>
            <a:r>
              <a:rPr lang="zh-CN" sz="975" b="1">
                <a:solidFill>
                  <a:srgbClr val="8FBBFF"/>
                </a:solidFill>
                <a:latin typeface="Microsoft YaHei"/>
                <a:ea typeface="Microsoft YaHei"/>
              </a:rPr>
              <a:t>渐进层级与合并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6267450" y="4048125"/>
            <a:ext cx="5438775" cy="1143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750">
                <a:solidFill>
                  <a:srgbClr val="7F8C9F"/>
                </a:solidFill>
                <a:latin typeface="Consolas"/>
                <a:ea typeface="Consolas"/>
              </a:rPr>
              <a:t>scene/hierarchy_cut.py:105</a:t>
            </a:r>
            <a:endParaRPr/>
          </a:p>
        </p:txBody>
      </p:sp>
      <p:pic>
        <p:nvPicPr>
          <p:cNvPr id="199" name=""/>
          <p:cNvPicPr>
            <a:picLocks noChangeAspect="1"/>
          </p:cNvPicPr>
          <p:nvPr/>
        </p:nvPicPr>
        <p:blipFill>
          <a:blip r:embed="rId6"/>
          <a:srcRect l="238" t="0" r="238" b="0"/>
          <a:stretch>
            <a:fillRect/>
          </a:stretch>
        </p:blipFill>
        <p:spPr>
          <a:xfrm rot="0" flipH="0" flipV="0">
            <a:off x="6267450" y="4181475"/>
            <a:ext cx="5410200" cy="1000125"/>
          </a:xfrm>
          <a:prstGeom prst="rect">
            <a:avLst/>
          </a:prstGeom>
          <a:ln/>
        </p:spPr>
      </p:pic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381000" y="6000750"/>
            <a:ext cx="11430000" cy="4191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35000"/>
              </a:lnSpc>
            </a:pP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行号指向片段起点；为投影宽度做了换行与变量缩写（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w = edge_weight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），逻辑未改。第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04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、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05–11 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页已按源码默认值修正：回环触发为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加权图距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&gt; 10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；层级合并触发为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可并数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&gt; max(10%, 20 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万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>)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，且是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kNN 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加权平均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而非</a:t>
            </a:r>
            <a:r>
              <a:rPr lang="en-US" sz="1013">
                <a:solidFill>
                  <a:srgbClr val="8B97A8"/>
                </a:solidFill>
                <a:latin typeface="Microsoft YaHei"/>
                <a:ea typeface="Microsoft YaHei"/>
              </a:rPr>
              <a:t xml:space="preserve"> KL</a:t>
            </a:r>
            <a:r>
              <a:rPr lang="zh-CN" sz="1013">
                <a:solidFill>
                  <a:srgbClr val="8B97A8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2026-10-30T12:17:13Z</dcterms:created>
  <dcterms:modified xsi:type="dcterms:W3CDTF">2026-10-30T12:17:13Z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{"AIGC":{"Label":"1","ContentProducer":"00119111010856365494821B355","ProduceID":"01a18ad5e26c774dbe2078073d84a666","ReservedCode1":"","ContentPropagator":"00119111010856365494821B355","PropagateID":"01a18ad5e26c774dbe2078073d84a666","ReservedCode2":""}}</vt:lpwstr>
  </property>
</Properties>
</file>