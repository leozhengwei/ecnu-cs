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5" Type="http://schemas.openxmlformats.org/officeDocument/2006/relationships/slide" Target="slides/slide15.xml" /><Relationship Id="rId13" Type="http://schemas.openxmlformats.org/officeDocument/2006/relationships/slide" Target="slides/slide13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2" Type="http://schemas.openxmlformats.org/officeDocument/2006/relationships/slide" Target="slides/slide2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3" Type="http://schemas.openxmlformats.org/officeDocument/2006/relationships/slide" Target="slides/slide3.xml" /><Relationship Id="rId16" Type="http://schemas.openxmlformats.org/officeDocument/2006/relationships/notesMaster" Target="notesMasters/notesMaster1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5.png" /><Relationship Id="rId2" Type="http://schemas.openxmlformats.org/officeDocument/2006/relationships/image" Target="media/image16.pn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7.png" /><Relationship Id="rId2" Type="http://schemas.openxmlformats.org/officeDocument/2006/relationships/image" Target="media/image18.pn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9.png" /><Relationship Id="rId2" Type="http://schemas.openxmlformats.org/officeDocument/2006/relationships/image" Target="media/image20.pn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1.png" /><Relationship Id="rId2" Type="http://schemas.openxmlformats.org/officeDocument/2006/relationships/image" Target="media/image22.pn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3.png" /><Relationship Id="rId2" Type="http://schemas.openxmlformats.org/officeDocument/2006/relationships/image" Target="media/image24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Relationship Id="rId2" Type="http://schemas.openxmlformats.org/officeDocument/2006/relationships/image" Target="media/image2.pn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png" /><Relationship Id="rId2" Type="http://schemas.openxmlformats.org/officeDocument/2006/relationships/image" Target="media/image4.pn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3" Type="http://schemas.openxmlformats.org/officeDocument/2006/relationships/image" Target="media/image7.png" /><Relationship Id="rId0" Type="http://schemas.openxmlformats.org/officeDocument/2006/relationships/slideLayout" Target="../slideLayouts/slideLayout1.xml" /><Relationship Id="rId4" Type="http://schemas.openxmlformats.org/officeDocument/2006/relationships/image" Target="media/image8.png" /><Relationship Id="rId1" Type="http://schemas.openxmlformats.org/officeDocument/2006/relationships/image" Target="media/image5.png" /><Relationship Id="rId2" Type="http://schemas.openxmlformats.org/officeDocument/2006/relationships/image" Target="media/image6.pn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5" Type="http://schemas.openxmlformats.org/officeDocument/2006/relationships/image" Target="media/image13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png" /><Relationship Id="rId2" Type="http://schemas.openxmlformats.org/officeDocument/2006/relationships/image" Target="media/image10.png" /><Relationship Id="rId6" Type="http://schemas.openxmlformats.org/officeDocument/2006/relationships/image" Target="media/image14.png" /><Relationship Id="rId3" Type="http://schemas.openxmlformats.org/officeDocument/2006/relationships/image" Target="media/image11.png" /><Relationship Id="rId4" Type="http://schemas.openxmlformats.org/officeDocument/2006/relationships/image" Target="media/image12.png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'1280px', height: '720px', backgroundColor: '#FFFFFF', padding: '0px', flexDirection: 'column' }}&gt;&#10;    &lt;Box style={{ width: '1280px', height: '10px', backgroundColor: '#1E4FA8' }} /&gt;&#10;    &lt;Box style={{ padding: '88px 80px 0px 80px', flexDirection: 'column' }}&gt;&#10;        &lt;Text style={{ fontSize: 20, color: '#4A5568', letterSpacing: 2 }}&gt;图形和视觉前沿技术 · Top Paper Reading&lt;/Text&gt;&#10;        &lt;Text style={{ fontSize: 62, fontWeight: 'bold', color: '#1A2230', lineHeight: 1.25, marginTop: 26 }}&gt;从&quot;拍完再算&quot;到&quot;边拍边看&quot;&lt;/Text&gt;&#10;        &lt;Text style={{ fontSize: 34, fontWeight: 'bold', color: '#1E4FA8', lineHeight: 1.35, marginTop: 18 }}&gt;SIGGRAPH 2026 即时无序三维高斯泼溅重建 · 复现与分析&lt;/Text&gt;&#10;        &lt;Box style={{ width: '160px', height: '6px', backgroundColor: '#1E4FA8', marginTop: 34 }} /&gt;&#10;        &lt;Text style={{ fontSize: 19, color: '#4A5568', lineHeight: 1.7, marginTop: 30 }}&gt;Immediate 3D Gaussian Splat Reconstruction of Unordered Input with Global Consistency&lt;/Text&gt;&#10;        &lt;Text style={{ fontSize: 17, color: '#8B97A8', lineHeight: 1.6, marginTop: 10 }}&gt;Andreas Meuleman, Linus Franke, Boris Zhestiankin, Camille Montemagni, George Drettakis · Inria GRAPHDECO · ACM TOG 2026&lt;/Text&gt;&#10;    &lt;/Box&gt;&#10;    &lt;Box style={{ marginTop: 'auto', padding: '26px 80px', backgroundColor: '#F0F5FC', flexDirection: 'row', justifyContent: 'space-between', alignItems: 'center' }}&gt;&#10;        &lt;Text style={{ fontSize: 20, color: '#1A2230' }}&gt;汇报人：郑炜　周子懿　　指导教师：DeepSeek&lt;/Text&gt;&#10;        &lt;Text style={{ fontSize: 20, color: '#1E4FA8', fontWeight: 'bold' }}&gt;2026 年 11 月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933450"/>
            <a:ext cx="10668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4A5568"/>
                </a:solidFill>
                <a:latin typeface="Microsoft YaHei"/>
                <a:ea typeface="Microsoft YaHei"/>
              </a:rPr>
              <a:t>图形和视觉前沿技术</a:t>
            </a:r>
            <a:r>
              <a:rPr lang="en-US" sz="1500" spc="15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Top Paper Reading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1409700"/>
            <a:ext cx="10668000" cy="8858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从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拍完再算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到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边拍边看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2466975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SIGGRAPH 2026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即时无序三维高斯泼溅重建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复现与分析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762000" y="3324225"/>
            <a:ext cx="1524000" cy="571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62000" y="3667125"/>
            <a:ext cx="106680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Immediate 3D Gaussian Splat Reconstruction of Unordered Input with Global Consistency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133850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Andreas Meuleman, Linus Franke, Boris Zhestiankin, Camille Montemagni, George Drettakis · Inria GRAPHDECO · ACM TOG 2026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6134100"/>
            <a:ext cx="12192000" cy="7239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62000" y="6381750"/>
            <a:ext cx="4152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汇报人：郑炜　周子懿　　指导教师：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DeepSeek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0172700" y="6381750"/>
            <a:ext cx="1257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年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34" name="" descr="&lt;Slide style={{ width: '1280px', height: '720px', backgroundColor: '#FFFFFF', padding: '0px', flexDirection: 'column' }}&gt;&#10;    &lt;Box style={{ width: '1280px', height: '8px', backgroundColor: '#1E4FA8' }} /&gt;&#10;    &lt;Box style={{ padding: '24px 40px 0px 40px', flexDirection: 'row', justifyContent: 'space-between', alignItems: 'flex-end' }}&gt;&#10;        &lt;Text style={{ fontSize: 33, fontWeight: 'bold', color: '#1E4FA8' }}&gt;研究背景：两条路都卡在同一个前提上&lt;/Text&gt;&#10;        &lt;Text style={{ fontSize: 15, color: '#8B97A8' }}&gt;02 / 15&lt;/Text&gt;&#10;    &lt;/Box&gt;&#10;    &lt;Box style={{ padding: '8px 40px 0px 40px' }}&gt;&#10;        &lt;Text style={{ fontSize: 20, color: '#4A5568', lineHeight: 1.4 }}&gt;拿到“一组照片 → 一个可漫游的 3D 场景”，过去只有两条路。它们的分歧不在算法细节，而在&lt;b&gt;什么时候允许开始计算&lt;/b&gt;。&lt;/Text&gt;&#10;    &lt;/Box&gt;&#10;&#10;    &lt;Box style={{ padding: '14px 40px 0px 40px', flexDirection: 'row', gap: 22 }}&gt;&#10;        &lt;Box style={{ flex: 1, backgroundColor: '#F7F9FC', border: '1px solid #D6DCE5', borderRadius: 6, padding: '13px 18px', flexDirection: 'column' }}&gt;&#10;            &lt;Text style={{ fontSize: 24, fontWeight: 'bold', color: '#1A2230' }}&gt;路线一　离线 SfM + 3DGS&lt;/Text&gt;&#10;            &lt;Text style={{ fontSize: 16, color: '#4A5568', marginTop: 4 }}&gt;COLMAP / GLOMAP ＋ 3DGS、H3DGS、Octree-GS&lt;/Text&gt;&#10;            &lt;Text style={{ fontSize: 19, color: '#1A2230', lineHeight: 1.5, marginTop: 9 }}&gt;先把所有照片两两匹配、三角化、全局 BA 解出位姿，再训练高斯。质量最高、全局一致，但&lt;b&gt;必须等图全部到齐&lt;/b&gt;。&lt;/Text&gt;&#10;            &lt;Text style={{ fontSize: 19, color: '#1E4FA8', fontWeight: 'bold', marginTop: 8 }}&gt;前提：先有完整的照片集合&lt;/Text&gt;&#10;            &lt;Text style={{ fontSize: 19, color: '#D9534F', fontWeight: 'bold', marginTop: 2 }}&gt;代价：现场给不出任何反馈&lt;/Text&gt;&#10;        &lt;/Box&gt;&#10;        &lt;Box style={{ flex: 1, backgroundColor: '#F0F5FC', border: '1px solid #3D7BD9', borderRadius: 6, padding: '13px 18px', flexDirection: 'column' }}&gt;&#10;            &lt;Text style={{ fontSize: 24, fontWeight: 'bold', color: '#1A2230' }}&gt;路线二　增量 / 类 SLAM&lt;/Text&gt;&#10;            &lt;Text style={{ fontSize: 16, color: '#4A5568', marginTop: 4 }}&gt;Photo-SLAM、MonoGS、Droid-Splat、LongSplat&lt;/Text&gt;&#10;            &lt;Text style={{ fontSize: 19, color: '#1A2230', lineHeight: 1.5, marginTop: 9 }}&gt;边收边建、可交互，但新帧只与&lt;b&gt;时间上相邻&lt;/b&gt;的少数帧匹配（通常 5 帧窗口），转身回访、拼接两段序列就断了。&lt;/Text&gt;&#10;            &lt;Text style={{ fontSize: 19, color: '#1E4FA8', fontWeight: 'bold', marginTop: 8 }}&gt;前提：输入必须是连续视频&lt;/Text&gt;&#10;            &lt;Text style={{ fontSize: 19, color: '#D9534F', fontWeight: 'bold', marginTop: 2 }}&gt;代价：离开时间邻域就失效&lt;/Text&gt;&#10;        &lt;/Box&gt;&#10;    &lt;/Box&gt;&#10;&#10;    &lt;Box style={{ margin: '12px 40px 0px 40px', backgroundColor: '#1E4FA8', borderRadius: 6, padding: '11px 22px' }}&gt;&#10;        &lt;Text style={{ fontSize: 21, fontWeight: 'bold', color: '#FFFFFF', lineHeight: 1.4 }}&gt;两条路的前提是同一个东西：&lt;b&gt;帧序&lt;/b&gt;——一条等它全部确定，一条假设它天然有序，而真实拍摄两样都不满足。&lt;/Text&gt;&#10;    &lt;/Box&gt;&#10;&#10;    &lt;Box style={{ padding: '12px 40px 0px 40px', flexDirection: 'row', gap: 14 }}&gt;&#10;        &lt;Box style={{ flex: 1, backgroundColor: '#F7F9FC', border: '1px solid #D6DCE5', borderRadius: 6, padding: '10px 14px', flexDirection: 'column' }}&gt;&#10;            &lt;Text style={{ fontSize: 21, fontWeight: 'bold', color: '#1A2230' }}&gt;① 等&lt;/Text&gt;&#10;            &lt;Text style={{ fontSize: 16.5, color: '#1A2230', lineHeight: 1.4, marginTop: 5 }}&gt;全部图像就位才能开算，拍完不知道行不行，回家发现漏拍只能重拍。&lt;/Text&gt;&#10;            &lt;Text style={{ fontSize: 15, color: '#D9534F', fontWeight: 'bold', marginTop: 4 }}&gt;返工成本最高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② 乱&lt;/Text&gt;&#10;            &lt;Text style={{ fontSize: 16.5, color: '#1A2230', lineHeight: 1.4, marginTop: 5 }}&gt;随手拍的顺序与空间邻接无关，只能两两匹配：1000 张约 50 万对。&lt;/Text&gt;&#10;            &lt;Text style={{ fontSize: 15, color: '#D9534F', fontWeight: 'bold', marginTop: 4 }}&gt;SfM 从分钟变小时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③ 漂&lt;/Text&gt;&#10;            &lt;Text style={{ fontSize: 16.5, color: '#1A2230', lineHeight: 1.4, marginTop: 5 }}&gt;边走边建误差累积，绕一圈回来首尾差半米；传统做法重跑全局 BA。&lt;/Text&gt;&#10;            &lt;Text style={{ fontSize: 15, color: '#D9534F', fontWeight: 'bold', marginTop: 4 }}&gt;实时性当场归零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④ 爆&lt;/Text&gt;&#10;            &lt;Text style={{ fontSize: 16.5, color: '#1A2230', lineHeight: 1.4, marginTop: 5 }}&gt;高斯数随场景线性增长：不开层级，CityWalk 到第 795 / 4050 帧就 OOM。&lt;/Text&gt;&#10;            &lt;Text style={{ fontSize: 15, color: '#D9534F', fontWeight: 'bold', marginTop: 4 }}&gt;规模一上来就跑不完&lt;/Text&gt;&#10;        &lt;/Box&gt;&#10;    &lt;/Box&gt;&#10;&#10;    &lt;Box style={{ marginTop: 'auto', margin: '10px 40px 12px 40px', backgroundColor: '#F0F5FC', borderLeft: '5px solid #1E4FA8', padding: '9px 18px' }}&gt;&#10;        &lt;Text style={{ fontSize: 18, color: '#1A2230', lineHeight: 1.4 }}&gt;四个现象收敛成三条必须&lt;b&gt;同时&lt;/b&gt;成立的约束：即时（每帧数百毫秒）· 无序（不依赖帧序）· 全局一致（回环能修）——过去的方法最多同时满足两条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53435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研究背景：两条路都卡在同一个前提上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02 / 15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381000" y="76200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拿到“一组照片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一个可漫游的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3D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场景”，过去只有两条路。它们的分歧不在算法细节，而在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什么时候允许开始计算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381000" y="1219200"/>
            <a:ext cx="5610225" cy="2028825"/>
          </a:xfrm>
          <a:prstGeom prst="roundRect">
            <a:avLst>
              <a:gd name="adj" fmla="val 281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52450" y="1343025"/>
            <a:ext cx="5267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路线一　离线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+ 3DGS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552450" y="1657350"/>
            <a:ext cx="5267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COLMAP / GLOMAP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＋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3DGS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H3DGS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Octree-GS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552450" y="1933575"/>
            <a:ext cx="52673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先把所有照片两两匹配、三角化、全局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解出位姿，再训练高斯。质量最高、全局一致，但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必须等图全部到齐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552450" y="2667000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前提：先有完整的照片集合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552450" y="2905125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代价：现场给不出任何反馈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6200775" y="1219200"/>
            <a:ext cx="5610225" cy="2028825"/>
          </a:xfrm>
          <a:prstGeom prst="roundRect">
            <a:avLst>
              <a:gd name="adj" fmla="val 281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372225" y="1343025"/>
            <a:ext cx="5267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路线二　增量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类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SLAM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6372225" y="1657350"/>
            <a:ext cx="5267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Photo-SLAM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MonoGS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Droid-Splat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LongSplat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6372225" y="1933575"/>
            <a:ext cx="52673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边收边建、可交互，但新帧只与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时间上相邻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的少数帧匹配（通常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帧窗口），转身回访、拼接两段序列就断了。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6372225" y="2667000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前提：输入必须是连续视频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372225" y="2905125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代价：离开时间邻域就失效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381000" y="3362325"/>
            <a:ext cx="11430000" cy="552450"/>
          </a:xfrm>
          <a:prstGeom prst="roundRect">
            <a:avLst>
              <a:gd name="adj" fmla="val 1034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590550" y="3467100"/>
            <a:ext cx="11010900" cy="3429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两条路的前提是同一个东西：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帧序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——一条等它全部确定，一条假设它天然有序，而真实拍摄两样都不满足。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381000" y="4029075"/>
            <a:ext cx="2762250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514350" y="4124325"/>
            <a:ext cx="24955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等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514350" y="4419600"/>
            <a:ext cx="24955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全部图像就位才能开算，拍完不知道行不行，回家发现漏拍只能重拍。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514350" y="5257800"/>
            <a:ext cx="2495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返工成本最高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3276600" y="4029075"/>
            <a:ext cx="2752725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3409950" y="4124325"/>
            <a:ext cx="24860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乱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3409950" y="4419600"/>
            <a:ext cx="2486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随手拍的顺序与空间邻接无关，只能两两匹配：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1000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张约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万对。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3409950" y="4991100"/>
            <a:ext cx="2486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从分钟变小时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6162675" y="4029075"/>
            <a:ext cx="2762250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296025" y="4124325"/>
            <a:ext cx="24955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漂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296025" y="4419600"/>
            <a:ext cx="24955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边走边建误差累积，绕一圈回来首尾差半米；传统做法重跑全局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296025" y="4991100"/>
            <a:ext cx="2495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实时性当场归零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9058275" y="4029075"/>
            <a:ext cx="2752725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9191625" y="4124325"/>
            <a:ext cx="24860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爆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9191625" y="4419600"/>
            <a:ext cx="24860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高斯数随场景线性增长：不开层级，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CityWalk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到第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795 / 4050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帧就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OOM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9191625" y="5257800"/>
            <a:ext cx="2486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规模一上来就跑不完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428625" y="5991225"/>
            <a:ext cx="11430000" cy="75247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71" name=""/>
          <p:cNvSpPr/>
          <p:nvPr/>
        </p:nvSpPr>
        <p:spPr>
          <a:xfrm rot="0" flipH="0" flipV="0">
            <a:off x="381000" y="5991225"/>
            <a:ext cx="11477625" cy="752475"/>
          </a:xfrm>
          <a:custGeom>
            <a:pathLst>
              <a:path w="1205" h="79">
                <a:moveTo>
                  <a:pt x="0" y="0"/>
                </a:moveTo>
                <a:lnTo>
                  <a:pt x="5" y="0"/>
                </a:lnTo>
                <a:lnTo>
                  <a:pt x="5" y="79"/>
                </a:lnTo>
                <a:lnTo>
                  <a:pt x="0" y="79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00075" y="6076950"/>
            <a:ext cx="110394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四个现象收敛成三条必须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同时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成立的约束：即时（每帧数百毫秒）·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无序（不依赖帧序）·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全局一致（回环能修）——过去的方法最多同时满足两条。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73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4px 40px 0px 40px', flexDirection: 'row', justifyContent: 'space-between', alignItems: 'flex-end' }}&gt;&#13;&#10;        &lt;Text style={{ fontSize: 33, fontWeight: 'bold', color: '#1E4FA8' }}&gt;摘要与贡献：它把哪件事第一次做成了&lt;/Text&gt;&#13;&#10;        &lt;Text style={{ fontSize: 15, color: '#8B97A8' }}&gt;03 / 15&lt;/Text&gt;&#13;&#10;    &lt;/Box&gt;&#13;&#10;&#13;&#10;    &lt;Box style={{ padding: '20px 40px 0px 40px', flexDirection: 'row', gap: 22 }}&gt;&#13;&#10;        &lt;Box style={{ width: 438, flexDirection: 'column', gap: 13 }}&gt;&#13;&#10;            &lt;Box style={{ backgroundColor: '#F0F5FC', borderLeft: '4px solid #1E4FA8', padding: '12px 15px', flexDirection: 'column' }}&gt;&#13;&#10;                &lt;Text style={{ fontSize: 19, fontWeight: 'bold', color: '#1E4FA8' }}&gt;问题&lt;/Text&gt;&#13;&#10;                &lt;Text style={{ fontSize: 18, color: '#1A2230', lineHeight: 1.45, marginTop: 4 }}&gt;3DGS 质量高、可实时渲染，但训练前必须由 SfM 离线解位姿；SfM 要等图到齐，且对乱序敏感。&lt;/Text&gt;&#13;&#10;            &lt;/Box&gt;&#13;&#10;            &lt;Box style={{ backgroundColor: '#F7F9FC', borderLeft: '4px solid #4A5568', padding: '12px 15px', flexDirection: 'column' }}&gt;&#13;&#10;                &lt;Text style={{ fontSize: 19, fontWeight: 'bold', color: '#4A5568' }}&gt;做法&lt;/Text&gt;&#13;&#10;                &lt;Text style={{ fontSize: 18, color: '#1A2230', lineHeight: 1.45, marginTop: 4 }}&gt;首个面向无序输入、具备全局一致性的即时 3DGS 重建：两级快速匹配 ＋ GPU 局部 BA ＋ 簇级回环图传播 ＋ 渐进式层级。&lt;/Text&gt;&#13;&#10;            &lt;/Box&gt;&#13;&#10;            &lt;Box style={{ backgroundColor: '#F0F5FC', borderLeft: '4px solid #3D7BD9', padding: '12px 15px', flexDirection: 'column' }}&gt;&#13;&#10;                &lt;Text style={{ fontSize: 19, fontWeight: 'bold', color: '#3D7BD9' }}&gt;结果&lt;/Text&gt;&#13;&#10;                &lt;Text style={{ fontSize: 18, color: '#1A2230', lineHeight: 1.45, marginTop: 4 }}&gt;MipNeRF360 上 &lt;b&gt;1 分 17 秒&lt;/b&gt;达 &lt;b&gt;26.29 dB&lt;/b&gt;（离线参考 8 分 50 秒 / 27.52 dB）；输入打乱只掉 &lt;b&gt;0.5 dB&lt;/b&gt;。&lt;/Text&gt;&#13;&#10;            &lt;/Box&gt;&#13;&#10;            &lt;Text style={{ fontSize: 15, color: '#8B97A8', lineHeight: 1.35 }}&gt;关键词：三维高斯泼溅 · 无序采集 · 即时重建 · 协视图 · 回环闭合 · 渐进式层级&lt;/Text&gt;&#13;&#10;        &lt;/Box&gt;&#13;&#10;&#13;&#10;        &lt;Box style={{ flex: 1, flexDirection: 'column', gap: 13 }}&gt;&#13;&#10;            &lt;Box style={{ flexDirection: 'row', gap: 13 }}&gt;&#13;&#10;                &lt;Box style={{ flex: 1, backgroundColor: '#F7F9FC', border: '1px solid #D6DCE5', borderRadius: 6, padding: '13px 15px', flexDirection: 'column' }}&gt;&#13;&#10;                    &lt;Box style={{ flexDirection: 'row', alignItems: 'center', gap: 8 }}&gt;&#13;&#10;                        &lt;Box style={{ width: 26, height: 26, backgroundColor: '#1E4FA8', borderRadius: 4, alignItems: 'center', justifyContent: 'center' }}&gt;&#13;&#10;                            &lt;Text style={{ fontSize: 16, fontWeight: 'bold', color: '#FFFFFF' }}&gt;1&lt;/Text&gt;&#13;&#10;                        &lt;/Box&gt;&#13;&#10;                        &lt;Text style={{ fontSize: 21, fontWeight: 'bold', color: '#1A2230' }}&gt;无序序列快速匹配&lt;/Text&gt;&#13;&#10;                    &lt;/Box&gt;&#13;&#10;                    &lt;Text style={{ fontSize: 17.5, color: '#1A2230', lineHeight: 1.45, marginTop: 7 }}&gt;三级串联把候选从 1000 收到 1；配加权协视图 ＋ 高连通贪心选窗。&lt;/Text&gt;&#13;&#10;                    &lt;Text style={{ fontSize: 15.5, color: '#1E4FA8', fontWeight: 'bold', marginTop: 7 }}&gt;治“乱” · 步骤 ①–④&lt;/Text&gt;&#13;&#10;                &lt;/Box&gt;&#13;&#10;                &lt;Box style={{ flex: 1, backgroundColor: '#F7F9FC', border: '1px solid #D6DCE5', borderRadius: 6, padding: '13px 15px', flexDirection: 'column' }}&gt;&#13;&#10;                    &lt;Box style={{ flexDirection: 'row', alignItems: 'center', gap: 8 }}&gt;&#13;&#10;                        &lt;Box style={{ width: 26, height: 26, backgroundColor: '#1E4FA8', borderRadius: 4, alignItems: 'center', justifyContent: 'center' }}&gt;&#13;&#10;                            &lt;Text style={{ fontSize: 16, fontWeight: 'bold', color: '#FFFFFF' }}&gt;2&lt;/Text&gt;&#13;&#10;                        &lt;/Box&gt;&#13;&#10;                        &lt;Text style={{ fontSize: 21, fontWeight: 'bold', color: '#1A2230' }}&gt;GPU 局部重建&lt;/Text&gt;&#13;&#10;                    &lt;/Box&gt;&#13;&#10;                    &lt;Text style={{ fontSize: 17.5, color: '#1A2230', lineHeight: 1.45, marginTop: 7 }}&gt;自写 BA 核函数（稠密 Schur 补），比现有优化器快约 5 倍；分块深度对齐。&lt;/Text&gt;&#13;&#10;                    &lt;Text style={{ fontSize: 15.5, color: '#1E4FA8', fontWeight: 'bold', marginTop: 7 }}&gt;治“慢” · 步骤 ⑤、⑦&lt;/Text&gt;&#13;&#10;                &lt;/Box&gt;&#13;&#10;            &lt;/Box&gt;&#13;&#10;            &lt;Box style={{ flexDirection: 'row', gap: 13 }}&gt;&#13;&#10;                &lt;Box style={{ flex: 1, backgroundColor: '#F7F9FC', border: '1px solid #D6DCE5', borderRadius: 6, padding: '13px 15px', flexDirection: 'column' }}&gt;&#13;&#10;                    &lt;Box style={{ flexDirection: 'row', alignItems: 'center', gap: 8 }}&gt;&#13;&#10;                        &lt;Box style={{ width: 26, height: 26, backgroundColor: '#1E4FA8', borderRadius: 4, alignItems: 'center', justifyContent: 'center' }}&gt;&#13;&#10;                            &lt;Text style={{ fontSize: 16, fontWeight: 'bold', color: '#FFFFFF' }}&gt;3&lt;/Text&gt;&#13;&#10;                        &lt;/Box&gt;&#13;&#10;                        &lt;Text style={{ fontSize: 21, fontWeight: 'bold', color: '#1A2230' }}&gt;簇级回环闭合&lt;/Text&gt;&#13;&#10;                    &lt;/Box&gt;&#13;&#10;                    &lt;Text style={{ fontSize: 17.5, color: '#1A2230', lineHeight: 1.45, marginTop: 7 }}&gt;焊接窗口 BA ＋ Dijkstra 主干测地插值，把 Sim(3) 摊到全图，不跑第二次全局优化。&lt;/Text&gt;&#13;&#10;                    &lt;Text style={{ fontSize: 15.5, color: '#D9534F', fontWeight: 'bold', marginTop: 7 }}&gt;治“漂” · 步骤 ⑥&lt;/Text&gt;&#13;&#10;                &lt;/Box&gt;&#13;&#10;                &lt;Box style={{ flex: 1, backgroundColor: '#F0F5FC', border: '1px solid #3D7BD9', borderRadius: 6, padding: '13px 15px', flexDirection: 'column' }}&gt;&#13;&#10;                    &lt;Box style={{ flexDirection: 'row', alignItems: 'center', gap: 8 }}&gt;&#13;&#10;                        &lt;Box style={{ width: 26, height: 26, backgroundColor: '#0E3F8C', borderRadius: 4, alignItems: 'center', justifyContent: 'center' }}&gt;&#13;&#10;                            &lt;Text style={{ fontSize: 16, fontWeight: 'bold', color: '#FFFFFF' }}&gt;4&lt;/Text&gt;&#13;&#10;                        &lt;/Box&gt;&#13;&#10;                        &lt;Text style={{ fontSize: 21, fontWeight: 'bold', color: '#1A2230' }}&gt;渐进式高斯层级&lt;/Text&gt;&#13;&#10;                    &lt;/Box&gt;&#13;&#10;                    &lt;Text style={{ fontSize: 17.5, color: '#1A2230', lineHeight: 1.45, marginTop: 7 }}&gt;按屏幕投影尺寸合并 / 回取，叶节点卸载到 CPU；4050 帧显存仍控在 12.8 GB 内。&lt;/Text&gt;&#13;&#10;                    &lt;Text style={{ fontSize: 15.5, color: '#1E4FA8', fontWeight: 'bold', marginTop: 7 }}&gt;治“爆” · 步骤 ⑦&lt;/Text&gt;&#13;&#10;                &lt;/Box&gt;&#13;&#10;            &lt;/Box&gt;&#13;&#10;            &lt;Box style={{ backgroundColor: '#FFFFFF', border: '1px solid #D6DCE5', borderRadius: 6, padding: '12px 15px' }}&gt;&#13;&#10;                &lt;Text style={{ fontSize: 17, color: '#4A5568', lineHeight: 1.45 }}&gt;报告里的实测（我们的复现）：MipNeRF360 &lt;b&gt;garden&lt;/b&gt; 2× 降采样 &lt;b&gt;25.95 dB / 62.7 s / 19.5 GB&lt;/b&gt;，185 帧。差距来自分辨率与测试协议，不是方法失效。&lt;/Text&gt;&#13;&#10;            &lt;/Box&gt;&#13;&#10;        &lt;/Box&gt;&#13;&#10;    &lt;/Box&gt;&#13;&#10;&#13;&#10;    &lt;Box style={{ marginTop: 'auto', margin: '12px 40px 12px 40px', backgroundColor: '#1E4FA8', borderRadius: 6, padding: '11px 22px', flexDirection: 'column' }}&gt;&#13;&#10;        &lt;Text style={{ fontSize: 19, fontWeight: 'bold', color: '#FFFFFF', lineHeight: 1.4 }}&gt;创新在哪：&lt;b&gt;不是从零发明&lt;/b&gt;。2025 的直接前作已做到“免位姿 ＋ 大场景 ＋ 即时”，但要求图像有序、且不做回环。&lt;/Text&gt;&#13;&#10;        &lt;Text style={{ fontSize: 19, color: '#D6E4F7', lineHeight: 1.4, marginTop: 3 }}&gt;本文只补这两个假设——在&lt;b&gt;全部历史&lt;/b&gt;里检索重叠帧，用&lt;b&gt;图传播&lt;/b&gt;做不重算的回环。增量不大，但恰好补在前作的假设上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53435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摘要与贡献：它把哪件事第一次做成了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03 / 15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419100" y="876300"/>
            <a:ext cx="4171950" cy="10858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79" name=""/>
          <p:cNvSpPr/>
          <p:nvPr/>
        </p:nvSpPr>
        <p:spPr>
          <a:xfrm rot="0" flipH="0" flipV="0">
            <a:off x="381000" y="876300"/>
            <a:ext cx="4210050" cy="1085850"/>
          </a:xfrm>
          <a:custGeom>
            <a:pathLst>
              <a:path w="442" h="114">
                <a:moveTo>
                  <a:pt x="0" y="0"/>
                </a:moveTo>
                <a:lnTo>
                  <a:pt x="4" y="0"/>
                </a:lnTo>
                <a:lnTo>
                  <a:pt x="4" y="114"/>
                </a:lnTo>
                <a:lnTo>
                  <a:pt x="0" y="11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561975" y="990600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问题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561975" y="1247775"/>
            <a:ext cx="38481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3DGS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质量高、可实时渲染，但训练前必须由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离线解位姿；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要等图到齐，且对乱序敏感。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419100" y="2085975"/>
            <a:ext cx="4171950" cy="13811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83" name=""/>
          <p:cNvSpPr/>
          <p:nvPr/>
        </p:nvSpPr>
        <p:spPr>
          <a:xfrm rot="0" flipH="0" flipV="0">
            <a:off x="381000" y="2085975"/>
            <a:ext cx="4210050" cy="1381125"/>
          </a:xfrm>
          <a:custGeom>
            <a:pathLst>
              <a:path w="442" h="145">
                <a:moveTo>
                  <a:pt x="0" y="0"/>
                </a:moveTo>
                <a:lnTo>
                  <a:pt x="4" y="0"/>
                </a:lnTo>
                <a:lnTo>
                  <a:pt x="4" y="145"/>
                </a:lnTo>
                <a:lnTo>
                  <a:pt x="0" y="145"/>
                </a:lnTo>
                <a:close/>
              </a:path>
            </a:pathLst>
          </a:custGeom>
          <a:solidFill>
            <a:srgbClr val="4A5568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561975" y="2200275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4A5568"/>
                </a:solidFill>
                <a:latin typeface="Microsoft YaHei"/>
                <a:ea typeface="Microsoft YaHei"/>
              </a:rPr>
              <a:t>做法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561975" y="2457450"/>
            <a:ext cx="38481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首个面向无序输入、具备全局一致性的即时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重建：两级快速匹配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簇级回环图传播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渐进式层级。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419100" y="3590925"/>
            <a:ext cx="4171950" cy="13811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87" name=""/>
          <p:cNvSpPr/>
          <p:nvPr/>
        </p:nvSpPr>
        <p:spPr>
          <a:xfrm rot="0" flipH="0" flipV="0">
            <a:off x="381000" y="3590925"/>
            <a:ext cx="4210050" cy="1381125"/>
          </a:xfrm>
          <a:custGeom>
            <a:pathLst>
              <a:path w="442" h="145">
                <a:moveTo>
                  <a:pt x="0" y="0"/>
                </a:moveTo>
                <a:lnTo>
                  <a:pt x="4" y="0"/>
                </a:lnTo>
                <a:lnTo>
                  <a:pt x="4" y="145"/>
                </a:lnTo>
                <a:lnTo>
                  <a:pt x="0" y="145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561975" y="3705225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3D7BD9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561975" y="3962400"/>
            <a:ext cx="38481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上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17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达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26.29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（离线参考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27.52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）；输入打乱只掉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0.5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381000" y="5095875"/>
            <a:ext cx="41719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关键词：三维高斯泼溅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无序采集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即时重建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协视图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回环闭合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渐进式层级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4762500" y="876300"/>
            <a:ext cx="3467100" cy="1390650"/>
          </a:xfrm>
          <a:prstGeom prst="roundRect">
            <a:avLst>
              <a:gd name="adj" fmla="val 411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2" name=""/>
          <p:cNvSpPr/>
          <p:nvPr/>
        </p:nvSpPr>
        <p:spPr>
          <a:xfrm rot="0" flipH="0" flipV="0">
            <a:off x="4905375" y="1000125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4981575" y="10287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229225" y="1000125"/>
            <a:ext cx="1600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无序序列快速匹配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4905375" y="1314450"/>
            <a:ext cx="318135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三级串联把候选从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1000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收到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；配加权协视图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高连通贪心选窗。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4905375" y="1962150"/>
            <a:ext cx="31813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治“乱”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①–④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8353425" y="876300"/>
            <a:ext cx="3457575" cy="1390650"/>
          </a:xfrm>
          <a:prstGeom prst="roundRect">
            <a:avLst>
              <a:gd name="adj" fmla="val 411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8" name=""/>
          <p:cNvSpPr/>
          <p:nvPr/>
        </p:nvSpPr>
        <p:spPr>
          <a:xfrm rot="0" flipH="0" flipV="0">
            <a:off x="8496300" y="1000125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572500" y="10287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8820150" y="1000125"/>
            <a:ext cx="13049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局部重建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8496300" y="1314450"/>
            <a:ext cx="317182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自写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核函数（稠密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补），比现有优化器快约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倍；分块深度对齐。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8496300" y="1962150"/>
            <a:ext cx="31718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治“慢”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⑤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、⑦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4762500" y="2390775"/>
            <a:ext cx="3467100" cy="1685925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04" name=""/>
          <p:cNvSpPr/>
          <p:nvPr/>
        </p:nvSpPr>
        <p:spPr>
          <a:xfrm rot="0" flipH="0" flipV="0">
            <a:off x="4905375" y="2514600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4981575" y="25431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5229225" y="2514600"/>
            <a:ext cx="1200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簇级回环闭合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4905375" y="2828925"/>
            <a:ext cx="318135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焊接窗口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Dijkstra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主干测地插值，把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摊到全图，不跑第二次全局优化。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4905375" y="3771900"/>
            <a:ext cx="31813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治“漂”</a:t>
            </a:r>
            <a:r>
              <a:rPr lang="en-US" sz="1163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 ⑥</a:t>
            </a:r>
            <a:endParaRPr/>
          </a:p>
        </p:txBody>
      </p:sp>
      <p:sp>
        <p:nvSpPr>
          <p:cNvPr id="309" name=""/>
          <p:cNvSpPr/>
          <p:nvPr/>
        </p:nvSpPr>
        <p:spPr>
          <a:xfrm rot="0" flipH="0" flipV="0">
            <a:off x="8353425" y="2390775"/>
            <a:ext cx="3457575" cy="1685925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10" name=""/>
          <p:cNvSpPr/>
          <p:nvPr/>
        </p:nvSpPr>
        <p:spPr>
          <a:xfrm rot="0" flipH="0" flipV="0">
            <a:off x="8496300" y="2514600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8572500" y="25431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8820150" y="2514600"/>
            <a:ext cx="14001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渐进式高斯层级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8496300" y="2828925"/>
            <a:ext cx="317182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按屏幕投影尺寸合并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回取，叶节点卸载到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；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帧显存仍控在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12.8 GB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内。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8496300" y="3476625"/>
            <a:ext cx="31718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治“爆”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⑦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4762500" y="4200525"/>
            <a:ext cx="7048500" cy="8001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4905375" y="4314825"/>
            <a:ext cx="67627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报告里的实测（我们的复现）：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garden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2×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降采样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25.95 dB / 62.7 s / 19.5 GB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185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帧。差距来自分辨率与测试协议，不是方法失效。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381000" y="5895975"/>
            <a:ext cx="11430000" cy="847725"/>
          </a:xfrm>
          <a:prstGeom prst="roundRect">
            <a:avLst>
              <a:gd name="adj" fmla="val 674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590550" y="6000750"/>
            <a:ext cx="110109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创新在哪：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不是从零发明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2025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的直接前作已做到“免位姿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＋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大场景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＋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即时”，但要求图像有序、且不做回环。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590550" y="6334125"/>
            <a:ext cx="110109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本文只补这两个假设——在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全部历史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里检索重叠帧，用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图传播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做不重算的回环。增量不大，但恰好补在前作的假设上。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320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4px 40px 0px 40px', flexDirection: 'row', justifyContent: 'space-between', alignItems: 'flex-end' }}&gt;&#13;&#10;        &lt;Text style={{ fontSize: 33, fontWeight: 'bold', color: '#1E4FA8' }}&gt;方法总览：一帧进来，走完七步&lt;/Text&gt;&#13;&#10;        &lt;Text style={{ fontSize: 15, color: '#8B97A8' }}&gt;04 / 15&lt;/Text&gt;&#13;&#10;    &lt;/Box&gt;&#13;&#10;    &lt;Box style={{ padding: '8px 40px 0px 40px' }}&gt;&#13;&#10;        &lt;Text style={{ fontSize: 20, color: '#4A5568', lineHeight: 1.4 }}&gt;设计哲学一句话：&lt;b&gt;每帧做小事，偶尔做一次大事&lt;/b&gt;。前者保证实时，后者保证不漂；每一步都对应上一页的一个病症。&lt;/Text&gt;&#13;&#10;    &lt;/Box&gt;&#13;&#10;&#13;&#10;    &lt;Box style={{ padding: '16px 40px 0px 40px', flexDirection: 'row', gap: 10 }}&gt;&#13;&#10;        &lt;Box style={{ flex: 1, backgroundColor: '#F0F5FC', borderRadius: 6, padding: '13px 11px', flexDirection: 'column' }}&gt;&#13;&#10;            &lt;Text style={{ fontSize: 29, fontWeight: 'bold', color: '#1E4FA8' }}&gt;①&lt;/Text&gt;&#13;&#10;            &lt;Text style={{ fontSize: 20, fontWeight: 'bold', color: '#1A2230', marginTop: 3 }}&gt;全局检索&lt;/Text&gt;&#13;&#10;            &lt;Text style={{ fontSize: 16.5, color: '#1A2230', lineHeight: 1.45, marginTop: 6 }}&gt;全局描述子算余弦，取 top-20 候选帧&lt;/Text&gt;&#13;&#10;            &lt;Text style={{ fontSize: 15.5, color: '#1D5FC0', fontWeight: 'bold', marginTop: 10 }}&gt;治“乱”&lt;/Text&gt;&#13;&#10;        &lt;/Box&gt;&#13;&#10;        &lt;Box style={{ flex: 1, backgroundColor: '#F0F5FC', borderRadius: 6, padding: '13px 11px', flexDirection: 'column' }}&gt;&#13;&#10;            &lt;Text style={{ fontSize: 29, fontWeight: 'bold', color: '#1E4FA8' }}&gt;②&lt;/Text&gt;&#13;&#10;            &lt;Text style={{ fontSize: 20, fontWeight: 'bold', color: '#1A2230', marginTop: 3 }}&gt;局部粗筛&lt;/Text&gt;&#13;&#10;            &lt;Text style={{ fontSize: 16.5, color: '#1A2230', lineHeight: 1.45, marginTop: 6 }}&gt;XFeat 比内点数，20 → 5 个候选&lt;/Text&gt;&#13;&#10;            &lt;Text style={{ fontSize: 15.5, color: '#1D5FC0', fontWeight: 'bold', marginTop: 10 }}&gt;治“乱”&lt;/Text&gt;&#13;&#10;        &lt;/Box&gt;&#13;&#10;        &lt;Box style={{ flex: 1, backgroundColor: '#F0F5FC', borderRadius: 6, padding: '13px 11px', flexDirection: 'column' }}&gt;&#13;&#10;            &lt;Text style={{ fontSize: 29, fontWeight: 'bold', color: '#1E4FA8' }}&gt;③&lt;/Text&gt;&#13;&#10;            &lt;Text style={{ fontSize: 20, fontWeight: 'bold', color: '#1A2230', marginTop: 3 }}&gt;精验建边&lt;/Text&gt;&#13;&#10;            &lt;Text style={{ fontSize: 16.5, color: '#1A2230', lineHeight: 1.45, marginTop: 6 }}&gt;LightGlue ＋ RANSAC，内点 &amp;gt; 500 才建边&lt;/Text&gt;&#13;&#10;            &lt;Text style={{ fontSize: 15.5, color: '#1D5FC0', fontWeight: 'bold', marginTop: 10 }}&gt;治“乱”&lt;/Text&gt;&#13;&#10;        &lt;/Box&gt;&#13;&#10;        &lt;Box style={{ flex: 1, backgroundColor: '#F7F9FC', borderRadius: 6, padding: '13px 11px', flexDirection: 'column' }}&gt;&#13;&#10;            &lt;Text style={{ fontSize: 29, fontWeight: 'bold', color: '#1E4FA8' }}&gt;④&lt;/Text&gt;&#13;&#10;            &lt;Text style={{ fontSize: 20, fontWeight: 'bold', color: '#1A2230', marginTop: 3 }}&gt;贪心选窗&lt;/Text&gt;&#13;&#10;            &lt;Text style={{ fontSize: 16.5, color: '#1A2230', lineHeight: 1.45, marginTop: 6 }}&gt;式 1 贪心扩张到 N = 20 帧&lt;/Text&gt;&#13;&#10;            &lt;Text style={{ fontSize: 15.5, color: '#1D5FC0', fontWeight: 'bold', marginTop: 10 }}&gt;定变量范围&lt;/Text&gt;&#13;&#10;        &lt;/Box&gt;&#13;&#10;        &lt;Box style={{ flex: 1, backgroundColor: '#1E4FA8', borderRadius: 6, padding: '13px 11px', flexDirection: 'column' }}&gt;&#13;&#10;            &lt;Text style={{ fontSize: 29, fontWeight: 'bold', color: '#FFFFFF' }}&gt;⑤&lt;/Text&gt;&#13;&#10;            &lt;Text style={{ fontSize: 20, fontWeight: 'bold', color: '#FFFFFF', marginTop: 3 }}&gt;局部 BA&lt;/Text&gt;&#13;&#10;            &lt;Text style={{ fontSize: 16.5, color: '#D6E4F7', lineHeight: 1.45, marginTop: 6 }}&gt;LM ＋ Schur 补，解出位姿与三维点&lt;/Text&gt;&#13;&#10;            &lt;Text style={{ fontSize: 15.5, color: '#FFFFFF', fontWeight: 'bold', marginTop: 10 }}&gt;重建本体&lt;/Text&gt;&#13;&#10;        &lt;/Box&gt;&#13;&#10;        &lt;Box style={{ flex: 1, backgroundColor: '#F7F9FC', borderRadius: 6, padding: '13px 11px', flexDirection: 'column' }}&gt;&#13;&#10;            &lt;Text style={{ fontSize: 29, fontWeight: 'bold', color: '#1E4FA8' }}&gt;⑥&lt;/Text&gt;&#13;&#10;            &lt;Text style={{ fontSize: 20, fontWeight: 'bold', color: '#1A2230', marginTop: 3 }}&gt;回环修正&lt;/Text&gt;&#13;&#10;            &lt;Text style={{ fontSize: 16.5, color: '#1A2230', lineHeight: 1.45, marginTop: 6 }}&gt;图距 &amp;gt; 10 触发，Sim(3) 沿主干摊开&lt;/Text&gt;&#13;&#10;            &lt;Text style={{ fontSize: 15.5, color: '#D9534F', fontWeight: 'bold', marginTop: 10 }}&gt;治“漂”&lt;/Text&gt;&#13;&#10;        &lt;/Box&gt;&#13;&#10;        &lt;Box style={{ flex: 1, backgroundColor: '#F7F9FC', borderRadius: 6, padding: '13px 11px', flexDirection: 'column' }}&gt;&#13;&#10;            &lt;Text style={{ fontSize: 29, fontWeight: 'bold', color: '#1E4FA8' }}&gt;⑦&lt;/Text&gt;&#13;&#10;            &lt;Text style={{ fontSize: 20, fontWeight: 'bold', color: '#1A2230', marginTop: 3 }}&gt;高斯落位&lt;/Text&gt;&#13;&#10;            &lt;Text style={{ fontSize: 16.5, color: '#1A2230', lineHeight: 1.45, marginTop: 6 }}&gt;分块深度对齐 ＋ 层级按屏幕尺寸合并&lt;/Text&gt;&#13;&#10;            &lt;Text style={{ fontSize: 15.5, color: '#1D5FC0', fontWeight: 'bold', marginTop: 10 }}&gt;治“爆”&lt;/Text&gt;&#13;&#10;        &lt;/Box&gt;&#13;&#10;    &lt;/Box&gt;&#13;&#10;&#13;&#10;    &lt;Box style={{ padding: '20px 40px 0px 40px', flexDirection: 'column' }}&gt;&#13;&#10;        &lt;Text style={{ fontSize: 20, color: '#1A2230', lineHeight: 1.5 }}&gt;数据流：&lt;b&gt;关键帧图像&lt;/b&gt;　→　&lt;b&gt;加权协视图 G&lt;/b&gt;　→　&lt;b&gt;位姿 T_i / 三维点 X_j&lt;/b&gt;　→　&lt;b&gt;高斯集合&lt;/b&gt;　→　&lt;b&gt;渐进层级&lt;/b&gt;&lt;/Text&gt;&#13;&#10;        &lt;Text style={{ fontSize: 17, color: '#4A5568', lineHeight: 1.4, marginTop: 4 }}&gt;前三步只产出“约束”，第四五步只产出“位姿”，第六步修位姿，第七步才碰辐射场。&lt;/Text&gt;&#13;&#10;    &lt;/Box&gt;&#13;&#10;&#13;&#10;    &lt;Box style={{ padding: '16px 40px 0px 40px', flexDirection: 'row', gap: 10, alignItems: 'flex-start' }}&gt;&#13;&#10;        &lt;Box style={{ backgroundColor: '#1E4FA8', borderRadius: 4, padding: '5px 12px', marginTop: 3 }}&gt;&#13;&#10;            &lt;Text style={{ fontSize: 16, fontWeight: 'bold', color: '#FFFFFF' }}&gt;时间账&lt;/Text&gt;&#13;&#10;        &lt;/Box&gt;&#13;&#10;        &lt;Box style={{ flex: 1, flexDirection: 'column', gap: 5 }}&gt;&#13;&#10;            &lt;Text style={{ fontSize: 16.5, color: '#1A2230', lineHeight: 1.35 }}&gt;&lt;b&gt;单帧预算&lt;/b&gt;　前端 27.8 ＋ 局部 BA 40.5 ＋ 高斯/层级更新 → 论文实测 &lt;b&gt;324 ms&lt;/b&gt;（峰值 386）·　本次复现 &lt;b&gt;668 ms&lt;/b&gt;&lt;/Text&gt;&#13;&#10;            &lt;Text style={{ fontSize: 16.5, color: '#1A2230', lineHeight: 1.35 }}&gt;&lt;b&gt;全流程&lt;/b&gt;　85 张 &lt;b&gt;54 s&lt;/b&gt;（ds=1）/ 30.9 s（ds=2）　←　离线 COLMAP＋3DGS 同场景 &lt;b&gt;8 min 50 s&lt;/b&gt;，本文 1 min 17 s，&lt;b&gt;快 6.9×&lt;/b&gt;&lt;/Text&gt;&#13;&#10;            &lt;Text style={{ fontSize: 16.5, color: '#4A5568', lineHeight: 1.35 }}&gt;&lt;b&gt;immediate 的含义&lt;/b&gt;　单帧 &amp;lt; 1 秒，够边拍边判断要不要补拍；&lt;b&gt;不是&lt;/b&gt; 30 fps 视频——渲染 480 fps 是 3DGS 自带的，不算本文贡献&lt;/Text&gt;&#13;&#10;        &lt;/Box&gt;&#13;&#10;    &lt;/Box&gt;&#13;&#10;&#13;&#10;    &lt;Box style={{ padding: '16px 40px 0px 40px', flexDirection: 'column', gap: 8 }}&gt;&#13;&#10;        &lt;Box style={{ backgroundColor: '#F7F9FC', borderLeft: '5px solid #1E4FA8', padding: '9px 16px' }}&gt;&#13;&#10;            &lt;Text style={{ fontSize: 17.5, color: '#1A2230', lineHeight: 1.4 }}&gt;&lt;b&gt;节奏&lt;/b&gt;　①–⑤ 与 ⑦ 每个关键帧都跑；&lt;b&gt;⑥ 只在检测到回环时跑&lt;/b&gt;——“每帧做小事、偶尔做一次大事”的具体分工。&lt;/Text&gt;&#13;&#10;        &lt;/Box&gt;&#13;&#10;        &lt;Box style={{ backgroundColor: '#F7F9FC', borderLeft: '5px solid #D6DCE5', padding: '9px 16px' }}&gt;&#13;&#10;            &lt;Text style={{ fontSize: 17.5, color: '#1A2230', lineHeight: 1.4 }}&gt;&lt;b&gt;容错&lt;/b&gt;　匹配失败的帧先“搁置”，后续出现相似帧时再取出重试——乱序输入因此不必强求一次成功。&lt;/Text&gt;&#13;&#10;        &lt;/Box&gt;&#13;&#10;    &lt;/Box&gt;&#13;&#10;&#13;&#10;    &lt;Box style={{ marginTop: 'auto', padding: '6px 40px 12px 40px' }}&gt;&#13;&#10;        &lt;Text style={{ fontSize: 15, color: '#8B97A8' }}&gt;接下来七页，一步一页：每页都是「这步在做什么 → 长什么样 → 核心公式 → 超参取值 → 为什么这么做」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44005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方法总览：一帧进来，走完七步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15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381000" y="76200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设计哲学一句话：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每帧做小事，偶尔做一次大事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。前者保证实时，后者保证不漂；每一步都对应上一页的一个病症。</a:t>
            </a:r>
            <a:endParaRPr/>
          </a:p>
        </p:txBody>
      </p:sp>
      <p:sp>
        <p:nvSpPr>
          <p:cNvPr id="326" name=""/>
          <p:cNvSpPr/>
          <p:nvPr/>
        </p:nvSpPr>
        <p:spPr>
          <a:xfrm rot="0" flipH="0" flipV="0">
            <a:off x="38100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48577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48577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全局检索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485775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全局描述子算余弦，取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top-20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候选帧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85775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202882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213360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213360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局部粗筛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2133600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比内点数，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20 → 5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个候选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2133600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367665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378142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378142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精验建边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3781425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LightGlue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RANSAC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，内点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500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才建边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3781425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5324475" y="1238250"/>
            <a:ext cx="1543050" cy="2000250"/>
          </a:xfrm>
          <a:prstGeom prst="roundRect">
            <a:avLst>
              <a:gd name="adj" fmla="val 370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5429250" y="1362075"/>
            <a:ext cx="1333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5429250" y="1724025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贪心选窗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5429250" y="2009775"/>
            <a:ext cx="1333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式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贪心扩张到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N = 20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5429250" y="2657475"/>
            <a:ext cx="1333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定变量范围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696277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06755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706755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局部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7067550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D6E4F7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238">
                <a:solidFill>
                  <a:srgbClr val="D6E4F7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D6E4F7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238">
                <a:solidFill>
                  <a:srgbClr val="D6E4F7"/>
                </a:solidFill>
                <a:latin typeface="Microsoft YaHei"/>
                <a:ea typeface="Microsoft YaHei"/>
              </a:rPr>
              <a:t>补，解出位姿与三维点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067550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FFFFFF"/>
                </a:solidFill>
                <a:latin typeface="Microsoft YaHei"/>
                <a:ea typeface="Microsoft YaHei"/>
              </a:rPr>
              <a:t>重建本体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861060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871537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⑥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71537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回环修正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715375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图距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10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触发，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Sim(3)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沿主干摊开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8715375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治“漂”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1025842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1036320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⑦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1036320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高斯落位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363200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分块深度对齐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层级按屏幕尺寸合并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10363200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治“爆”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381000" y="342900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数据流：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关键帧图像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加权协视图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G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位姿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T_i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三维点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X_j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高斯集合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渐进层级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81000" y="3810000"/>
            <a:ext cx="114300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前三步只产出“约束”，第四五步只产出“位姿”，第六步修位姿，第七步才碰辐射场。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381000" y="426720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495300" y="431482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时间账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1162050" y="4238625"/>
            <a:ext cx="1064895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单帧预算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　前端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27.8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40.5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高斯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/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层级更新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论文实测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324 ms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（峰值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386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）·　本次复现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668 ms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162050" y="4543425"/>
            <a:ext cx="1064895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全流程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85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张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54 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ds=1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/ 30.9 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ds=2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）　←　离线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COLMAP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3DGS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同场景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8 min 50 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，本文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1 min 17 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快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6.9×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1162050" y="4848225"/>
            <a:ext cx="1064895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immediate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的含义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　单帧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&lt; 1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秒，够边拍边判断要不要补拍；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不是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30 fps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视频——渲染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480 fps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是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自带的，不算本文贡献</a:t>
            </a:r>
            <a:endParaRPr/>
          </a:p>
        </p:txBody>
      </p:sp>
      <p:sp>
        <p:nvSpPr>
          <p:cNvPr id="368" name=""/>
          <p:cNvSpPr/>
          <p:nvPr/>
        </p:nvSpPr>
        <p:spPr>
          <a:xfrm rot="0" flipH="0" flipV="0">
            <a:off x="428625" y="5257800"/>
            <a:ext cx="11430000" cy="4572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69" name=""/>
          <p:cNvSpPr/>
          <p:nvPr/>
        </p:nvSpPr>
        <p:spPr>
          <a:xfrm rot="0" flipH="0" flipV="0">
            <a:off x="381000" y="5257800"/>
            <a:ext cx="11477625" cy="457200"/>
          </a:xfrm>
          <a:custGeom>
            <a:pathLst>
              <a:path w="1205" h="48">
                <a:moveTo>
                  <a:pt x="0" y="0"/>
                </a:moveTo>
                <a:lnTo>
                  <a:pt x="5" y="0"/>
                </a:lnTo>
                <a:lnTo>
                  <a:pt x="5" y="48"/>
                </a:lnTo>
                <a:lnTo>
                  <a:pt x="0" y="4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581025" y="5343525"/>
            <a:ext cx="11077575" cy="2857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节奏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　①–⑤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与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⑦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每个关键帧都跑；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⑥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只在检测到回环时跑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——“每帧做小事、偶尔做一次大事”的具体分工。</a:t>
            </a:r>
            <a:endParaRPr/>
          </a:p>
        </p:txBody>
      </p:sp>
      <p:sp>
        <p:nvSpPr>
          <p:cNvPr id="371" name=""/>
          <p:cNvSpPr/>
          <p:nvPr/>
        </p:nvSpPr>
        <p:spPr>
          <a:xfrm rot="0" flipH="0" flipV="0">
            <a:off x="428625" y="5791200"/>
            <a:ext cx="11430000" cy="4572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72" name=""/>
          <p:cNvSpPr/>
          <p:nvPr/>
        </p:nvSpPr>
        <p:spPr>
          <a:xfrm rot="0" flipH="0" flipV="0">
            <a:off x="381000" y="5791200"/>
            <a:ext cx="11477625" cy="457200"/>
          </a:xfrm>
          <a:custGeom>
            <a:pathLst>
              <a:path w="1205" h="48">
                <a:moveTo>
                  <a:pt x="0" y="0"/>
                </a:moveTo>
                <a:lnTo>
                  <a:pt x="5" y="0"/>
                </a:lnTo>
                <a:lnTo>
                  <a:pt x="5" y="48"/>
                </a:lnTo>
                <a:lnTo>
                  <a:pt x="0" y="48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581025" y="5876925"/>
            <a:ext cx="11077575" cy="2857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容错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　匹配失败的帧先“搁置”，后续出现相似帧时再取出重试——乱序输入因此不必强求一次成功。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接下来七页，一步一页：每页都是「这步在做什么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长什么样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核心公式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超参取值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为什么这么做」。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75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全局检索：先不问“在哪”，只问“像不像”&lt;/Text&gt;&#13;&#10;        &lt;Text style={{ fontSize: 15, color: '#8B97A8' }}&gt;05 / 15&lt;/Text&gt;&#13;&#10;    &lt;/Box&gt;&#13;&#10;    &lt;Box style={{ padding: '8px 40px 0px 40px' }}&gt;&#13;&#10;        &lt;Text style={{ fontSize: 20, color: '#4A5568', lineHeight: 1.4 }}&gt;每来一个关键帧，先用一个全局描述子和全部历史帧比一次，取出 20 个“可能同处”的候选——这一步完全不看拍摄顺序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新帧图像 ＋ 已收下的历史关键帧库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MegaLoc 输出 4096 维描述子；与库内全部描述子算余弦相似度，排序取前 20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20 个候选帧（只是“像”，还不保证几何对得上）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K = 20 个候选　·　num_prev_keyframes_check = 20&lt;/Text&gt;&#13;&#10;                &lt;Text style={{ fontSize: 16, color: '#4A5568', lineHeight: 1.4, marginTop: 4 }}&gt;论文写 MixVPR，开源代码因许可换成 MegaLoc；两者都是“一帧 → 一个向量”&lt;/Text&gt;&#13;&#10;            &lt;/Box&gt;&#13;&#10;        &lt;/Box&gt;&#13;&#10;        &lt;Box style={{ width: 580, flexDirection: 'column' }}&gt;&#13;&#10;            &lt;Image src=&quot;figs/fig1_vpr.png&quot; style={{ width: 580, height: 362 }} /&gt;&#13;&#10;            &lt;Text style={{ fontSize: 14.5, color: '#8B97A8', marginTop: 5 }}&gt;图 1　检索与帧序无关：n 帧只做 n 次比对，不做 n² 次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5.png&quot; style={{ width: 149.5, height: 50.0 }} /&gt;&#13;&#10;        &lt;Text style={{ fontSize: 16.5, color: '#4A5568', lineHeight: 1.4, marginTop: 3 }}&gt;相似度只看外观、不看时间——乱序输入在这里第一次被“原谅”；代价 ≈ 1 ms / 1000 对，是整条链里最便宜的一步。&lt;/Text&gt;&#13;&#10;    &lt;/Box&gt;&#13;&#10;    &lt;Box style={{ marginTop: 'auto', padding: '10px 40px 12px 40px' }}&gt;&#13;&#10;        &lt;Text style={{ fontSize: 15, color: '#8B97A8' }}&gt;治的是“乱”：不再假设新帧只和上一帧有关，而是和全部历史都有关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2865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全局检索：先不问“在哪”，只问“像不像”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15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每来一个关键帧，先用一个全局描述子和全部历史帧比一次，取出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个“可能同处”的候选——这一步完全不看拍摄顺序。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新帧图像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已收下的历史关键帧库</a:t>
            </a:r>
            <a:endParaRPr/>
          </a:p>
        </p:txBody>
      </p:sp>
      <p:sp>
        <p:nvSpPr>
          <p:cNvPr id="383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MegaLoc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4096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维描述子；与库内全部描述子算余弦相似度，排序取前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</a:t>
            </a:r>
            <a:endParaRPr/>
          </a:p>
        </p:txBody>
      </p:sp>
      <p:sp>
        <p:nvSpPr>
          <p:cNvPr id="385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个候选帧（只是“像”，还不保证几何对得上）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381000" y="3276600"/>
            <a:ext cx="5715000" cy="1047750"/>
          </a:xfrm>
          <a:prstGeom prst="roundRect">
            <a:avLst>
              <a:gd name="adj" fmla="val 5455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K =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num_prev_keyframes_check = 20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论文写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MixVPR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，开源代码因许可换成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MegaLoc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；两者都是“一帧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一个向量”</a:t>
            </a:r>
            <a:endParaRPr/>
          </a:p>
        </p:txBody>
      </p:sp>
      <p:pic>
        <p:nvPicPr>
          <p:cNvPr id="390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检索与帧序无关：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n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帧只做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n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次比对，不做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n²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次。</a:t>
            </a:r>
            <a:endParaRPr/>
          </a:p>
        </p:txBody>
      </p:sp>
      <p:sp>
        <p:nvSpPr>
          <p:cNvPr id="392" name=""/>
          <p:cNvSpPr/>
          <p:nvPr/>
        </p:nvSpPr>
        <p:spPr>
          <a:xfrm rot="0" flipH="0" flipV="0">
            <a:off x="428625" y="5019675"/>
            <a:ext cx="11430000" cy="9620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93" name=""/>
          <p:cNvSpPr/>
          <p:nvPr/>
        </p:nvSpPr>
        <p:spPr>
          <a:xfrm rot="0" flipH="0" flipV="0">
            <a:off x="381000" y="5019675"/>
            <a:ext cx="11477625" cy="962025"/>
          </a:xfrm>
          <a:custGeom>
            <a:pathLst>
              <a:path w="1205" h="101">
                <a:moveTo>
                  <a:pt x="0" y="0"/>
                </a:moveTo>
                <a:lnTo>
                  <a:pt x="5" y="0"/>
                </a:lnTo>
                <a:lnTo>
                  <a:pt x="5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394" name=""/>
          <p:cNvPicPr>
            <a:picLocks noChangeAspect="1"/>
          </p:cNvPicPr>
          <p:nvPr/>
        </p:nvPicPr>
        <p:blipFill>
          <a:blip r:embed="rId2"/>
          <a:srcRect l="0" t="166" r="0" b="166"/>
          <a:stretch>
            <a:fillRect/>
          </a:stretch>
        </p:blipFill>
        <p:spPr>
          <a:xfrm rot="0" flipH="0" flipV="0">
            <a:off x="600075" y="5114925"/>
            <a:ext cx="1428750" cy="476250"/>
          </a:xfrm>
          <a:prstGeom prst="rect">
            <a:avLst/>
          </a:prstGeom>
          <a:ln/>
        </p:spPr>
      </p:pic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600075" y="561975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相似度只看外观、不看时间——乱序输入在这里第一次被“原谅”；代价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≈ 1 ms / 1000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对，是整条链里最便宜的一步。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治的是“乱”：不再假设新帧只和上一帧有关，而是和全部历史都有关。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97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局部粗筛：砍掉“看着像、其实没对上”的候选&lt;/Text&gt;&#13;&#10;        &lt;Text style={{ fontSize: 15, color: '#8B97A8' }}&gt;06 / 15&lt;/Text&gt;&#13;&#10;    &lt;/Box&gt;&#13;&#10;    &lt;Box style={{ padding: '8px 40px 0px 40px' }}&gt;&#13;&#10;        &lt;Text style={{ fontSize: 20, color: '#4A5568', lineHeight: 1.4 }}&gt;对 20 个候选各跑一次轻量局部匹配，按能对上的关键点数排序，只把前 5 个留给精确匹配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① 给出的 20 个候选帧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XFeat 提稀疏关键点，只比坐标一致性，得到内点对数 |M_ij|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5 个候选（外观像 ＋ 确实对上了点）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保留 K′ = 5 个　·　约 0.5 ms / 对&lt;/Text&gt;&#13;&#10;                &lt;Text style={{ fontSize: 16, color: '#4A5568', lineHeight: 1.4, marginTop: 4 }}&gt;这一步故意用“便宜但粗糙”的特征：它的任务只是排序，不是定论&lt;/Text&gt;&#13;&#10;            &lt;/Box&gt;&#13;&#10;        &lt;/Box&gt;&#13;&#10;        &lt;Box style={{ width: 580, flexDirection: 'column' }}&gt;&#13;&#10;            &lt;Image src=&quot;figs/fig2_xfeat.png&quot; style={{ width: 580, height: 362 }} /&gt;&#13;&#10;            &lt;Text style={{ fontSize: 14.5, color: '#8B97A8', marginTop: 5 }}&gt;图 2　20 个候选按内点数排序，只有前 5 个进入下一级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6.png&quot; style={{ width: 197.5, height: 30.5 }} /&gt;&#13;&#10;        &lt;Text style={{ fontSize: 16.5, color: '#4A5568', lineHeight: 1.4, marginTop: 3 }}&gt;淘汰的正是纯外观检索的典型假阳性：两个角落都“长得像窗台”，但一个点都对不上。&lt;/Text&gt;&#13;&#10;    &lt;/Box&gt;&#13;&#10;    &lt;Box style={{ marginTop: 'auto', padding: '10px 40px 12px 40px' }}&gt;&#13;&#10;        &lt;Text style={{ fontSize: 15, color: '#8B97A8' }}&gt;三级串联的意义：候选集 1000 → 20 → 5 → 1，贵的操作只作用在极小的集合上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6008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局部粗筛：砍掉“看着像、其实没对上”的候选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15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对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个候选各跑一次轻量局部匹配，按能对上的关键点数排序，只把前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个留给精确匹配。</a:t>
            </a:r>
            <a:endParaRPr/>
          </a:p>
        </p:txBody>
      </p:sp>
      <p:sp>
        <p:nvSpPr>
          <p:cNvPr id="403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①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给出的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</a:t>
            </a:r>
            <a:endParaRPr/>
          </a:p>
        </p:txBody>
      </p:sp>
      <p:sp>
        <p:nvSpPr>
          <p:cNvPr id="405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提稀疏关键点，只比坐标一致性，得到内点对数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|M_ij|</a:t>
            </a:r>
            <a:endParaRPr/>
          </a:p>
        </p:txBody>
      </p:sp>
      <p:sp>
        <p:nvSpPr>
          <p:cNvPr id="407" name=""/>
          <p:cNvSpPr/>
          <p:nvPr/>
        </p:nvSpPr>
        <p:spPr>
          <a:xfrm rot="0" flipH="0" flipV="0">
            <a:off x="381000" y="240030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个候选（外观像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确实对上了点）</a:t>
            </a:r>
            <a:endParaRPr/>
          </a:p>
        </p:txBody>
      </p:sp>
      <p:sp>
        <p:nvSpPr>
          <p:cNvPr id="409" name=""/>
          <p:cNvSpPr/>
          <p:nvPr/>
        </p:nvSpPr>
        <p:spPr>
          <a:xfrm rot="0" flipH="0" flipV="0">
            <a:off x="381000" y="2981325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保留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K′ =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　·　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0.5 ms /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533400" y="341947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这一步故意用“便宜但粗糙”的特征：它的任务只是排序，不是定论</a:t>
            </a:r>
            <a:endParaRPr/>
          </a:p>
        </p:txBody>
      </p:sp>
      <p:pic>
        <p:nvPicPr>
          <p:cNvPr id="412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个候选按内点数排序，只有前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个进入下一级。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428625" y="5019675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15" name=""/>
          <p:cNvSpPr/>
          <p:nvPr/>
        </p:nvSpPr>
        <p:spPr>
          <a:xfrm rot="0" flipH="0" flipV="0">
            <a:off x="381000" y="5019675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16" name=""/>
          <p:cNvPicPr>
            <a:picLocks noChangeAspect="1"/>
          </p:cNvPicPr>
          <p:nvPr/>
        </p:nvPicPr>
        <p:blipFill>
          <a:blip r:embed="rId2"/>
          <a:srcRect l="681" t="0" r="681" b="0"/>
          <a:stretch>
            <a:fillRect/>
          </a:stretch>
        </p:blipFill>
        <p:spPr>
          <a:xfrm rot="0" flipH="0" flipV="0">
            <a:off x="600075" y="5114925"/>
            <a:ext cx="1885950" cy="295275"/>
          </a:xfrm>
          <a:prstGeom prst="rect">
            <a:avLst/>
          </a:prstGeom>
          <a:ln/>
        </p:spPr>
      </p:pic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600075" y="54387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淘汰的正是纯外观检索的典型假阳性：两个角落都“长得像窗台”，但一个点都对不上。</a:t>
            </a:r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三级串联的意义：候选集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1000 → 20 → 5 → 1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，贵的操作只作用在极小的集合上。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19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精确验证：通过才建边，边就是后面一切判断的依据&lt;/Text&gt;&#13;&#10;        &lt;Text style={{ fontSize: 15, color: '#8B97A8' }}&gt;07 / 15&lt;/Text&gt;&#13;&#10;    &lt;/Box&gt;&#13;&#10;    &lt;Box style={{ padding: '8px 40px 0px 40px' }}&gt;&#13;&#10;        &lt;Text style={{ fontSize: 20, color: '#4A5568', lineHeight: 1.4 }}&gt;对 5 个候选跑 LightGlue 精确配对，RANSAC 剔除外点，内点数超过 500 才写进协视图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② 留下的 5 个候选帧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LightGlue 精确配对 ＋ RANSAC 剔外点；内点数 |M_ij| 即“这条边有多可信”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加权协视图 G = (M, E, W)，边权 w_ij = 1/|M_ij|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τ_m = 500 内点　·　min_matches_edge = 500&lt;/Text&gt;&#13;&#10;                &lt;Text style={{ fontSize: 16, color: '#4A5568', lineHeight: 1.4, marginTop: 4 }}&gt;边权取内点数倒数：内点越多边越短，于是图上“最短路”= 最可靠的位姿链&lt;/Text&gt;&#13;&#10;            &lt;/Box&gt;&#13;&#10;        &lt;/Box&gt;&#13;&#10;        &lt;Box style={{ width: 580, flexDirection: 'column' }}&gt;&#13;&#10;            &lt;Image src=&quot;figs/fig3_lightglue.png&quot; style={{ width: 580, height: 362 }} /&gt;&#13;&#10;            &lt;Text style={{ fontSize: 14.5, color: '#8B97A8', marginTop: 5 }}&gt;图 3　绿=内点、红叉=被 RANSAC 剔除；通过的帧对才成为图上的一条边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7.png&quot; style={{ width: 498.0, height: 30.5 }} /&gt;&#13;&#10;        &lt;Text style={{ fontSize: 16.5, color: '#4A5568', lineHeight: 1.4, marginTop: 3 }}&gt;这是全链唯一产生“共视约束”的地方——后面所有位姿都由这些点对推出来，边建错，后面全歪。&lt;/Text&gt;&#13;&#10;    &lt;/Box&gt;&#13;&#10;    &lt;Box style={{ marginTop: 'auto', padding: '10px 40px 12px 40px' }}&gt;&#13;&#10;        &lt;Text style={{ fontSize: 15, color: '#8B97A8' }}&gt;到这一步为止，一张图还没解；但“谁和谁能一起算”已经确定下来了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722947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精确验证：通过才建边，边就是后面一切判断的依据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07 / 15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对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个候选跑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LightGlue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精确配对，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RANSAC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剔除外点，内点数超过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才写进协视图。</a:t>
            </a:r>
            <a:endParaRPr/>
          </a:p>
        </p:txBody>
      </p:sp>
      <p:sp>
        <p:nvSpPr>
          <p:cNvPr id="425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②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留下的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LightGlue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精确配对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RANSAC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剔外点；内点数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|M_ij|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即“这条边有多可信”</a:t>
            </a:r>
            <a:endParaRPr/>
          </a:p>
        </p:txBody>
      </p:sp>
      <p:sp>
        <p:nvSpPr>
          <p:cNvPr id="429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加权协视图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 = (M, E, W)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，边权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w_ij = 1/|M_ij|</a:t>
            </a:r>
            <a:endParaRPr/>
          </a:p>
        </p:txBody>
      </p:sp>
      <p:sp>
        <p:nvSpPr>
          <p:cNvPr id="431" name=""/>
          <p:cNvSpPr/>
          <p:nvPr/>
        </p:nvSpPr>
        <p:spPr>
          <a:xfrm rot="0" flipH="0" flipV="0">
            <a:off x="381000" y="3276600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_m = 500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内点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min_matches_edge = 500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边权取内点数倒数：内点越多边越短，于是图上“最短路”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最可靠的位姿链</a:t>
            </a:r>
            <a:endParaRPr/>
          </a:p>
        </p:txBody>
      </p:sp>
      <p:pic>
        <p:nvPicPr>
          <p:cNvPr id="434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绿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内点、红叉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被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RANSAC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剔除；通过的帧对才成为图上的一条边。</a:t>
            </a:r>
            <a:endParaRPr/>
          </a:p>
        </p:txBody>
      </p:sp>
      <p:sp>
        <p:nvSpPr>
          <p:cNvPr id="436" name=""/>
          <p:cNvSpPr/>
          <p:nvPr/>
        </p:nvSpPr>
        <p:spPr>
          <a:xfrm rot="0" flipH="0" flipV="0">
            <a:off x="428625" y="5019675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7" name=""/>
          <p:cNvSpPr/>
          <p:nvPr/>
        </p:nvSpPr>
        <p:spPr>
          <a:xfrm rot="0" flipH="0" flipV="0">
            <a:off x="381000" y="5019675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38" name=""/>
          <p:cNvPicPr>
            <a:picLocks noChangeAspect="1"/>
          </p:cNvPicPr>
          <p:nvPr/>
        </p:nvPicPr>
        <p:blipFill>
          <a:blip r:embed="rId2"/>
          <a:srcRect l="806" t="0" r="806" b="0"/>
          <a:stretch>
            <a:fillRect/>
          </a:stretch>
        </p:blipFill>
        <p:spPr>
          <a:xfrm rot="0" flipH="0" flipV="0">
            <a:off x="600075" y="5114925"/>
            <a:ext cx="4743450" cy="295275"/>
          </a:xfrm>
          <a:prstGeom prst="rect">
            <a:avLst/>
          </a:prstGeom>
          <a:ln/>
        </p:spPr>
      </p:pic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600075" y="54387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这是全链唯一产生“共视约束”的地方——后面所有位姿都由这些点对推出来，边建错，后面全歪。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到这一步为止，一张图还没解；但“谁和谁能一起算”已经确定下来了。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41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选窗：从图里挑出最该一起优化的 20 帧&lt;/Text&gt;&#13;&#10;        &lt;Text style={{ fontSize: 15, color: '#8B97A8' }}&gt;08 / 15&lt;/Text&gt;&#13;&#10;    &lt;/Box&gt;&#13;&#10;    &lt;Box style={{ padding: '8px 40px 0px 40px' }}&gt;&#13;&#10;        &lt;Text style={{ fontSize: 20, color: '#4A5568', lineHeight: 1.4 }}&gt;不是“最近 20 帧”，而是“和当前集合连接最强的那个”——一次加一个，贪心扩张到 20 个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③ 更新后的加权协视图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每步选“与已选集合累计内点数最大”的节点加入，直到凑满 N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局部 BA 的变量集合 S（这一步只决定“算谁”，不动数值）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N = 20 帧　·　num_prev_keyframes_miniba_incr = 5&lt;/Text&gt;&#13;&#10;                &lt;Text style={{ fontSize: 16, color: '#4A5568', lineHeight: 1.4, marginTop: 4 }}&gt;每个节点平均只有约 10 条边，所以一次 argmax 的开销可以忽略&lt;/Text&gt;&#13;&#10;            &lt;/Box&gt;&#13;&#10;        &lt;/Box&gt;&#13;&#10;        &lt;Box style={{ width: 580, flexDirection: 'column' }}&gt;&#13;&#10;            &lt;Image src=&quot;figs/fig4_window.png&quot; style={{ width: 580, height: 362 }} /&gt;&#13;&#10;            &lt;Text style={{ fontSize: 14.5, color: '#8B97A8', marginTop: 5 }}&gt;图 4　实心=已选，红圈=本轮 argmax；贪心比全局最优便宜得多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8.png&quot; style={{ width: 437.0, height: 67.5 }} /&gt;&#13;&#10;        &lt;Text style={{ fontSize: 16.5, color: '#4A5568', lineHeight: 1.4, marginTop: 3 }}&gt;消融 NoKFSelection：PSNR 26.29 → 24.56 dB。选窗比匹配本身更影响最终质量——窗选错，后面怎么优化都救不回。&lt;/Text&gt;&#13;&#10;    &lt;/Box&gt;&#13;&#10;    &lt;Box style={{ marginTop: 'auto', padding: '10px 40px 12px 40px' }}&gt;&#13;&#10;        &lt;Text style={{ fontSize: 15, color: '#8B97A8' }}&gt;前四步合起来只回答一件事：哪些帧该放到同一张桌子上一起算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56102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选窗：从图里挑出最该一起优化的</a:t>
            </a:r>
            <a:r>
              <a:rPr lang="en-US" sz="247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15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不是“最近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帧”，而是“和当前集合连接最强的那个”——一次加一个，贪心扩张到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个。</a:t>
            </a:r>
            <a:endParaRPr/>
          </a:p>
        </p:txBody>
      </p:sp>
      <p:sp>
        <p:nvSpPr>
          <p:cNvPr id="447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③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更新后的加权协视图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每步选“与已选集合累计内点数最大”的节点加入，直到凑满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381000" y="240030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局部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的变量集合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（这一步只决定“算谁”，不动数值）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381000" y="2981325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N =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num_prev_keyframes_miniba_incr = 5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533400" y="341947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每个节点平均只有约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条边，所以一次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argmax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的开销可以忽略</a:t>
            </a:r>
            <a:endParaRPr/>
          </a:p>
        </p:txBody>
      </p:sp>
      <p:pic>
        <p:nvPicPr>
          <p:cNvPr id="456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4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实心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已选，红圈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本轮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argmax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；贪心比全局最优便宜得多。</a:t>
            </a:r>
            <a:endParaRPr/>
          </a:p>
        </p:txBody>
      </p:sp>
      <p:sp>
        <p:nvSpPr>
          <p:cNvPr id="458" name=""/>
          <p:cNvSpPr/>
          <p:nvPr/>
        </p:nvSpPr>
        <p:spPr>
          <a:xfrm rot="0" flipH="0" flipV="0">
            <a:off x="428625" y="5019675"/>
            <a:ext cx="11430000" cy="11334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59" name=""/>
          <p:cNvSpPr/>
          <p:nvPr/>
        </p:nvSpPr>
        <p:spPr>
          <a:xfrm rot="0" flipH="0" flipV="0">
            <a:off x="381000" y="5019675"/>
            <a:ext cx="11477625" cy="1133475"/>
          </a:xfrm>
          <a:custGeom>
            <a:pathLst>
              <a:path w="1205" h="119">
                <a:moveTo>
                  <a:pt x="0" y="0"/>
                </a:moveTo>
                <a:lnTo>
                  <a:pt x="5" y="0"/>
                </a:lnTo>
                <a:lnTo>
                  <a:pt x="5" y="119"/>
                </a:lnTo>
                <a:lnTo>
                  <a:pt x="0" y="119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60" name=""/>
          <p:cNvPicPr>
            <a:picLocks noChangeAspect="1"/>
          </p:cNvPicPr>
          <p:nvPr/>
        </p:nvPicPr>
        <p:blipFill>
          <a:blip r:embed="rId2"/>
          <a:srcRect l="367" t="0" r="367" b="0"/>
          <a:stretch>
            <a:fillRect/>
          </a:stretch>
        </p:blipFill>
        <p:spPr>
          <a:xfrm rot="0" flipH="0" flipV="0">
            <a:off x="600075" y="5114925"/>
            <a:ext cx="4162425" cy="647700"/>
          </a:xfrm>
          <a:prstGeom prst="rect">
            <a:avLst/>
          </a:prstGeom>
          <a:ln/>
        </p:spPr>
      </p:pic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600075" y="579120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消融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NoKFSelection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：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>PSNR 26.29 → 24.56 dB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。选窗比匹配本身更影响最终质量——窗选错，后面怎么优化都救不回。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前四步合起来只回答一件事：哪些帧该放到同一张桌子上一起算。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63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局部 BA：真正把位姿解出来的唯一一步&lt;/Text&gt;&#13;&#10;        &lt;Text style={{ fontSize: 15, color: '#8B97A8' }}&gt;09 / 15&lt;/Text&gt;&#13;&#10;    &lt;/Box&gt;&#13;&#10;    &lt;Box style={{ padding: '8px 40px 0px 40px' }}&gt;&#13;&#10;        &lt;Text style={{ fontSize: 20, color: '#4A5568', lineHeight: 1.4 }}&gt;在选出的 20 帧上解一次带鲁棒核的最小二乘，用 Schur 补把问题压到“只解相机”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S 内 20 个关键帧 ＋ 约 1 万路标点（按被观测次数采样）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LM 迭代：残差 = 重投影误差；构造正规方程后做稠密 Schur 消元，Cholesky 解相机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相机位姿 T_i 与三维路标点 X_j —— 重建本体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N = 20、K ≈ 1e4　·　LM 阻尼按 mul_(1 + lm) 自适应&lt;/Text&gt;&#13;&#10;                &lt;Text style={{ fontSize: 16, color: '#4A5568', lineHeight: 1.4, marginTop: 4 }}&gt;每个路标只允许被协视性选出的固定子集观测，避免观测数随帧数二次增长&lt;/Text&gt;&#13;&#10;            &lt;/Box&gt;&#13;&#10;        &lt;/Box&gt;&#13;&#10;        &lt;Box style={{ width: 580, flexDirection: 'column' }}&gt;&#13;&#10;            &lt;Image src=&quot;figs/fig5_ba.png&quot; style={{ width: 580, height: 362 }} /&gt;&#13;&#10;            &lt;Text style={{ fontSize: 14.5, color: '#8B97A8', marginTop: 5 }}&gt;图 5　二部图求解 + 分块矩阵：C 对角可逐点求逆，B 稀疏只解相机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9.png&quot; style={{ width: 596.5, height: 55.5 }} /&gt;&#13;&#10;        &lt;Text style={{ fontSize: 16.5, color: '#4A5568', lineHeight: 1.4, marginTop: 3 }}&gt;SLAM 通常只用 5 帧时间窗；这里用 20 帧并把核函数写到 GPU 上，比 g2o / CUDA-BA 快约 5 倍。&lt;/Text&gt;&#13;&#10;    &lt;/Box&gt;&#13;&#10;    &lt;Box style={{ marginTop: 'auto', padding: '10px 40px 12px 40px' }}&gt;&#13;&#10;        &lt;Text style={{ fontSize: 15, color: '#8B97A8' }}&gt;前四步是“准备”，第六步是“纠错”，只有这一步在解——位姿重建真正发生在这里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55816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局部</a:t>
            </a:r>
            <a:r>
              <a:rPr lang="en-US" sz="247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：真正把位姿解出来的唯一一步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15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在选出的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帧上解一次带鲁棒核的最小二乘，用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补把问题压到“只解相机”。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内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个关键帧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万路标点（按被观测次数采样）</a:t>
            </a:r>
            <a:endParaRPr/>
          </a:p>
        </p:txBody>
      </p:sp>
      <p:sp>
        <p:nvSpPr>
          <p:cNvPr id="471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迭代：残差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重投影误差；构造正规方程后做稠密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消元，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Cholesky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解相机</a:t>
            </a:r>
            <a:endParaRPr/>
          </a:p>
        </p:txBody>
      </p:sp>
      <p:sp>
        <p:nvSpPr>
          <p:cNvPr id="473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相机位姿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T_i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与三维路标点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X_j ——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重建本体</a:t>
            </a:r>
            <a:endParaRPr/>
          </a:p>
        </p:txBody>
      </p:sp>
      <p:sp>
        <p:nvSpPr>
          <p:cNvPr id="475" name=""/>
          <p:cNvSpPr/>
          <p:nvPr/>
        </p:nvSpPr>
        <p:spPr>
          <a:xfrm rot="0" flipH="0" flipV="0">
            <a:off x="381000" y="3276600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 = 20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、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K ≈ 1e4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阻尼按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mul_(1 + lm)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自适应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每个路标只允许被协视性选出的固定子集观测，避免观测数随帧数二次增长</a:t>
            </a:r>
            <a:endParaRPr/>
          </a:p>
        </p:txBody>
      </p:sp>
      <p:pic>
        <p:nvPicPr>
          <p:cNvPr id="478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5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二部图求解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分块矩阵：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C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对角可逐点求逆，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B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稀疏只解相机。</a:t>
            </a:r>
            <a:endParaRPr/>
          </a:p>
        </p:txBody>
      </p:sp>
      <p:sp>
        <p:nvSpPr>
          <p:cNvPr id="480" name=""/>
          <p:cNvSpPr/>
          <p:nvPr/>
        </p:nvSpPr>
        <p:spPr>
          <a:xfrm rot="0" flipH="0" flipV="0">
            <a:off x="428625" y="5019675"/>
            <a:ext cx="11430000" cy="10191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81" name=""/>
          <p:cNvSpPr/>
          <p:nvPr/>
        </p:nvSpPr>
        <p:spPr>
          <a:xfrm rot="0" flipH="0" flipV="0">
            <a:off x="381000" y="5019675"/>
            <a:ext cx="11477625" cy="1019175"/>
          </a:xfrm>
          <a:custGeom>
            <a:pathLst>
              <a:path w="1205" h="107">
                <a:moveTo>
                  <a:pt x="0" y="0"/>
                </a:moveTo>
                <a:lnTo>
                  <a:pt x="5" y="0"/>
                </a:lnTo>
                <a:lnTo>
                  <a:pt x="5" y="107"/>
                </a:lnTo>
                <a:lnTo>
                  <a:pt x="0" y="107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82" name=""/>
          <p:cNvPicPr>
            <a:picLocks noChangeAspect="1"/>
          </p:cNvPicPr>
          <p:nvPr/>
        </p:nvPicPr>
        <p:blipFill>
          <a:blip r:embed="rId2"/>
          <a:srcRect l="404" t="0" r="404" b="0"/>
          <a:stretch>
            <a:fillRect/>
          </a:stretch>
        </p:blipFill>
        <p:spPr>
          <a:xfrm rot="0" flipH="0" flipV="0">
            <a:off x="600075" y="5114925"/>
            <a:ext cx="5686425" cy="533400"/>
          </a:xfrm>
          <a:prstGeom prst="rect">
            <a:avLst/>
          </a:prstGeom>
          <a:ln/>
        </p:spPr>
      </p:pic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600075" y="567690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SLAM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通常只用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帧时间窗；这里用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帧并把核函数写到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上，比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g2o / CUDA-BA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快约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倍。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前四步是“准备”，第六步是“纠错”，只有这一步在解——位姿重建真正发生在这里。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3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回环修正：判定“两簇其实重叠”，再把修正摊回全图&lt;/Text&gt;&#13;&#10;        &lt;Text style={{ fontSize: 15, color: '#8B97A8' }}&gt;10 / 15&lt;/Text&gt;&#13;&#10;    &lt;/Box&gt;&#13;&#10;    &lt;Box style={{ padding: '8px 40px 0px 40px' }}&gt;&#13;&#10;        &lt;Text style={{ fontSize: 20, color: '#4A5568', lineHeight: 1.4 }}&gt;不重跑全局 BA：用一次焊接窗口 BA 求出 Sim(3)，再沿主干路径按测地距离插值摊开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新边让两簇之间突然出现跨簇匹配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判定&lt;/b&gt;　加权图距 &amp;#62; 10（min_loop_size）且跨簇有效匹配对 &amp;#62; 2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两簇各扩 N/2 帧做焊接 BA 得相对变换，深度变化估尺度 → Sim(3)；Dijkstra 找主干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全图位姿与高斯的同一份 Sim(3) 修正（高斯整棵子树跟着出生帧走）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min_loop_size = 10（加权图距）　·　焊接窗口两簇各扩 N/2 帧&lt;/Text&gt;&#13;&#10;                &lt;Text style={{ fontSize: 16, color: '#4A5568', lineHeight: 1.4, marginTop: 4 }}&gt;论文原文写“跳数 &amp;#62; 5”，按开源代码默认值应为加权图距 &amp;#62; 10&lt;/Text&gt;&#13;&#10;            &lt;/Box&gt;&#13;&#10;        &lt;/Box&gt;&#13;&#10;        &lt;Box style={{ width: 580, flexDirection: 'column' }}&gt;&#13;&#10;            &lt;Image src=&quot;figs/fig6_loop.png&quot; style={{ width: 580, height: 362 }} /&gt;&#13;&#10;            &lt;Text style={{ fontSize: 14.5, color: '#8B97A8', marginTop: 5 }}&gt;图 6　左：两簇间的加权图距就是回环判据；右：修正沿主干按距离摊开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10.png&quot; style={{ width: 375.0, height: 30.5 }} /&gt;&#13;&#10;        &lt;Text style={{ fontSize: 16.5, color: '#4A5568', lineHeight: 1.4, marginTop: 3 }}&gt;用“图上的距离”替换“全局优化的解”：牺牲一点精度，把回环代价从“再跑一次全局 BA”降到近似线性。&lt;/Text&gt;&#13;&#10;    &lt;/Box&gt;&#13;&#10;    &lt;Box style={{ marginTop: 'auto', padding: '10px 40px 12px 40px' }}&gt;&#13;&#10;        &lt;Text style={{ fontSize: 15, color: '#8B97A8' }}&gt;这是全文最值得借鉴的工程取舍——不追求最优解，追求“够用且算得起”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75438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回环修正：判定“两簇其实重叠”，再把修正摊回全图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15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不重跑全局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：用一次焊接窗口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求出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Sim(3)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，再沿主干路径按测地距离插值摊开。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新边让两簇之间突然出现跨簇匹配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判定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加权图距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10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min_loop_size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）且跨簇有效匹配对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2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381000" y="2400300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两簇各扩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帧做焊接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得相对变换，深度变化估尺度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Sim(3)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Dijkstra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找主干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381000" y="3276600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33400" y="33623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全图位姿与高斯的同一份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修正（高斯整棵子树跟着出生帧走）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381000" y="4152900"/>
            <a:ext cx="5715000" cy="1085850"/>
          </a:xfrm>
          <a:prstGeom prst="roundRect">
            <a:avLst>
              <a:gd name="adj" fmla="val 5263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533400" y="424815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min_loop_size = 10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（加权图距）　·　焊接窗口两簇各扩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533400" y="488632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论文原文写“跳数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&gt; 5”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，按开源代码默认值应为加权图距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&gt; 10</a:t>
            </a:r>
            <a:endParaRPr/>
          </a:p>
        </p:txBody>
      </p:sp>
      <p:pic>
        <p:nvPicPr>
          <p:cNvPr id="30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6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左：两簇间的加权图距就是回环判据；右：修正沿主干按距离摊开。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428625" y="5353050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" name=""/>
          <p:cNvSpPr/>
          <p:nvPr/>
        </p:nvSpPr>
        <p:spPr>
          <a:xfrm rot="0" flipH="0" flipV="0">
            <a:off x="381000" y="5353050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34" name=""/>
          <p:cNvPicPr>
            <a:picLocks noChangeAspect="1"/>
          </p:cNvPicPr>
          <p:nvPr/>
        </p:nvPicPr>
        <p:blipFill>
          <a:blip r:embed="rId2"/>
          <a:srcRect l="806" t="0" r="806" b="0"/>
          <a:stretch>
            <a:fillRect/>
          </a:stretch>
        </p:blipFill>
        <p:spPr>
          <a:xfrm rot="0" flipH="0" flipV="0">
            <a:off x="600075" y="5448300"/>
            <a:ext cx="3571875" cy="295275"/>
          </a:xfrm>
          <a:prstGeom prst="rect">
            <a:avLst/>
          </a:prstGeom>
          <a:ln/>
        </p:spPr>
      </p:pic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600075" y="577215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用“图上的距离”替换“全局优化的解”：牺牲一点精度，把回环代价从“再跑一次全局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BA”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降到近似线性。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这是全文最值得借鉴的工程取舍——不追求最优解，追求“够用且算得起”。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7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落位：先把深度对齐，再按屏幕尺寸压成层级&lt;/Text&gt;&#13;&#10;        &lt;Text style={{ fontSize: 15, color: '#8B97A8' }}&gt;11 / 15&lt;/Text&gt;&#13;&#10;    &lt;/Box&gt;&#13;&#10;    &lt;Box style={{ padding: '8px 40px 0px 40px' }}&gt;&#13;&#10;        &lt;Text style={{ fontSize: 20, color: '#4A5568', lineHeight: 1.4 }}&gt;位姿定下来之后才投放高斯：分块估深度尺度与偏移，再把屏幕上看不见的小高斯合并掉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位姿 ＋ 三角化稀疏点 ＋ 单目深度（Depth Anything 3）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图像切 4×4 块，每块单独拟合 s、o 再插值上采样；层级按屏幕投影尺寸合并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每关键帧固定 30 次迭代的高斯优化；显存只留“看得见”的部分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depth_grid = 4　·　τ_l = 0.5 px　·　可并数 &amp;#62; max(10%, 20 万)&lt;/Text&gt;&#13;&#10;                &lt;Text style={{ fontSize: 16, color: '#4A5568', lineHeight: 1.4, marginTop: 4 }}&gt;hierarchy_merge_ratio = 0.1、hierarchy_merge_min_count = 200000&lt;/Text&gt;&#13;&#10;            &lt;/Box&gt;&#13;&#10;        &lt;/Box&gt;&#13;&#10;        &lt;Box style={{ width: 580, flexDirection: 'column' }}&gt;&#13;&#10;            &lt;Image src=&quot;figs/fig7_gauss.png&quot; style={{ width: 580, height: 362 }} /&gt;&#13;&#10;            &lt;Text style={{ fontSize: 14.5, color: '#8B97A8', marginTop: 5 }}&gt;图 7　左：分块深度对齐；右：叶节点按屏幕尺寸合并成父节点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11.png&quot; style={{ width: 408.5, height: 26.5 }} /&gt;&#13;&#10;        &lt;Text style={{ fontSize: 16.5, color: '#4A5568', lineHeight: 1.4, marginTop: 3 }}&gt;消融 NoLoDepAlgn：26.29 → 25.41 dB。层级只压显存、不改位姿，所以能安全放在链路末端。&lt;/Text&gt;&#13;&#10;    &lt;/Box&gt;&#13;&#10;    &lt;Box style={{ marginTop: 'auto', padding: '10px 40px 12px 40px' }}&gt;&#13;&#10;        &lt;Text style={{ fontSize: 15, color: '#8B97A8' }}&gt;7 步走完，一帧的贡献结束；下一个关键帧进来，从第 ① 步重新开始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2865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落位：先把深度对齐，再按屏幕尺寸压成层级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15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位姿定下来之后才投放高斯：分块估深度尺度与偏移，再把屏幕上看不见的小高斯合并掉。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位姿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三角化稀疏点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单目深度（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Depth Anything 3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图像切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4×4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块，每块单独拟合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、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o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再插值上采样；层级按屏幕投影尺寸合并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381000" y="26955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每关键帧固定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次迭代的高斯优化；显存只留“看得见”的部分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381000" y="3571875"/>
            <a:ext cx="5715000" cy="1085850"/>
          </a:xfrm>
          <a:prstGeom prst="roundRect">
            <a:avLst>
              <a:gd name="adj" fmla="val 5263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33400" y="36671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depth_grid = 4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_l = 0.5 px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可并数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max(10%,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)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533400" y="430530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hierarchy_merge_ratio = 0.1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hierarchy_merge_min_count = 200000</a:t>
            </a:r>
            <a:endParaRPr/>
          </a:p>
        </p:txBody>
      </p:sp>
      <p:pic>
        <p:nvPicPr>
          <p:cNvPr id="52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7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左：分块深度对齐；右：叶节点按屏幕尺寸合并成父节点。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428625" y="5019675"/>
            <a:ext cx="11430000" cy="7429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381000" y="5019675"/>
            <a:ext cx="11477625" cy="742950"/>
          </a:xfrm>
          <a:custGeom>
            <a:pathLst>
              <a:path w="1205" h="78">
                <a:moveTo>
                  <a:pt x="0" y="0"/>
                </a:moveTo>
                <a:lnTo>
                  <a:pt x="5" y="0"/>
                </a:lnTo>
                <a:lnTo>
                  <a:pt x="5" y="78"/>
                </a:lnTo>
                <a:lnTo>
                  <a:pt x="0" y="7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6" name=""/>
          <p:cNvPicPr>
            <a:picLocks noChangeAspect="1"/>
          </p:cNvPicPr>
          <p:nvPr/>
        </p:nvPicPr>
        <p:blipFill>
          <a:blip r:embed="rId2"/>
          <a:srcRect l="865" t="0" r="865" b="0"/>
          <a:stretch>
            <a:fillRect/>
          </a:stretch>
        </p:blipFill>
        <p:spPr>
          <a:xfrm rot="0" flipH="0" flipV="0">
            <a:off x="600075" y="5114925"/>
            <a:ext cx="3895725" cy="257175"/>
          </a:xfrm>
          <a:prstGeom prst="rect">
            <a:avLst/>
          </a:prstGeom>
          <a:ln/>
        </p:spPr>
      </p:pic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00075" y="54006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消融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NoLoDepAlgn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：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>26.29 → 25.41 dB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。层级只压显存、不改位姿，所以能安全放在链路末端。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步走完，一帧的贡献结束；下一个关键帧进来，从第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①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步重新开始。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9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30px 40px 0px 40px', flexDirection: 'row', justifyContent: 'space-between', alignItems: 'flex-end' }}&gt;&#13;&#10;        &lt;Text style={{ fontSize: 34, fontWeight: 'bold', color: '#1E4FA8' }}&gt;论文实验：快一个数量级，只差 1–2 dB&lt;/Text&gt;&#13;&#10;        &lt;Text style={{ fontSize: 15, color: '#8B97A8' }}&gt;12 / 15&lt;/Text&gt;&#13;&#10;    &lt;/Box&gt;&#13;&#10;    &lt;Box style={{ padding: '18px 40px 0px 40px', flexDirection: 'column' }}&gt;&#13;&#10;        &lt;Box style={{ flexDirection: 'row', backgroundColor: '#1E4FA8', padding: '11px 14px' }}&gt;&#13;&#10;            &lt;Text style={{ flex: 1.5, fontSize: 19, fontWeight: 'bold', color: '#FFFFFF' }}&gt;数据集（有序）&lt;/Text&gt;&#13;&#10;            &lt;Text style={{ flex: 1.4, fontSize: 19, fontWeight: 'bold', color: '#FFFFFF' }}&gt;本方法 PSNR / 时间&lt;/Text&gt;&#13;&#10;            &lt;Text style={{ flex: 1.7, fontSize: 19, fontWeight: 'bold', color: '#FFFFFF' }}&gt;离线参考 GLOMAP+3DGS(7k)&lt;/Text&gt;&#13;&#10;            &lt;Text style={{ flex: 1.4, fontSize: 19, fontWeight: 'bold', color: '#FFFFFF' }}&gt;结论&lt;/Text&gt;&#13;&#10;        &lt;/Box&gt;&#13;&#10;        &lt;Box style={{ flexDirection: 'row', padding: '11px 14px', borderBottom: '1px solid #D6DCE5' }}&gt;&#13;&#10;            &lt;Text style={{ flex: 1.5, fontSize: 19, color: '#1A2230' }}&gt;TUM&lt;/Text&gt;&#13;&#10;            &lt;Text style={{ flex: 1.4, fontSize: 19, fontWeight: 'bold', color: '#1E4FA8' }}&gt;24.77 / 1:22&lt;/Text&gt;&#13;&#10;            &lt;Text style={{ flex: 1.7, fontSize: 19, color: '#1A2230' }}&gt;25.29 / 3:33&lt;/Text&gt;&#13;&#10;            &lt;Text style={{ flex: 1.4, fontSize: 19, color: '#1A2230' }}&gt;比 LongSplat 快约 75×&lt;/Text&gt;&#13;&#10;        &lt;/Box&gt;&#13;&#10;        &lt;Box style={{ flexDirection: 'row', padding: '11px 14px', backgroundColor: '#F7F9FC', borderBottom: '1px solid #D6DCE5' }}&gt;&#13;&#10;            &lt;Text style={{ flex: 1.5, fontSize: 19, color: '#1A2230' }}&gt;MipNeRF360&lt;/Text&gt;&#13;&#10;            &lt;Text style={{ flex: 1.4, fontSize: 19, fontWeight: 'bold', color: '#1E4FA8' }}&gt;26.29 / 1:17&lt;/Text&gt;&#13;&#10;            &lt;Text style={{ flex: 1.7, fontSize: 19, color: '#1A2230' }}&gt;27.52 / 8:50&lt;/Text&gt;&#13;&#10;            &lt;Text style={{ flex: 1.4, fontSize: 19, color: '#1A2230' }}&gt;快 6.9×，差 1.23 dB&lt;/Text&gt;&#13;&#10;        &lt;/Box&gt;&#13;&#10;        &lt;Box style={{ flexDirection: 'row', padding: '11px 14px', borderBottom: '1px solid #D6DCE5' }}&gt;&#13;&#10;            &lt;Text style={{ flex: 1.5, fontSize: 19, color: '#1A2230' }}&gt;StaticHikes&lt;/Text&gt;&#13;&#10;            &lt;Text style={{ flex: 1.4, fontSize: 19, fontWeight: 'bold', color: '#1E4FA8' }}&gt;22.12 / 2:14&lt;/Text&gt;&#13;&#10;            &lt;Text style={{ flex: 1.7, fontSize: 19, color: '#1A2230' }}&gt;20.23 / 1:02:34&lt;/Text&gt;&#13;&#10;            &lt;Text style={{ flex: 1.4, fontSize: 19, color: '#1A2230' }}&gt;质量反超离线&lt;/Text&gt;&#13;&#10;        &lt;/Box&gt;&#13;&#10;        &lt;Box style={{ flexDirection: 'row', padding: '11px 14px', backgroundColor: '#F7F9FC', borderBottom: '1px solid #D6DCE5' }}&gt;&#13;&#10;            &lt;Text style={{ flex: 1.5, fontSize: 19, color: '#1A2230' }}&gt;CityWalk（4050 帧）&lt;/Text&gt;&#13;&#10;            &lt;Text style={{ flex: 1.4, fontSize: 19, fontWeight: 'bold', color: '#1E4FA8' }}&gt;22.03 / 29:38&lt;/Text&gt;&#13;&#10;            &lt;Text style={{ flex: 1.7, fontSize: 19, color: '#1A2230' }}&gt;Octree-GS 17.33 / 3:11:40&lt;/Text&gt;&#13;&#10;            &lt;Text style={{ flex: 1.4, fontSize: 19, color: '#1A2230' }}&gt;大场景最优&lt;/Text&gt;&#13;&#10;        &lt;/Box&gt;&#13;&#10;    &lt;/Box&gt;&#13;&#10;    &lt;Box style={{ padding: '16px 40px 0px 40px', flexDirection: 'row', gap: 16 }}&gt;&#13;&#10;        &lt;Box style={{ flex: 1, backgroundColor: '#F0F5FC', borderRadius: 6, padding: '13px 16px', flexDirection: 'column' }}&gt;&#13;&#10;            &lt;Text style={{ fontSize: 36, fontWeight: 'bold', color: '#1E4FA8' }}&gt;0.5 dB&lt;/Text&gt;&#13;&#10;            &lt;Text style={{ fontSize: 19, color: '#1A2230', lineHeight: 1.45, marginTop: 4 }}&gt;输入顺序打乱后 PSNR 26.29 → 25.73，&quot;无序&quot;不是门槛&lt;/Text&gt;&#13;&#10;        &lt;/Box&gt;&#13;&#10;        &lt;Box style={{ flex: 1, backgroundColor: '#F0F5FC', borderRadius: 6, padding: '13px 16px', flexDirection: 'column' }}&gt;&#13;&#10;            &lt;Text style={{ fontSize: 36, fontWeight: 'bold', color: '#1E4FA8' }}&gt;8.5&lt;/Text&gt;&#13;&#10;            &lt;Text style={{ fontSize: 19, color: '#1A2230', lineHeight: 1.45, marginTop: 4 }}&gt;MipNeRF360 平移 APE（对比 Photo-SLAM 161+）&lt;/Text&gt;&#13;&#10;        &lt;/Box&gt;&#13;&#10;        &lt;Box style={{ flex: 1, backgroundColor: '#F0F5FC', borderRadius: 6, padding: '13px 16px', flexDirection: 'column' }}&gt;&#13;&#10;            &lt;Text style={{ fontSize: 36, fontWeight: 'bold', color: '#1E4FA8' }}&gt;324 ms&lt;/Text&gt;&#13;&#10;            &lt;Text style={{ fontSize: 19, color: '#1A2230', lineHeight: 1.45, marginTop: 4 }}&gt;MipNeRF360 平均每帧延迟，具备&quot;即时反馈&quot;资格&lt;/Text&gt;&#13;&#10;        &lt;/Box&gt;&#13;&#10;    &lt;/Box&gt;&#13;&#10;&#13;&#10;    &lt;Box style={{ padding: '18px 40px 0px 40px', flexDirection: 'column' }}&gt;&#13;&#10;        &lt;Box style={{ flexDirection: 'row', alignItems: 'flex-end', gap: 12 }}&gt;&#13;&#10;            &lt;Text style={{ fontSize: 22, fontWeight: 'bold', color: '#1E4FA8' }}&gt;消融：哪一步最不能省&lt;/Text&gt;&#13;&#10;            &lt;Text style={{ fontSize: 16, color: '#8B97A8' }}&gt;MipNeRF360 · PSNR（dB）· 横轴自 24 起，条越长越好&lt;/Text&gt;&#13;&#10;        &lt;/Box&gt;&#13;&#10;        &lt;Box style={{ flexDirection: 'row', alignItems: 'center', padding: '8px 0px 4px 0px' }}&gt;&#13;&#10;            &lt;Text style={{ width: 330, fontSize: 17, fontWeight: 'bold', color: '#1A2230' }}&gt;完整方法&lt;/Text&gt;&#13;&#10;            &lt;Box style={{ width: 568, height: 21, backgroundColor: '#1E4FA8', borderRadius: 2 }} /&gt;&#13;&#10;            &lt;Text style={{ fontSize: 17.5, fontWeight: 'bold', color: '#1E4FA8', marginLeft: 9 }}&gt;26.29&lt;/Text&gt;&#13;&#10;        &lt;/Box&gt;&#13;&#10;        &lt;Box style={{ flexDirection: 'row', alignItems: 'center', padding: '4px 0px' }}&gt;&#13;&#10;            &lt;Text style={{ width: 330, fontSize: 17, color: '#1A2230' }}&gt;不分块深度对齐（NoLoDepAlgn）&lt;/Text&gt;&#13;&#10;            &lt;Box style={{ width: 349, height: 21, backgroundColor: '#3D7BD9', borderRadius: 2 }} /&gt;&#13;&#10;            &lt;Text style={{ fontSize: 17.5, fontWeight: 'bold', color: '#1A2230', marginLeft: 9 }}&gt;25.41　&lt;Text style={{ fontSize: 15.5, color: '#D9534F' }}&gt;−0.88&lt;/Text&gt;&lt;/Text&gt;&#13;&#10;        &lt;/Box&gt;&#13;&#10;        &lt;Box style={{ flexDirection: 'row', alignItems: 'center', padding: '4px 0px' }}&gt;&#13;&#10;            &lt;Text style={{ width: 330, fontSize: 17, color: '#1A2230' }}&gt;去掉 VPR，只比相邻 5 帧&lt;/Text&gt;&#13;&#10;            &lt;Box style={{ width: 193, height: 21, backgroundColor: '#7FA5D8', borderRadius: 2 }} /&gt;&#13;&#10;            &lt;Text style={{ fontSize: 17.5, fontWeight: 'bold', color: '#1A2230', marginLeft: 9 }}&gt;24.78　&lt;Text style={{ fontSize: 15.5, color: '#D9534F' }}&gt;−1.51&lt;/Text&gt;&lt;/Text&gt;&#13;&#10;        &lt;/Box&gt;&#13;&#10;        &lt;Box style={{ flexDirection: 'row', alignItems: 'center', padding: '4px 0px' }}&gt;&#13;&#10;            &lt;Text style={{ width: 330, fontSize: 17, color: '#1A2230' }}&gt;优化窗改成&quot;最后 20 帧&quot;&lt;/Text&gt;&#13;&#10;            &lt;Box style={{ width: 139, height: 21, backgroundColor: '#A8BFE0', borderRadius: 2 }} /&gt;&#13;&#10;            &lt;Text style={{ fontSize: 17.5, fontWeight: 'bold', color: '#1A2230', marginLeft: 9 }}&gt;24.56　&lt;Text style={{ fontSize: 15.5, color: '#D9534F' }}&gt;−1.73&lt;/Text&gt;&lt;/Text&gt;&#13;&#10;        &lt;/Box&gt;&#13;&#10;    &lt;/Box&gt;&#13;&#10;&#13;&#10;    &lt;Box style={{ margin: '12px 40px 0px 40px', backgroundColor: '#F7F9FC', borderLeft: '5px solid #1E4FA8', padding: '9px 16px' }}&gt;&#13;&#10;        &lt;Text style={{ fontSize: 17, color: '#1A2230', lineHeight: 1.4 }}&gt;三处消融都掉 0.9–1.7 dB，但省下的时间远不止——这正是&quot;&lt;b&gt;先保实时、再谈精度&lt;/b&gt;&quot;的取舍证据；其中&lt;b&gt;选窗最贵&lt;/b&gt;，所以第 08 页把它单列一页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743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论文实验：快一个数量级，只差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1–2 dB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15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381000" y="923925"/>
            <a:ext cx="11430000" cy="42862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14350" y="1028700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数据集（有序）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30517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本方法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PSNR /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时间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5905500" y="1028700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离线参考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GLOMAP+3DGS(7k)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907732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381000" y="13525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514350" y="14573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TUM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30517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24.77 / 1:22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5905500" y="14573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25.29 / 3:33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907732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LongSplat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快约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75×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381000" y="17907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381000" y="17907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514350" y="18954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MipNeRF360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30517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26.29 / 1:17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5905500" y="18954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27.52 / 8:50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907732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6.9×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，差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1.23 dB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81000" y="22288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14350" y="23336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StaticHikes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30517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22.12 / 2:14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5905500" y="23336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20.23 / 1:02:34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907732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质量反超离线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381000" y="26670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6" name=""/>
          <p:cNvSpPr/>
          <p:nvPr/>
        </p:nvSpPr>
        <p:spPr>
          <a:xfrm rot="0" flipH="0" flipV="0">
            <a:off x="381000" y="26670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514350" y="27717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CityWalk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帧）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30517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22.03 / 29:38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5905500" y="27717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Octree-GS 17.33 / 3:11:40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907732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大场景最优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381000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533400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0.5 dB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533400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输入顺序打乱后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PSNR 26.29 → 25.73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无序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不是门槛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4238625" y="3257550"/>
            <a:ext cx="3714750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4391025" y="3381375"/>
            <a:ext cx="34099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8.5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391025" y="3838575"/>
            <a:ext cx="340995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平移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APE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（对比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Photo-SLAM 161+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8105775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8258175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324 ms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8258175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平均每帧延迟，具备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即时反馈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资格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381000" y="4772025"/>
            <a:ext cx="2095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消融：哪一步最不能省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2590800" y="4838700"/>
            <a:ext cx="3857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MipNeRF360 · PSNR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dB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）·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横轴自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24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起，条越长越好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381000" y="5105400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Microsoft YaHei"/>
                <a:ea typeface="Microsoft YaHei"/>
              </a:rPr>
              <a:t>完整方法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3524250" y="5105400"/>
            <a:ext cx="5410200" cy="200025"/>
          </a:xfrm>
          <a:prstGeom prst="roundRect">
            <a:avLst>
              <a:gd name="adj" fmla="val 9524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9020175" y="5105400"/>
            <a:ext cx="466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E4FA8"/>
                </a:solidFill>
                <a:latin typeface="Microsoft YaHei"/>
                <a:ea typeface="Microsoft YaHei"/>
              </a:rPr>
              <a:t>26.29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381000" y="5381625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不分块深度对齐（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NoLoDepAlgn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3524250" y="5381625"/>
            <a:ext cx="3324225" cy="200025"/>
          </a:xfrm>
          <a:prstGeom prst="roundRect">
            <a:avLst>
              <a:gd name="adj" fmla="val 9524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934200" y="5381625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25.41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−0.88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381000" y="5657850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去掉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VPR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，只比相邻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3524250" y="5657850"/>
            <a:ext cx="1838325" cy="200025"/>
          </a:xfrm>
          <a:prstGeom prst="roundRect">
            <a:avLst>
              <a:gd name="adj" fmla="val 9524"/>
            </a:avLst>
          </a:prstGeom>
          <a:solidFill>
            <a:srgbClr val="7FA5D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448300" y="5657850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24.78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−1.51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81000" y="5934075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优化窗改成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最后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3524250" y="5934075"/>
            <a:ext cx="1323975" cy="200025"/>
          </a:xfrm>
          <a:prstGeom prst="roundRect">
            <a:avLst>
              <a:gd name="adj" fmla="val 9524"/>
            </a:avLst>
          </a:prstGeom>
          <a:solidFill>
            <a:srgbClr val="A8BFE0"/>
          </a:solidFill>
          <a:ln/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933950" y="5934075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24.56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−1.73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428625" y="6286500"/>
            <a:ext cx="11430000" cy="4476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381000" y="6286500"/>
            <a:ext cx="11477625" cy="447675"/>
          </a:xfrm>
          <a:custGeom>
            <a:pathLst>
              <a:path w="1205" h="47">
                <a:moveTo>
                  <a:pt x="0" y="0"/>
                </a:moveTo>
                <a:lnTo>
                  <a:pt x="5" y="0"/>
                </a:lnTo>
                <a:lnTo>
                  <a:pt x="5" y="47"/>
                </a:lnTo>
                <a:lnTo>
                  <a:pt x="0" y="47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581025" y="6372225"/>
            <a:ext cx="110775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三处消融都掉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0.9–1.7 dB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，但省下的时间远不止——这正是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先保实时、再谈精度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的取舍证据；其中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选窗最贵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，所以第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08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页把它单列一页。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17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13px 40px 0px 40px', flexDirection: 'row', justifyContent: 'space-between', alignItems: 'flex-end' }}&gt;&#13;&#10;        &lt;Text style={{ fontSize: 31, fontWeight: 'bold', color: '#1E4FA8' }}&gt;核心优化：位姿求解是作者自己写的 GPU 核&lt;/Text&gt;&#13;&#10;        &lt;Text style={{ fontSize: 15, color: '#8B97A8' }}&gt;13 / 15&lt;/Text&gt;&#13;&#10;    &lt;/Box&gt;&#13;&#10;    &lt;Box style={{ padding: '5px 40px 0px 40px' }}&gt;&#13;&#10;        &lt;Text style={{ fontSize: 17, color: '#4A5568' }}&gt;论文没有调用 g2o / Ceres / CUDA-BA，第 ⑤ 步的 BA 从残差到求解全是自己写的：&lt;b&gt;雅可比解析、LM 迭代、Schur 消元、位姿更新，四步都留在显存里&lt;/b&gt;。&lt;/Text&gt;&#13;&#10;    &lt;/Box&gt;&#13;&#10;    &lt;Box style={{ padding: '7px 40px 0px 40px', flexDirection: 'row', gap: 14 }}&gt;&#13;&#10;        &lt;Box style={{ flex: 1, flexDirection: 'column', gap: 10 }}&gt;&#13;&#10;            &lt;Box style={{ backgroundColor: '#1E1E1E', borderRadius: 5, padding: '5px 10px', flexDirection: 'column' }}&gt;&#13;&#10;                &lt;Text style={{ fontSize: 13.5, fontWeight: 'bold', color: '#8FBBFF' }}&gt;优化 1　手写解析雅可比，废掉 autograd&lt;/Text&gt;&#13;&#10;                &lt;Text style={{ fontFamily: 'Consolas', fontSize: 10, color: '#7F8C9F', marginBottom: 2 }}&gt;poses/mini_ba_utils.cu:133&lt;/Text&gt;&#13;&#10;                &lt;Image src=&quot;opt_png/01.png&quot; style={{ width: 579, height: 173 }} /&gt;&#13;&#10;            &lt;/Box&gt;&#13;&#10;            &lt;Box style={{ backgroundColor: '#1E1E1E', borderRadius: 5, padding: '5px 10px', flexDirection: 'column' }}&gt;&#13;&#10;                &lt;Text style={{ fontSize: 13.5, fontWeight: 'bold', color: '#8FBBFF' }}&gt;优化 2　手写 se(3) 指数映射，更新融成一个核&lt;/Text&gt;&#13;&#10;                &lt;Text style={{ fontFamily: 'Consolas', fontSize: 10, color: '#7F8C9F', marginBottom: 2 }}&gt;poses/mini_ba_utils.cu:186&lt;/Text&gt;&#13;&#10;                &lt;Image src=&quot;opt_png/02.png&quot; style={{ width: 579, height: 173 }} /&gt;&#13;&#10;            &lt;/Box&gt;&#13;&#10;        &lt;/Box&gt;&#13;&#10;        &lt;Box style={{ flex: 1, flexDirection: 'column', gap: 10 }}&gt;&#13;&#10;            &lt;Box style={{ backgroundColor: '#1E1E1E', borderRadius: 5, padding: '5px 10px', flexDirection: 'column' }}&gt;&#13;&#10;                &lt;Text style={{ fontSize: 13.5, fontWeight: 'bold', color: '#8FBBFF' }}&gt;优化 3　Schur 补与 Cholesky 不落回 CPU&lt;/Text&gt;&#13;&#10;                &lt;Text style={{ fontFamily: 'Consolas', fontSize: 10, color: '#7F8C9F', marginBottom: 2 }}&gt;poses/mini_ba.py:296&lt;/Text&gt;&#13;&#10;                &lt;Image src=&quot;opt_png/03.png&quot; style={{ width: 579, height: 191 }} /&gt;&#13;&#10;            &lt;/Box&gt;&#13;&#10;            &lt;Box style={{ backgroundColor: '#1E1E1E', borderRadius: 5, padding: '5px 10px', flexDirection: 'column' }}&gt;&#13;&#10;                &lt;Text style={{ fontSize: 13.5, fontWeight: 'bold', color: '#8FBBFF' }}&gt;优化 4　整轮 LM 压成一张 CUDA Graph&lt;/Text&gt;&#13;&#10;                &lt;Text style={{ fontFamily: 'Consolas', fontSize: 10, color: '#7F8C9F', marginBottom: 2 }}&gt;poses/mini_ba.py:506（无分支写法见 :391）&lt;/Text&gt;&#13;&#10;                &lt;Image src=&quot;opt_png/04.png&quot; style={{ width: 579, height: 191 }} /&gt;&#13;&#10;            &lt;/Box&gt;&#13;&#10;        &lt;/Box&gt;&#13;&#10;    &lt;/Box&gt;&#13;&#10;    &lt;Box style={{ margin: '9px 40px 0px 40px', backgroundColor: '#F0F5FC', borderLeft: '5px solid #1E4FA8', padding: '9px 18px', flexDirection: 'row', gap: 22 }}&gt;&#13;&#10;        &lt;Box style={{ flex: 1, flexDirection: 'column' }}&gt;&#13;&#10;            &lt;Text style={{ fontSize: 15.5, fontWeight: 'bold', color: '#1E4FA8' }}&gt;省掉反向图&lt;/Text&gt;&#13;&#10;            &lt;Text style={{ fontSize: 15, color: '#1A2230', lineHeight: 1.35 }}&gt;雅可比手推成解析式，残差与 J 一核同出。&lt;/Text&gt;&#13;&#10;        &lt;/Box&gt;&#13;&#10;        &lt;Box style={{ flex: 1, flexDirection: 'column' }}&gt;&#13;&#10;            &lt;Text style={{ fontSize: 15.5, fontWeight: 'bold', color: '#1E4FA8' }}&gt;省掉主机同步&lt;/Text&gt;&#13;&#10;            &lt;Text style={{ fontSize: 15, color: '#1A2230', lineHeight: 1.35 }}&gt;观测追加 atomicAdd 抢 slot，不等 CPU 派号。&lt;/Text&gt;&#13;&#10;        &lt;/Box&gt;&#13;&#10;        &lt;Box style={{ flex: 1, flexDirection: 'column' }}&gt;&#13;&#10;            &lt;Text style={{ fontSize: 15.5, fontWeight: 'bold', color: '#1E4FA8' }}&gt;省掉启动开销&lt;/Text&gt;&#13;&#10;            &lt;Text style={{ fontSize: 15, color: '#1A2230', lineHeight: 1.35 }}&gt;上百次 LM 迭代提交一次图，不许有分支。&lt;/Text&gt;&#13;&#10;        &lt;/Box&gt;&#13;&#10;    &lt;/Box&gt;&#13;&#10;    &lt;Box style={{ marginTop: 'auto', padding: '6px 40px 10px 40px' }}&gt;&#13;&#10;        &lt;Text style={{ fontSize: 13, color: '#8B97A8', lineHeight: 1.4 }}&gt;行号指向片段起点；为投影宽度做了换行与变量缩写（v = jacxr_cam − BD @ jacxr_xyz），逻辑未改。共同点不是算法更聪明，而是&lt;b&gt;把每一步都做成 GPU 原生的形状&lt;/b&gt;——这才是「普通显卡上实时」的落点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381000" y="200025"/>
            <a:ext cx="584835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1E4FA8"/>
                </a:solidFill>
                <a:latin typeface="Microsoft YaHei"/>
                <a:ea typeface="Microsoft YaHei"/>
              </a:rPr>
              <a:t>核心优化：位姿求解是作者自己写的</a:t>
            </a:r>
            <a:r>
              <a:rPr lang="en-US" sz="23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2325" b="1">
                <a:solidFill>
                  <a:srgbClr val="1E4FA8"/>
                </a:solidFill>
                <a:latin typeface="Microsoft YaHei"/>
                <a:ea typeface="Microsoft YaHei"/>
              </a:rPr>
              <a:t>核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1325225" y="3905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13 / 15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381000" y="609600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论文没有调用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g2o / Ceres / CUDA-BA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⑤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步的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从残差到求解全是自己写的：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雅可比解析、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迭代、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Schur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消元、位姿更新，四步都留在显存里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381000" y="876300"/>
            <a:ext cx="5648325" cy="2038350"/>
          </a:xfrm>
          <a:prstGeom prst="roundRect">
            <a:avLst>
              <a:gd name="adj" fmla="val 2336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76250" y="92392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手写解析雅可比，废掉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autograd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476250" y="108585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poses/mini_ba_utils.cu:133</a:t>
            </a:r>
            <a:endParaRPr/>
          </a:p>
        </p:txBody>
      </p:sp>
      <p:pic>
        <p:nvPicPr>
          <p:cNvPr id="126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476250" y="1219200"/>
            <a:ext cx="5514975" cy="1647825"/>
          </a:xfrm>
          <a:prstGeom prst="rect">
            <a:avLst/>
          </a:prstGeom>
          <a:ln/>
        </p:spPr>
      </p:pic>
      <p:sp>
        <p:nvSpPr>
          <p:cNvPr id="127" name=""/>
          <p:cNvSpPr/>
          <p:nvPr/>
        </p:nvSpPr>
        <p:spPr>
          <a:xfrm rot="0" flipH="0" flipV="0">
            <a:off x="381000" y="3009900"/>
            <a:ext cx="5648325" cy="2038350"/>
          </a:xfrm>
          <a:prstGeom prst="roundRect">
            <a:avLst>
              <a:gd name="adj" fmla="val 2336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476250" y="305752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手写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se(3)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指数映射，更新融成一个核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476250" y="321945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poses/mini_ba_utils.cu:186</a:t>
            </a:r>
            <a:endParaRPr/>
          </a:p>
        </p:txBody>
      </p:sp>
      <p:pic>
        <p:nvPicPr>
          <p:cNvPr id="130" nam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0" flipH="0" flipV="0">
            <a:off x="476250" y="3352800"/>
            <a:ext cx="5514975" cy="1647825"/>
          </a:xfrm>
          <a:prstGeom prst="rect">
            <a:avLst/>
          </a:prstGeom>
          <a:ln/>
        </p:spPr>
      </p:pic>
      <p:sp>
        <p:nvSpPr>
          <p:cNvPr id="131" name=""/>
          <p:cNvSpPr/>
          <p:nvPr/>
        </p:nvSpPr>
        <p:spPr>
          <a:xfrm rot="0" flipH="0" flipV="0">
            <a:off x="6162675" y="876300"/>
            <a:ext cx="5648325" cy="2209800"/>
          </a:xfrm>
          <a:prstGeom prst="roundRect">
            <a:avLst>
              <a:gd name="adj" fmla="val 2155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257925" y="92392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Schur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补与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Cholesky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不落回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CPU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257925" y="108585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poses/mini_ba.py:296</a:t>
            </a:r>
            <a:endParaRPr/>
          </a:p>
        </p:txBody>
      </p:sp>
      <p:pic>
        <p:nvPicPr>
          <p:cNvPr id="134" name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0" flipH="0" flipV="0">
            <a:off x="6257925" y="1219200"/>
            <a:ext cx="5514975" cy="1819275"/>
          </a:xfrm>
          <a:prstGeom prst="rect">
            <a:avLst/>
          </a:prstGeom>
          <a:ln/>
        </p:spPr>
      </p:pic>
      <p:sp>
        <p:nvSpPr>
          <p:cNvPr id="135" name=""/>
          <p:cNvSpPr/>
          <p:nvPr/>
        </p:nvSpPr>
        <p:spPr>
          <a:xfrm rot="0" flipH="0" flipV="0">
            <a:off x="6162675" y="3181350"/>
            <a:ext cx="5648325" cy="2209800"/>
          </a:xfrm>
          <a:prstGeom prst="roundRect">
            <a:avLst>
              <a:gd name="adj" fmla="val 2155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257925" y="322897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4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整轮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LM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压成一张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CUDA Graph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257925" y="339090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poses/mini_ba.py:506</a:t>
            </a:r>
            <a:r>
              <a:rPr lang="zh-CN" sz="750">
                <a:solidFill>
                  <a:srgbClr val="7F8C9F"/>
                </a:solidFill>
                <a:latin typeface="Consolas"/>
                <a:ea typeface="Consolas"/>
              </a:rPr>
              <a:t>（无分支写法见</a:t>
            </a: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 xml:space="preserve"> :391</a:t>
            </a:r>
            <a:r>
              <a:rPr lang="zh-CN" sz="750">
                <a:solidFill>
                  <a:srgbClr val="7F8C9F"/>
                </a:solidFill>
                <a:latin typeface="Consolas"/>
                <a:ea typeface="Consolas"/>
              </a:rPr>
              <a:t>）</a:t>
            </a:r>
            <a:endParaRPr/>
          </a:p>
        </p:txBody>
      </p:sp>
      <p:pic>
        <p:nvPicPr>
          <p:cNvPr id="138" name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0" flipH="0" flipV="0">
            <a:off x="6257925" y="3524250"/>
            <a:ext cx="5514975" cy="1819275"/>
          </a:xfrm>
          <a:prstGeom prst="rect">
            <a:avLst/>
          </a:prstGeom>
          <a:ln/>
        </p:spPr>
      </p:pic>
      <p:sp>
        <p:nvSpPr>
          <p:cNvPr id="139" name=""/>
          <p:cNvSpPr/>
          <p:nvPr/>
        </p:nvSpPr>
        <p:spPr>
          <a:xfrm rot="0" flipH="0" flipV="0">
            <a:off x="428625" y="5476875"/>
            <a:ext cx="11430000" cy="5905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381000" y="5476875"/>
            <a:ext cx="11477625" cy="590550"/>
          </a:xfrm>
          <a:custGeom>
            <a:pathLst>
              <a:path w="1205" h="62">
                <a:moveTo>
                  <a:pt x="0" y="0"/>
                </a:moveTo>
                <a:lnTo>
                  <a:pt x="5" y="0"/>
                </a:lnTo>
                <a:lnTo>
                  <a:pt x="5" y="62"/>
                </a:lnTo>
                <a:lnTo>
                  <a:pt x="0" y="6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00075" y="5562600"/>
            <a:ext cx="35433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省掉反向图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600075" y="5743575"/>
            <a:ext cx="3543300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雅可比手推成解析式，残差与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J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一核同出。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4352925" y="5562600"/>
            <a:ext cx="35337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省掉主机同步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4352925" y="5743575"/>
            <a:ext cx="3533775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观测追加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atomicAdd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抢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slot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，不等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派号。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096250" y="5562600"/>
            <a:ext cx="35433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省掉启动开销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8096250" y="5743575"/>
            <a:ext cx="3543300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上百次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LM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迭代提交一次图，不许有分支。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1143000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行号指向片段起点；为投影宽度做了换行与变量缩写（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v = jacxr_cam − BD @ jacxr_xyz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），逻辑未改。共同点不是算法更聪明，而是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把每一步都做成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原生的形状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——这才是「普通显卡上实时」的落点。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48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18px 40px 0px 40px', flexDirection: 'row', justifyContent: 'space-between', alignItems: 'flex-end' }}&gt;&#13;&#10;        &lt;Text style={{ fontSize: 32, fontWeight: 'bold', color: '#1E4FA8' }}&gt;结论：三句话带走，加一张边界清单&lt;/Text&gt;&#13;&#10;        &lt;Text style={{ fontSize: 15, color: '#8B97A8' }}&gt;14 / 15&lt;/Text&gt;&#13;&#10;    &lt;/Box&gt;&#13;&#10;&#13;&#10;    &lt;Box style={{ padding: '15px 40px 0px 40px', flexDirection: 'column', gap: 18 }}&gt;&#13;&#10;        &lt;Box style={{ flexDirection: 'row', gap: 16, alignItems: 'flex-start' }}&gt;&#13;&#10;            &lt;Box style={{ width: '34px', height: '34px', backgroundColor: '#1E4FA8', borderRadius: 4, alignItems: 'center', justifyContent: 'center' }}&gt;&#13;&#10;                &lt;Text style={{ fontSize: 19, fontWeight: 'bold', color: '#FFFFFF' }}&gt;1&lt;/Text&gt;&#13;&#10;            &lt;/Box&gt;&#13;&#10;            &lt;Box style={{ flex: 1, flexDirection: 'column' }}&gt;&#13;&#10;                &lt;Text style={{ fontSize: 23, fontWeight: 'bold', color: '#1A2230' }}&gt;它填的是一块空格，不是&quot;更快的离线 SfM&quot;&lt;/Text&gt;&#13;&#10;                &lt;Text style={{ fontSize: 18, color: '#4A5568', lineHeight: 1.4, marginTop: 4 }}&gt;即时、无序、全局一致三者同时成立，此前没有方法做到。速度是手段，&quot;现场可判断&quot;才是目的。&lt;/Text&gt;&#13;&#10;            &lt;/Box&gt;&#13;&#10;        &lt;/Box&gt;&#13;&#10;        &lt;Box style={{ flexDirection: 'row', gap: 16, alignItems: 'flex-start' }}&gt;&#13;&#10;            &lt;Box style={{ width: '34px', height: '34px', backgroundColor: '#1E4FA8', borderRadius: 4, alignItems: 'center', justifyContent: 'center' }}&gt;&#13;&#10;                &lt;Text style={{ fontSize: 19, fontWeight: 'bold', color: '#FFFFFF' }}&gt;2&lt;/Text&gt;&#13;&#10;            &lt;/Box&gt;&#13;&#10;            &lt;Box style={{ flex: 1, flexDirection: 'column' }}&gt;&#13;&#10;                &lt;Text style={{ fontSize: 23, fontWeight: 'bold', color: '#1A2230' }}&gt;题眼是用&quot;图上的距离&quot;替换&quot;全局优化的解&quot;&lt;/Text&gt;&#13;&#10;                &lt;Text style={{ fontSize: 18, color: '#4A5568', lineHeight: 1.4, marginTop: 4 }}&gt;判定看加权图距、不看时间，求解用焊接窗口得 Sim(3)，再把修正按测地距离摊给全图——回环不必重算第二遍。&lt;/Text&gt;&#13;&#10;            &lt;/Box&gt;&#13;&#10;        &lt;/Box&gt;&#13;&#10;        &lt;Box style={{ flexDirection: 'row', gap: 16, alignItems: 'flex-start' }}&gt;&#13;&#10;            &lt;Box style={{ width: '34px', height: '34px', backgroundColor: '#0E3F8C', borderRadius: 4, alignItems: 'center', justifyContent: 'center' }}&gt;&#13;&#10;                &lt;Text style={{ fontSize: 19, fontWeight: 'bold', color: '#FFFFFF' }}&gt;3&lt;/Text&gt;&#13;&#10;            &lt;/Box&gt;&#13;&#10;            &lt;Box style={{ flex: 1, flexDirection: 'column' }}&gt;&#13;&#10;                &lt;Text style={{ fontSize: 23, fontWeight: 'bold', color: '#1A2230' }}&gt;代价是真的：让出 1.2 dB，换来一条自写的 GPU 求解栈&lt;/Text&gt;&#13;&#10;                &lt;Text style={{ fontSize: 18, color: '#4A5568', lineHeight: 1.4, marginTop: 4 }}&gt;不调 g2o / Ceres，雅可比、Schur 消元、迭代更新自己写成核——精度上限低于全局 BA，但换来了时间。&lt;/Text&gt;&#13;&#10;            &lt;/Box&gt;&#13;&#10;        &lt;/Box&gt;&#13;&#10;    &lt;/Box&gt;&#13;&#10;&#13;&#10;    &lt;Box style={{ margin: '17px 40px 0px 40px', backgroundColor: '#F7F9FC', border: '1px solid #D6DCE5', borderRadius: 6, padding: '9px 16px', flexDirection: 'column' }}&gt;&#13;&#10;        &lt;Box style={{ flexDirection: 'row', justifyContent: 'space-between', alignItems: 'baseline' }}&gt;&#13;&#10;            &lt;Text style={{ fontSize: 16, fontWeight: 'bold', color: '#1A2230' }}&gt;它现在的边界　→　对应的补法&lt;/Text&gt;&#13;&#10;            &lt;Text style={{ fontSize: 14, color: '#8B97A8' }}&gt;论文自述的局限，非我们的复现问题&lt;/Text&gt;&#13;&#10;        &lt;/Box&gt;&#13;&#10;        &lt;Box style={{ flexDirection: 'row', gap: 14, marginTop: 7 }}&gt;&#13;&#10;            &lt;Box style={{ flex: 1, flexDirection: 'column' }}&gt;&#13;&#10;                &lt;Text style={{ fontSize: 14.5, fontWeight: 'bold', color: '#B03A37' }}&gt;① 低视差直接失效&lt;/Text&gt;&#13;&#10;                &lt;Text style={{ fontSize: 14, color: '#1A2230', lineHeight: 1.35, marginTop: 2 }}&gt;低视差帧只参与渲染、不进位姿求解，避免污染轨迹&lt;/Text&gt;&#13;&#10;            &lt;/Box&gt;&#13;&#10;            &lt;Box style={{ flex: 1, flexDirection: 'column' }}&gt;&#13;&#10;                &lt;Text style={{ fontSize: 14.5, fontWeight: 'bold', color: '#B03A37' }}&gt;② 精度低于全局 BA&lt;/Text&gt;&#13;&#10;                &lt;Text style={{ fontSize: 14, color: '#1A2230', lineHeight: 1.35, marginTop: 2 }}&gt;在线出预览，结束时 GLOMAP 回填一次全局 BA，补回 1.2 dB&lt;/Text&gt;&#13;&#10;            &lt;/Box&gt;&#13;&#10;            &lt;Box style={{ flex: 1, flexDirection: 'column' }}&gt;&#13;&#10;                &lt;Text style={{ fontSize: 14.5, fontWeight: 'bold', color: '#B03A37' }}&gt;③ 上游依赖链太重&lt;/Text&gt;&#13;&#10;                &lt;Text style={{ fontSize: 14, color: '#1A2230', lineHeight: 1.35, marginTop: 2 }}&gt;采集端给实时覆盖率与误差热图，直接提示&quot;这块没拍&quot;&lt;/Text&gt;&#13;&#10;            &lt;/Box&gt;&#13;&#10;            &lt;Box style={{ flex: 1, flexDirection: 'column' }}&gt;&#13;&#10;                &lt;Text style={{ fontSize: 14.5, fontWeight: 'bold', color: '#B03A37' }}&gt;④ 阈值靠经验&lt;/Text&gt;&#13;&#10;                &lt;Text style={{ fontSize: 14, color: '#1A2230', lineHeight: 1.35, marginTop: 2 }}&gt;按纹理强度与重叠度在线估计，替代固定常数&lt;/Text&gt;&#13;&#10;            &lt;/Box&gt;&#13;&#10;        &lt;/Box&gt;&#13;&#10;    &lt;/Box&gt;&#13;&#10;&#13;&#10;    &lt;Box style={{ margin: '16px 40px 0px 40px', backgroundColor: '#FAFBFD', border: '1px solid #E3E8F0', borderRadius: 6, padding: '10px 16px 12px 16px', flexDirection: 'row' }}&gt;&#13;&#10;        &lt;Box style={{ flex: 1, borderTop: '2px solid #C8D4E4', padding: '9px 14px 0px 14px', flexDirection: 'column' }}&gt;&#13;&#10;            &lt;Text style={{ fontSize: 15, fontWeight: 'bold', color: '#3D7BD9' }}&gt;2019&lt;/Text&gt;&#13;&#10;            &lt;Text style={{ fontSize: 17.5, fontWeight: 'bold', color: '#1A2230', marginTop: 2 }}&gt;NeRF&lt;/Text&gt;&#13;&#10;            &lt;Text style={{ fontSize: 14, color: '#4A5568', lineHeight: 1.35, marginTop: 4 }}&gt;离线、必须有序输入&lt;/Text&gt;&#13;&#10;            &lt;Text style={{ fontSize: 13.5, color: '#8B97A8', lineHeight: 1.35, marginTop: 3 }}&gt;一次训练以小时计&lt;/Text&gt;&#13;&#10;        &lt;/Box&gt;&#13;&#10;        &lt;Box style={{ flex: 1, borderTop: '2px solid #C8D4E4', padding: '9px 14px 0px 14px', flexDirection: 'column' }}&gt;&#13;&#10;            &lt;Text style={{ fontSize: 15, fontWeight: 'bold', color: '#3D7BD9' }}&gt;2023&lt;/Text&gt;&#13;&#10;            &lt;Text style={{ fontSize: 17.5, fontWeight: 'bold', color: '#1A2230', marginTop: 2 }}&gt;3DGS&lt;/Text&gt;&#13;&#10;            &lt;Text style={{ fontSize: 14, color: '#4A5568', lineHeight: 1.35, marginTop: 4 }}&gt;渲染快了，位姿仍靠 COLMAP&lt;/Text&gt;&#13;&#10;            &lt;Text style={{ fontSize: 13.5, color: '#8B97A8', lineHeight: 1.35, marginTop: 3 }}&gt;前置步骤还是离线 SfM&lt;/Text&gt;&#13;&#10;        &lt;/Box&gt;&#13;&#10;        &lt;Box style={{ flex: 1, borderTop: '2px solid #C8D4E4', padding: '9px 14px 0px 14px', flexDirection: 'column' }}&gt;&#13;&#10;            &lt;Text style={{ fontSize: 15, fontWeight: 'bold', color: '#3D7BD9' }}&gt;2024–25&lt;/Text&gt;&#13;&#10;            &lt;Text style={{ fontSize: 17.5, fontWeight: 'bold', color: '#1A2230', marginTop: 2 }}&gt;增量 / 无位姿重建&lt;/Text&gt;&#13;&#10;            &lt;Text style={{ fontSize: 14, color: '#4A5568', lineHeight: 1.35, marginTop: 4 }}&gt;要么依赖有序，要么非全局&lt;/Text&gt;&#13;&#10;            &lt;Text style={{ fontSize: 13.5, color: '#8B97A8', lineHeight: 1.35, marginTop: 3 }}&gt;两条路各缺一条&lt;/Text&gt;&#13;&#10;        &lt;/Box&gt;&#13;&#10;        &lt;Box style={{ flex: 1, borderTop: '2px solid #1E4FA8', padding: '9px 14px 0px 14px', flexDirection: 'column' }}&gt;&#13;&#10;            &lt;Text style={{ fontSize: 15, fontWeight: 'bold', color: '#1E4FA8' }}&gt;2026&lt;/Text&gt;&#13;&#10;            &lt;Text style={{ fontSize: 17.5, fontWeight: 'bold', color: '#1E4FA8', marginTop: 2 }}&gt;i3dgs（本文）&lt;/Text&gt;&#13;&#10;            &lt;Text style={{ fontSize: 14, fontWeight: 'bold', color: '#1E4FA8', lineHeight: 1.35, marginTop: 4 }}&gt;即时 · 无序 · 全局一致&lt;/Text&gt;&#13;&#10;            &lt;Text style={{ fontSize: 13.5, fontWeight: 'bold', color: '#3D7BD9', lineHeight: 1.35, marginTop: 3 }}&gt;三者首次同时成立&lt;/Text&gt;&#13;&#10;        &lt;/Box&gt;&#13;&#10;    &lt;/Box&gt;&#13;&#10;&#13;&#10;    &lt;Box style={{ margin: '11px 40px 0px 40px', backgroundColor: '#1E4FA8', borderRadius: 6, padding: '14px 22px', flexDirection: 'row', alignItems: 'center', gap: 26 }}&gt;&#13;&#10;        &lt;Text style={{ fontSize: 20, fontWeight: 'bold', color: '#FFFFFF', lineHeight: 1.4, flex: 1 }}&gt;一句话总结：它把 3DGS 从&quot;拍完再算的离线工具&quot;变成了&quot;拍摄现场的仪表盘&quot;。&lt;/Text&gt;&#13;&#10;        &lt;Box style={{ flexDirection: 'column' }}&gt;&#13;&#10;            &lt;Text style={{ fontSize: 15, color: '#C3D5EF' }}&gt;论文 / 我们&lt;/Text&gt;&#13;&#10;            &lt;Text style={{ fontSize: 19, fontWeight: 'bold', color: '#FFFFFF' }}&gt;26.29 → 25.95 dB&lt;/Text&gt;&#13;&#10;        &lt;/Box&gt;&#13;&#10;    &lt;/Box&gt;&#13;&#10;&#13;&#10;    &lt;Box style={{ marginTop: 'auto', padding: '10px 40px 16px 40px', flexDirection: 'row', justifyContent: 'space-between', alignItems: 'center' }}&gt;&#13;&#10;        &lt;Text style={{ fontSize: 24, fontWeight: 'bold', color: '#1E4FA8' }}&gt;谢谢，欢迎提问&lt;/Text&gt;&#13;&#10;        &lt;Text style={{ fontSize: 14, color: '#8B97A8' }}&gt;论文：SIGGRAPH 2026 / arXiv:2607.14481 · 代码：github.com/graphdeco-inria/i3dgs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876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1E4FA8"/>
                </a:solidFill>
                <a:latin typeface="Microsoft YaHei"/>
                <a:ea typeface="Microsoft YaHei"/>
              </a:rPr>
              <a:t>结论：三句话带走，加一张边界清单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11325225" y="4476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15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381000" y="762000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485775" y="81915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857250" y="762000"/>
            <a:ext cx="109537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它填的是一块空格，不是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更快的离线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SfM"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57250" y="1066800"/>
            <a:ext cx="109537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即时、无序、全局一致三者同时成立，此前没有方法做到。速度是手段，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现场可判断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才是目的。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381000" y="153352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485775" y="159067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857250" y="1533525"/>
            <a:ext cx="109537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题眼是用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图上的距离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替换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全局优化的解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857250" y="1838325"/>
            <a:ext cx="109537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判定看加权图距、不看时间，求解用焊接窗口得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Sim(3)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，再把修正按测地距离摊给全图——回环不必重算第二遍。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381000" y="2305050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485775" y="23622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857250" y="2305050"/>
            <a:ext cx="109537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代价是真的：让出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 dB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，换来一条自写的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求解栈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857250" y="2609850"/>
            <a:ext cx="109537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不调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g2o / Ceres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，雅可比、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Schur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消元、迭代更新自己写成核——精度上限低于全局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，但换来了时间。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381000" y="3067050"/>
            <a:ext cx="11430000" cy="1057275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533400" y="3152775"/>
            <a:ext cx="2133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Microsoft YaHei"/>
                <a:ea typeface="Microsoft YaHei"/>
              </a:rPr>
              <a:t>它现在的边界　→　对应的补法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9525000" y="3152775"/>
            <a:ext cx="2133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论文自述的局限，非我们的复现问题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533400" y="3409950"/>
            <a:ext cx="2686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低视差直接失效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533400" y="3600450"/>
            <a:ext cx="268605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低视差帧只参与渲染、不进位姿求解，避免污染轨迹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3352800" y="3409950"/>
            <a:ext cx="2676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精度低于全局</a:t>
            </a: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352800" y="3600450"/>
            <a:ext cx="267652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在线出预览，结束时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GLOMAP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回填一次全局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，补回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 dB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6162675" y="3409950"/>
            <a:ext cx="2686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上游依赖链太重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6162675" y="3600450"/>
            <a:ext cx="268605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采集端给实时覆盖率与误差热图，直接提示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这块没拍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8982075" y="3409950"/>
            <a:ext cx="2676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阈值靠经验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8982075" y="3600450"/>
            <a:ext cx="2676525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按纹理强度与重叠度在线估计，替代固定常数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381000" y="4276725"/>
            <a:ext cx="11430000" cy="1200150"/>
          </a:xfrm>
          <a:prstGeom prst="roundRect">
            <a:avLst>
              <a:gd name="adj" fmla="val 4762"/>
            </a:avLst>
          </a:prstGeom>
          <a:solidFill>
            <a:srgbClr val="FAFBFD"/>
          </a:solidFill>
          <a:ln w="12700">
            <a:solidFill>
              <a:srgbClr val="E3E8F0"/>
            </a:solidFill>
            <a:prstDash val="solid"/>
          </a:ln>
        </p:spPr>
        <p:txBody>
          <a:bodyPr/>
          <a:p/>
        </p:txBody>
      </p:sp>
      <p:sp>
        <p:nvSpPr>
          <p:cNvPr id="177" name=""/>
          <p:cNvSpPr/>
          <p:nvPr/>
        </p:nvSpPr>
        <p:spPr>
          <a:xfrm rot="0" flipH="0" flipV="0">
            <a:off x="5334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C8D4E4"/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667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Microsoft YaHei"/>
                <a:ea typeface="Microsoft YaHei"/>
              </a:rPr>
              <a:t>2019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667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NeRF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6667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离线、必须有序输入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6667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一次训练以小时计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33147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C8D4E4"/>
          </a:solidFill>
          <a:ln/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34480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Microsoft YaHei"/>
                <a:ea typeface="Microsoft YaHei"/>
              </a:rPr>
              <a:t>2023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34480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3DGS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34480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渲染快了，位姿仍靠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COLMAP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34480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前置步骤还是离线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SfM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60960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C8D4E4"/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62293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Microsoft YaHei"/>
                <a:ea typeface="Microsoft YaHei"/>
              </a:rPr>
              <a:t>2024–25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62293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增量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无位姿重建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2293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要么依赖有序，要么非全局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2293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两条路各缺一条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88773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90106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2026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90106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E4FA8"/>
                </a:solidFill>
                <a:latin typeface="Microsoft YaHei"/>
                <a:ea typeface="Microsoft YaHei"/>
              </a:rPr>
              <a:t>i3dgs</a:t>
            </a:r>
            <a:r>
              <a:rPr lang="zh-CN" sz="1313" b="1">
                <a:solidFill>
                  <a:srgbClr val="1E4FA8"/>
                </a:solidFill>
                <a:latin typeface="Microsoft YaHei"/>
                <a:ea typeface="Microsoft YaHei"/>
              </a:rPr>
              <a:t>（本文）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90106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 b="1">
                <a:solidFill>
                  <a:srgbClr val="1E4FA8"/>
                </a:solidFill>
                <a:latin typeface="Microsoft YaHei"/>
                <a:ea typeface="Microsoft YaHei"/>
              </a:rPr>
              <a:t>即时</a:t>
            </a: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b="1">
                <a:solidFill>
                  <a:srgbClr val="1E4FA8"/>
                </a:solidFill>
                <a:latin typeface="Microsoft YaHei"/>
                <a:ea typeface="Microsoft YaHei"/>
              </a:rPr>
              <a:t>无序</a:t>
            </a: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b="1">
                <a:solidFill>
                  <a:srgbClr val="1E4FA8"/>
                </a:solidFill>
                <a:latin typeface="Microsoft YaHei"/>
                <a:ea typeface="Microsoft YaHei"/>
              </a:rPr>
              <a:t>全局一致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90106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 b="1">
                <a:solidFill>
                  <a:srgbClr val="3D7BD9"/>
                </a:solidFill>
                <a:latin typeface="Microsoft YaHei"/>
                <a:ea typeface="Microsoft YaHei"/>
              </a:rPr>
              <a:t>三者首次同时成立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381000" y="5581650"/>
            <a:ext cx="11430000" cy="657225"/>
          </a:xfrm>
          <a:prstGeom prst="roundRect">
            <a:avLst>
              <a:gd name="adj" fmla="val 869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590550" y="5753100"/>
            <a:ext cx="9172575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一句话总结：它把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从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拍完再算的离线工具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变成了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拍摄现场的仪表盘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10010775" y="571500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3D5EF"/>
                </a:solidFill>
                <a:latin typeface="Microsoft YaHei"/>
                <a:ea typeface="Microsoft YaHei"/>
              </a:rPr>
              <a:t>论文</a:t>
            </a:r>
            <a:r>
              <a:rPr lang="en-US" sz="1125">
                <a:solidFill>
                  <a:srgbClr val="C3D5E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C3D5EF"/>
                </a:solidFill>
                <a:latin typeface="Microsoft YaHei"/>
                <a:ea typeface="Microsoft YaHei"/>
              </a:rPr>
              <a:t>我们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10010775" y="5886450"/>
            <a:ext cx="1590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26.29 → 25.95 dB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381000" y="6429375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4FA8"/>
                </a:solidFill>
                <a:latin typeface="Microsoft YaHei"/>
                <a:ea typeface="Microsoft YaHei"/>
              </a:rPr>
              <a:t>谢谢，欢迎提问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6429375" y="6486525"/>
            <a:ext cx="538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论文：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SIGGRAPH 2026 / arXiv:2607.14481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代码：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github.com/graphdeco-inria/i3dgs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03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14px 40px 0px 40px', flexDirection: 'row', justifyContent: 'space-between', alignItems: 'flex-end' }}&gt;&#13;&#10;        &lt;Text style={{ fontSize: 32, fontWeight: 'bold', color: '#1E4FA8' }}&gt;附：七个步骤在源码里长什么样&lt;/Text&gt;&#13;&#10;        &lt;Text style={{ fontSize: 15, color: '#8B97A8' }}&gt;15 / 15&lt;/Text&gt;&#13;&#10;    &lt;/Box&gt;&#13;&#10;    &lt;Box style={{ padding: '5px 40px 0px 40px' }}&gt;&#13;&#10;        &lt;Text style={{ fontSize: 17, color: '#4A5568' }}&gt;真实源码截图，与第 04 页七步链、第 05–11 页逐页对应：&lt;b&gt;①②③ 定跟谁比、④ 定跟谁一起算、⑤ 才真解位姿、⑥⑦ 修漂移与压显存&lt;/b&gt;。&lt;/Text&gt;&#13;&#10;    &lt;/Box&gt;&#13;&#10;    &lt;Box style={{ padding: '8px 40px 0px 40px', flexDirection: 'row', gap: 14 }}&gt;&#13;&#10;        &lt;Box style={{ flex: 1, flexDirection: 'column', gap: 10 }}&gt;&#13;&#10;        &lt;Box style={{ backgroundColor: '#1E1E1E', borderRadius: 5, padding: '5px 11px 5px 11px', flexDirection: 'column' }}&gt;&#13;&#10;            &lt;Text style={{ fontSize: 13, fontWeight: 'bold', color: '#8FBBFF', marginBottom: 0 }}&gt;① ② ③  检索 → 粗筛 → 建边&lt;/Text&gt;&#13;&#10;            &lt;Text style={{ fontFamily: 'Consolas', fontSize: 10, color: '#7F8C9F', marginBottom: 2 }}&gt;scene/scene_model_loop_closure.py:179&lt;/Text&gt;&#13;&#10;            &lt;Image src=&quot;code_png/01.png&quot; style={{ width: 568, height: 104.5 }} /&gt;&#13;&#10;        &lt;/Box&gt;&#13;&#10;        &lt;Box style={{ backgroundColor: '#1E1E1E', borderRadius: 5, padding: '5px 11px 5px 11px', flexDirection: 'column' }}&gt;&#13;&#10;            &lt;Text style={{ fontSize: 13, fontWeight: 'bold', color: '#8FBBFF', marginBottom: 0 }}&gt;④  协视图贪心扩张（式 1）&lt;/Text&gt;&#13;&#10;            &lt;Text style={{ fontFamily: 'Consolas', fontSize: 10, color: '#7F8C9F', marginBottom: 2 }}&gt;poses/ba_problem.py:648&lt;/Text&gt;&#13;&#10;            &lt;Image src=&quot;code_png/02.png&quot; style={{ width: 568, height: 123.0 }} /&gt;&#13;&#10;        &lt;/Box&gt;&#13;&#10;        &lt;Box style={{ backgroundColor: '#1E1E1E', borderRadius: 5, padding: '5px 11px 5px 11px', flexDirection: 'column' }}&gt;&#13;&#10;            &lt;Text style={{ fontSize: 13, fontWeight: 'bold', color: '#8FBBFF', marginBottom: 0 }}&gt;⑤  局部 BA：LM 迭代 + Schur 消元&lt;/Text&gt;&#13;&#10;            &lt;Text style={{ fontFamily: 'Consolas', fontSize: 10, color: '#7F8C9F', marginBottom: 2 }}&gt;poses/mini_ba.py:285&lt;/Text&gt;&#13;&#10;            &lt;Image src=&quot;code_png/03.png&quot; style={{ width: 568, height: 160.0 }} /&gt;&#13;&#10;        &lt;/Box&gt;&#13;&#10;        &lt;/Box&gt;&#13;&#10;        &lt;Box style={{ flex: 1, flexDirection: 'column', gap: 10 }}&gt;&#13;&#10;        &lt;Box style={{ backgroundColor: '#1E1E1E', borderRadius: 5, padding: '5px 11px 5px 11px', flexDirection: 'column' }}&gt;&#13;&#10;            &lt;Text style={{ fontSize: 13, fontWeight: 'bold', color: '#8FBBFF', marginBottom: 0 }}&gt;⑥  回环检测与补边&lt;/Text&gt;&#13;&#10;            &lt;Text style={{ fontFamily: 'Consolas', fontSize: 10, color: '#7F8C9F', marginBottom: 2 }}&gt;poses/ba_problem.py:1054&lt;/Text&gt;&#13;&#10;            &lt;Image src=&quot;code_png/04.png&quot; style={{ width: 568, height: 123.0 }} /&gt;&#13;&#10;        &lt;/Box&gt;&#13;&#10;        &lt;Box style={{ backgroundColor: '#1E1E1E', borderRadius: 5, padding: '5px 11px 5px 11px', flexDirection: 'column' }}&gt;&#13;&#10;            &lt;Text style={{ fontSize: 13, fontWeight: 'bold', color: '#8FBBFF', marginBottom: 0 }}&gt;⑦-a  分块深度对齐&lt;/Text&gt;&#13;&#10;            &lt;Text style={{ fontFamily: 'Consolas', fontSize: 10, color: '#7F8C9F', marginBottom: 2 }}&gt;scene/mono_depth.py:315&lt;/Text&gt;&#13;&#10;            &lt;Image src=&quot;code_png/05.png&quot; style={{ width: 568, height: 86.0 }} /&gt;&#13;&#10;        &lt;/Box&gt;&#13;&#10;        &lt;Box style={{ backgroundColor: '#1E1E1E', borderRadius: 5, padding: '5px 11px 5px 11px', flexDirection: 'column' }}&gt;&#13;&#10;            &lt;Text style={{ fontSize: 13, fontWeight: 'bold', color: '#8FBBFF', marginBottom: 0 }}&gt;⑦-b  渐进层级与合并&lt;/Text&gt;&#13;&#10;            &lt;Text style={{ fontFamily: 'Consolas', fontSize: 10, color: '#7F8C9F', marginBottom: 2 }}&gt;scene/hierarchy_cut.py:105&lt;/Text&gt;&#13;&#10;            &lt;Image src=&quot;code_png/06.png&quot; style={{ width: 568, height: 104.5 }} /&gt;&#13;&#10;        &lt;/Box&gt;&#13;&#10;        &lt;/Box&gt;&#13;&#10;    &lt;/Box&gt;&#13;&#10;    &lt;Box style={{ padding: '7px 40px 0px 40px' }}&gt;&#13;&#10;        &lt;Text style={{ fontSize: 13.5, color: '#8B97A8', lineHeight: 1.35 }}&gt;行号指向片段起点；为投影宽度做了换行与变量缩写（w = edge_weight），逻辑未改。第 04、05–11 页已按源码默认值修正：回环触发为&lt;b&gt;加权图距 &amp;gt; 10&lt;/b&gt;；层级合并触发为&lt;b&gt;可并数 &amp;gt; max(10%, 20 万)&lt;/b&gt;，且是 &lt;b&gt;kNN 加权平均&lt;/b&gt;而非 KL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42672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1E4FA8"/>
                </a:solidFill>
                <a:latin typeface="Microsoft YaHei"/>
                <a:ea typeface="Microsoft YaHei"/>
              </a:rPr>
              <a:t>附：七个步骤在源码里长什么样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11325225" y="4095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15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真实源码截图，与第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04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页七步链、第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05–11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页逐页对应：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①②③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定跟谁比、④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定跟谁一起算、⑤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才真解位姿、⑥⑦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修漂移与压显存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381000" y="904875"/>
            <a:ext cx="5648325" cy="1381125"/>
          </a:xfrm>
          <a:prstGeom prst="roundRect">
            <a:avLst>
              <a:gd name="adj" fmla="val 344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85775" y="9525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① ② ③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检索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粗筛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建边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485775" y="11049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scene/scene_model_loop_closure.py:179</a:t>
            </a:r>
            <a:endParaRPr/>
          </a:p>
        </p:txBody>
      </p:sp>
      <p:pic>
        <p:nvPicPr>
          <p:cNvPr id="212" name=""/>
          <p:cNvPicPr>
            <a:picLocks noChangeAspect="1"/>
          </p:cNvPicPr>
          <p:nvPr/>
        </p:nvPicPr>
        <p:blipFill>
          <a:blip r:embed="rId1"/>
          <a:srcRect l="238" t="0" r="238" b="0"/>
          <a:stretch>
            <a:fillRect/>
          </a:stretch>
        </p:blipFill>
        <p:spPr>
          <a:xfrm rot="0" flipH="0" flipV="0">
            <a:off x="485775" y="1238250"/>
            <a:ext cx="5410200" cy="1000125"/>
          </a:xfrm>
          <a:prstGeom prst="rect">
            <a:avLst/>
          </a:prstGeom>
          <a:ln/>
        </p:spPr>
      </p:pic>
      <p:sp>
        <p:nvSpPr>
          <p:cNvPr id="213" name=""/>
          <p:cNvSpPr/>
          <p:nvPr/>
        </p:nvSpPr>
        <p:spPr>
          <a:xfrm rot="0" flipH="0" flipV="0">
            <a:off x="381000" y="2381250"/>
            <a:ext cx="5648325" cy="1552575"/>
          </a:xfrm>
          <a:prstGeom prst="roundRect">
            <a:avLst>
              <a:gd name="adj" fmla="val 3067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485775" y="242887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④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协视图贪心扩张（式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85775" y="258127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poses/ba_problem.py:648</a:t>
            </a:r>
            <a:endParaRPr/>
          </a:p>
        </p:txBody>
      </p:sp>
      <p:pic>
        <p:nvPicPr>
          <p:cNvPr id="216" nam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0" flipH="0" flipV="0">
            <a:off x="485775" y="2714625"/>
            <a:ext cx="5410200" cy="1171575"/>
          </a:xfrm>
          <a:prstGeom prst="rect">
            <a:avLst/>
          </a:prstGeom>
          <a:ln/>
        </p:spPr>
      </p:pic>
      <p:sp>
        <p:nvSpPr>
          <p:cNvPr id="217" name=""/>
          <p:cNvSpPr/>
          <p:nvPr/>
        </p:nvSpPr>
        <p:spPr>
          <a:xfrm rot="0" flipH="0" flipV="0">
            <a:off x="381000" y="4029075"/>
            <a:ext cx="5648325" cy="1905000"/>
          </a:xfrm>
          <a:prstGeom prst="roundRect">
            <a:avLst>
              <a:gd name="adj" fmla="val 2500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485775" y="40767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⑤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局部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：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迭代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+ Schur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消元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485775" y="42291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poses/mini_ba.py:285</a:t>
            </a:r>
            <a:endParaRPr/>
          </a:p>
        </p:txBody>
      </p:sp>
      <p:pic>
        <p:nvPicPr>
          <p:cNvPr id="220" name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0" flipH="0" flipV="0">
            <a:off x="485775" y="4362450"/>
            <a:ext cx="5410200" cy="1524000"/>
          </a:xfrm>
          <a:prstGeom prst="rect">
            <a:avLst/>
          </a:prstGeom>
          <a:ln/>
        </p:spPr>
      </p:pic>
      <p:sp>
        <p:nvSpPr>
          <p:cNvPr id="221" name=""/>
          <p:cNvSpPr/>
          <p:nvPr/>
        </p:nvSpPr>
        <p:spPr>
          <a:xfrm rot="0" flipH="0" flipV="0">
            <a:off x="6162675" y="904875"/>
            <a:ext cx="5648325" cy="1552575"/>
          </a:xfrm>
          <a:prstGeom prst="roundRect">
            <a:avLst>
              <a:gd name="adj" fmla="val 3067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267450" y="9525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⑥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回环检测与补边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267450" y="11049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poses/ba_problem.py:1054</a:t>
            </a:r>
            <a:endParaRPr/>
          </a:p>
        </p:txBody>
      </p:sp>
      <p:pic>
        <p:nvPicPr>
          <p:cNvPr id="224" name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0" flipH="0" flipV="0">
            <a:off x="6267450" y="1238250"/>
            <a:ext cx="5410200" cy="1171575"/>
          </a:xfrm>
          <a:prstGeom prst="rect">
            <a:avLst/>
          </a:prstGeom>
          <a:ln/>
        </p:spPr>
      </p:pic>
      <p:sp>
        <p:nvSpPr>
          <p:cNvPr id="225" name=""/>
          <p:cNvSpPr/>
          <p:nvPr/>
        </p:nvSpPr>
        <p:spPr>
          <a:xfrm rot="0" flipH="0" flipV="0">
            <a:off x="6162675" y="2552700"/>
            <a:ext cx="5648325" cy="1200150"/>
          </a:xfrm>
          <a:prstGeom prst="roundRect">
            <a:avLst>
              <a:gd name="adj" fmla="val 396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267450" y="26003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⑦-a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分块深度对齐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267450" y="275272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scene/mono_depth.py:315</a:t>
            </a:r>
            <a:endParaRPr/>
          </a:p>
        </p:txBody>
      </p:sp>
      <p:pic>
        <p:nvPicPr>
          <p:cNvPr id="228" name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0" flipH="0" flipV="0">
            <a:off x="6267450" y="2886075"/>
            <a:ext cx="5410200" cy="819150"/>
          </a:xfrm>
          <a:prstGeom prst="rect">
            <a:avLst/>
          </a:prstGeom>
          <a:ln/>
        </p:spPr>
      </p:pic>
      <p:sp>
        <p:nvSpPr>
          <p:cNvPr id="229" name=""/>
          <p:cNvSpPr/>
          <p:nvPr/>
        </p:nvSpPr>
        <p:spPr>
          <a:xfrm rot="0" flipH="0" flipV="0">
            <a:off x="6162675" y="3848100"/>
            <a:ext cx="5648325" cy="1381125"/>
          </a:xfrm>
          <a:prstGeom prst="roundRect">
            <a:avLst>
              <a:gd name="adj" fmla="val 344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267450" y="38957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⑦-b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渐进层级与合并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267450" y="404812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scene/hierarchy_cut.py:105</a:t>
            </a:r>
            <a:endParaRPr/>
          </a:p>
        </p:txBody>
      </p:sp>
      <p:pic>
        <p:nvPicPr>
          <p:cNvPr id="232" name=""/>
          <p:cNvPicPr>
            <a:picLocks noChangeAspect="1"/>
          </p:cNvPicPr>
          <p:nvPr/>
        </p:nvPicPr>
        <p:blipFill>
          <a:blip r:embed="rId6"/>
          <a:srcRect l="238" t="0" r="238" b="0"/>
          <a:stretch>
            <a:fillRect/>
          </a:stretch>
        </p:blipFill>
        <p:spPr>
          <a:xfrm rot="0" flipH="0" flipV="0">
            <a:off x="6267450" y="4181475"/>
            <a:ext cx="5410200" cy="1000125"/>
          </a:xfrm>
          <a:prstGeom prst="rect">
            <a:avLst/>
          </a:prstGeom>
          <a:ln/>
        </p:spPr>
      </p:pic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381000" y="6000750"/>
            <a:ext cx="11430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行号指向片段起点；为投影宽度做了换行与变量缩写（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w = edge_weight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），逻辑未改。第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04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05–11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页已按源码默认值修正：回环触发为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加权图距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&gt; 10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；层级合并触发为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可并数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&gt; max(10%, 20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万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)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，且是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kNN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加权平均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而非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KL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2026-10-30T17:30:58Z</dcterms:created>
  <dcterms:modified xsi:type="dcterms:W3CDTF">2026-10-30T17:30:58Z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{"AIGC":{"Label":"1","ContentProducer":"00119111010856365494821B355","ProduceID":"01a18c222e3073daa2604d1401d37768","ReservedCode1":"","ContentPropagator":"00119111010856365494821B355","PropagateID":"01a18c222e3073daa2604d1401d37768","ReservedCode2":""}}</vt:lpwstr>
  </property>
</Properties>
</file>