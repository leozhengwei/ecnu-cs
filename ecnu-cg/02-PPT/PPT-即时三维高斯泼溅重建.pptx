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7" Type="http://schemas.openxmlformats.org/officeDocument/2006/relationships/slide" Target="slides/slide7.xml" /><Relationship Id="rId13" Type="http://schemas.openxmlformats.org/officeDocument/2006/relationships/slide" Target="slides/slide13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5" Type="http://schemas.openxmlformats.org/officeDocument/2006/relationships/notesMaster" Target="notesMasters/notesMaster1.xml" /><Relationship Id="rId14" Type="http://schemas.openxmlformats.org/officeDocument/2006/relationships/slide" Target="slides/slide14.xml" 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Relationship Id="rId6" Type="http://schemas.openxmlformats.org/officeDocument/2006/relationships/slide" Target="slides/slide6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'1280px', height: '720px', backgroundColor: '#FFFFFF', padding: '0px', flexDirection: 'column' }}&gt;&#10;    &lt;Box style={{ width: '1280px', height: '10px', backgroundColor: '#1E4FA8' }} /&gt;&#10;    &lt;Box style={{ padding: '88px 80px 0px 80px', flexDirection: 'column' }}&gt;&#10;        &lt;Text style={{ fontSize: 20, color: '#4A5568', letterSpacing: 2 }}&gt;图形和视觉前沿技术 · Top Paper Reading&lt;/Text&gt;&#10;        &lt;Text style={{ fontSize: 62, fontWeight: 'bold', color: '#1A2230', lineHeight: 1.25, marginTop: 26 }}&gt;从&quot;拍完再算&quot;到&quot;边拍边看&quot;&lt;/Text&gt;&#10;        &lt;Text style={{ fontSize: 34, fontWeight: 'bold', color: '#1E4FA8', lineHeight: 1.35, marginTop: 18 }}&gt;SIGGRAPH 2026 即时无序三维高斯泼溅重建 · 复现与分析&lt;/Text&gt;&#10;        &lt;Box style={{ width: '160px', height: '6px', backgroundColor: '#1E4FA8', marginTop: 34 }} /&gt;&#10;        &lt;Text style={{ fontSize: 19, color: '#4A5568', lineHeight: 1.7, marginTop: 30 }}&gt;Immediate 3D Gaussian Splat Reconstruction of Unordered Input with Global Consistency&lt;/Text&gt;&#10;        &lt;Text style={{ fontSize: 17, color: '#8B97A8', lineHeight: 1.6, marginTop: 10 }}&gt;Andreas Meuleman, Linus Franke, Boris Zhestiankin, Camille Montemagni, George Drettakis · Inria GRAPHDECO · ACM TOG 2026&lt;/Text&gt;&#10;    &lt;/Box&gt;&#10;    &lt;Box style={{ marginTop: '58px', padding: '22px 80px', backgroundColor: '#F0F5FC', flexDirection: 'row', justifyContent: 'space-between', alignItems: 'center' }}&gt;&#10;        &lt;Text style={{ fontSize: 20, color: '#1A2230' }}&gt;汇报人：郑炜　周子懿　　指导教师：DeepSeek&lt;/Text&gt;&#10;        &lt;Text style={{ fontSize: 20, color: '#1E4FA8', fontWeight: 'bold' }}&gt;2026 年 11 月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933450"/>
            <a:ext cx="10668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150">
                <a:solidFill>
                  <a:srgbClr val="4A5568"/>
                </a:solidFill>
                <a:latin typeface="Microsoft YaHei"/>
                <a:ea typeface="Microsoft YaHei"/>
              </a:rPr>
              <a:t>图形和视觉前沿技术</a:t>
            </a:r>
            <a:r>
              <a:rPr lang="en-US" sz="1500" spc="1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Top Paper Reading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762000" y="1409700"/>
            <a:ext cx="10668000" cy="8858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650" b="1">
                <a:solidFill>
                  <a:srgbClr val="1A2230"/>
                </a:solidFill>
                <a:latin typeface="Microsoft YaHei"/>
                <a:ea typeface="Microsoft YaHei"/>
              </a:rPr>
              <a:t>从</a:t>
            </a:r>
            <a:r>
              <a:rPr lang="en-US" sz="465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4650" b="1">
                <a:solidFill>
                  <a:srgbClr val="1A2230"/>
                </a:solidFill>
                <a:latin typeface="Microsoft YaHei"/>
                <a:ea typeface="Microsoft YaHei"/>
              </a:rPr>
              <a:t>拍完再算</a:t>
            </a:r>
            <a:r>
              <a:rPr lang="en-US" sz="465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4650" b="1">
                <a:solidFill>
                  <a:srgbClr val="1A2230"/>
                </a:solidFill>
                <a:latin typeface="Microsoft YaHei"/>
                <a:ea typeface="Microsoft YaHei"/>
              </a:rPr>
              <a:t>到</a:t>
            </a:r>
            <a:r>
              <a:rPr lang="en-US" sz="465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4650" b="1">
                <a:solidFill>
                  <a:srgbClr val="1A2230"/>
                </a:solidFill>
                <a:latin typeface="Microsoft YaHei"/>
                <a:ea typeface="Microsoft YaHei"/>
              </a:rPr>
              <a:t>边拍边看</a:t>
            </a:r>
            <a:r>
              <a:rPr lang="en-US" sz="465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2466975"/>
            <a:ext cx="10668000" cy="5334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SIGGRAPH 2026 </a:t>
            </a: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即时无序三维高斯泼溅重建</a:t>
            </a: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复现与分析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762000" y="3324225"/>
            <a:ext cx="1524000" cy="571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62000" y="3667125"/>
            <a:ext cx="106680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Immediate 3D Gaussian Splat Reconstruction of Unordered Input with Global Consistency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4133850"/>
            <a:ext cx="106680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Andreas Meuleman, Linus Franke, Boris Zhestiankin, Camille Montemagni, George Drettakis · Inria GRAPHDECO · ACM TOG 2026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0" y="5000625"/>
            <a:ext cx="12192000" cy="6477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62000" y="5210175"/>
            <a:ext cx="4152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汇报人：郑炜　周子懿　　指导教师：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DeepSeek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0172700" y="5210175"/>
            <a:ext cx="1257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年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11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59" name="" descr="&lt;Slide style={{ width: '1280px', height: '720px', backgroundColor: '#FFFFFF', padding: '0px', flexDirection: 'column' }}&gt;&#10;    &lt;Box style={{ width: '1280px', height: '8px', backgroundColor: '#1E4FA8' }} /&gt;&#10;    &lt;Box style={{ padding: '34px 40px 0px 40px', flexDirection: 'row', justifyContent: 'space-between', alignItems: 'flex-end' }}&gt;&#10;        &lt;Text style={{ fontSize: 34, fontWeight: 'bold', color: '#1E4FA8' }}&gt;摘要&lt;/Text&gt;&#10;        &lt;Text style={{ fontSize: 15, color: '#8B97A8' }}&gt;02 / 14&lt;/Text&gt;&#10;    &lt;/Box&gt;&#10;    &lt;Box style={{ padding: '20px 40px 0px 40px', flexDirection: 'column', gap: 13 }}&gt;&#10;        &lt;Box style={{ backgroundColor: '#F0F5FC', borderLeft: '5px solid #1E4FA8', padding: '14px 20px', flexDirection: 'column' }}&gt;&#10;            &lt;Text style={{ fontSize: 22, fontWeight: 'bold', color: '#1E4FA8' }}&gt;问题&lt;/Text&gt;&#10;            &lt;Text style={{ fontSize: 22, color: '#1A2230', lineHeight: 1.5, marginTop: 6 }}&gt;3DGS 重建质量高、可实时渲染，但训练前必须由 SfM（COLMAP）离线解算相机位姿；SfM 要等&lt;b&gt;全部图像到齐&lt;/b&gt;，且对&lt;b&gt;乱序采集&lt;/b&gt;敏感。&lt;/Text&gt;&#10;        &lt;/Box&gt;&#10;        &lt;Box style={{ backgroundColor: '#F7F9FC', borderLeft: '5px solid #4A5568', padding: '14px 20px', flexDirection: 'column' }}&gt;&#10;            &lt;Text style={{ fontSize: 22, fontWeight: 'bold', color: '#4A5568' }}&gt;现状缺口&lt;/Text&gt;&#10;            &lt;Text style={{ fontSize: 22, color: '#1A2230', lineHeight: 1.5, marginTop: 6 }}&gt;离线 SfM + 3DGS 质量好、但慢且无现场反馈；SLAM 类增量重建能实时，却&lt;b&gt;假设图像有序&lt;/b&gt;——两者之间没人补齐。&lt;/Text&gt;&#10;        &lt;/Box&gt;&#10;        &lt;Box style={{ backgroundColor: '#F0F5FC', borderLeft: '5px solid #1E4FA8', padding: '14px 20px', flexDirection: 'column' }}&gt;&#10;            &lt;Text style={{ fontSize: 22, fontWeight: 'bold', color: '#1E4FA8' }}&gt;本文做法&lt;/Text&gt;&#10;            &lt;Text style={{ fontSize: 22, color: '#1A2230', lineHeight: 1.5, marginTop: 6 }}&gt;首个面向无序输入、具备全局一致性的即时反馈 3DGS 重建：两级快速匹配 + GPU 局部 BA + 簇级回环图传播 + 渐进式高斯层级。&lt;/Text&gt;&#10;        &lt;/Box&gt;&#10;        &lt;Box style={{ backgroundColor: '#F7F9FC', borderLeft: '5px solid #3D7BD9', padding: '14px 20px', flexDirection: 'column' }}&gt;&#10;            &lt;Text style={{ fontSize: 22, fontWeight: 'bold', color: '#3D7BD9' }}&gt;结果与复现&lt;/Text&gt;&#10;            &lt;Text style={{ fontSize: 22, color: '#1A2230', lineHeight: 1.5, marginTop: 6 }}&gt;MipNeRF360 上 &lt;b&gt;1 分 17 秒&lt;/b&gt;达到 &lt;b&gt;26.29 dB&lt;/b&gt;（离线参考 8 分 50 秒 / 27.52 dB）；输入打乱仅降 &lt;b&gt;0.5 dB&lt;/b&gt;。我们完成了端到端复现：&lt;b&gt;25.95 dB / 62.7 秒 / 185 帧&lt;/b&gt;。&lt;/Text&gt;&#10;        &lt;/Box&gt;&#10;    &lt;/Box&gt;&#10;    &lt;Box style={{ padding: '16px 40px 0px 40px' }}&gt;&#10;        &lt;Text style={{ fontSize: 16, color: '#4A5568' }}&gt;关键词：三维高斯泼溅 · 无序采集 · 即时重建 · 协视图 · 回环闭合 · 渐进式层级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1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381000" y="400050"/>
            <a:ext cx="6477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摘要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1325225" y="61912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02 / 14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428625" y="981075"/>
            <a:ext cx="11430000" cy="1343025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381000" y="981075"/>
            <a:ext cx="11477625" cy="1343025"/>
          </a:xfrm>
          <a:custGeom>
            <a:pathLst>
              <a:path w="1205" h="141">
                <a:moveTo>
                  <a:pt x="0" y="0"/>
                </a:moveTo>
                <a:lnTo>
                  <a:pt x="5" y="0"/>
                </a:lnTo>
                <a:lnTo>
                  <a:pt x="5" y="141"/>
                </a:lnTo>
                <a:lnTo>
                  <a:pt x="0" y="141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19125" y="1114425"/>
            <a:ext cx="11001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问题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19125" y="1428750"/>
            <a:ext cx="11001375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3DGS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重建质量高、可实时渲染，但训练前必须由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SfM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COLMAP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）离线解算相机位姿；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SfM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要等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全部图像到齐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，且对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乱序采集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敏感。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428625" y="2447925"/>
            <a:ext cx="11430000" cy="9620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381000" y="2447925"/>
            <a:ext cx="11477625" cy="962025"/>
          </a:xfrm>
          <a:custGeom>
            <a:pathLst>
              <a:path w="1205" h="101">
                <a:moveTo>
                  <a:pt x="0" y="0"/>
                </a:moveTo>
                <a:lnTo>
                  <a:pt x="5" y="0"/>
                </a:lnTo>
                <a:lnTo>
                  <a:pt x="5" y="101"/>
                </a:lnTo>
                <a:lnTo>
                  <a:pt x="0" y="101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19125" y="2581275"/>
            <a:ext cx="11001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4A5568"/>
                </a:solidFill>
                <a:latin typeface="Microsoft YaHei"/>
                <a:ea typeface="Microsoft YaHei"/>
              </a:rPr>
              <a:t>现状缺口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19125" y="2895600"/>
            <a:ext cx="11001375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离线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SfM + 3DGS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质量好、但慢且无现场反馈；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SLAM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类增量重建能实时，却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假设图像有序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——两者之间没人补齐。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428625" y="3533775"/>
            <a:ext cx="11430000" cy="1343025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73" name=""/>
          <p:cNvSpPr/>
          <p:nvPr/>
        </p:nvSpPr>
        <p:spPr>
          <a:xfrm rot="0" flipH="0" flipV="0">
            <a:off x="381000" y="3533775"/>
            <a:ext cx="11477625" cy="1343025"/>
          </a:xfrm>
          <a:custGeom>
            <a:pathLst>
              <a:path w="1205" h="141">
                <a:moveTo>
                  <a:pt x="0" y="0"/>
                </a:moveTo>
                <a:lnTo>
                  <a:pt x="5" y="0"/>
                </a:lnTo>
                <a:lnTo>
                  <a:pt x="5" y="141"/>
                </a:lnTo>
                <a:lnTo>
                  <a:pt x="0" y="141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19125" y="3667125"/>
            <a:ext cx="11001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本文做法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19125" y="3981450"/>
            <a:ext cx="11001375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首个面向无序输入、具备全局一致性的即时反馈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3DGS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重建：两级快速匹配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+ GPU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局部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BA +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簇级回环图传播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渐进式高斯层级。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428625" y="5000625"/>
            <a:ext cx="11430000" cy="13430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77" name=""/>
          <p:cNvSpPr/>
          <p:nvPr/>
        </p:nvSpPr>
        <p:spPr>
          <a:xfrm rot="0" flipH="0" flipV="0">
            <a:off x="381000" y="5000625"/>
            <a:ext cx="11477625" cy="1343025"/>
          </a:xfrm>
          <a:custGeom>
            <a:pathLst>
              <a:path w="1205" h="141">
                <a:moveTo>
                  <a:pt x="0" y="0"/>
                </a:moveTo>
                <a:lnTo>
                  <a:pt x="5" y="0"/>
                </a:lnTo>
                <a:lnTo>
                  <a:pt x="5" y="141"/>
                </a:lnTo>
                <a:lnTo>
                  <a:pt x="0" y="141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19125" y="5133975"/>
            <a:ext cx="11001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D7BD9"/>
                </a:solidFill>
                <a:latin typeface="Microsoft YaHei"/>
                <a:ea typeface="Microsoft YaHei"/>
              </a:rPr>
              <a:t>结果与复现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19125" y="5448300"/>
            <a:ext cx="11001375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MipNeRF360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上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分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17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秒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达到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26.29 dB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（离线参考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分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50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秒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/ 27.52 dB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）；输入打乱仅降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0.5 dB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。我们完成了端到端复现：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25.95 dB / 62.7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秒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/ 185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帧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381000" y="6496050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关键词：三维高斯泼溅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无序采集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即时重建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协视图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回环闭合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渐进式层级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81" name="" descr="&lt;Slide style={{ width: '1280px', height: '720px', backgroundColor: '#FFFFFF', padding: '0px', flexDirection: 'column' }}&gt;&#10;    &lt;Box style={{ width: '1280px', height: '8px', backgroundColor: '#1E4FA8' }} /&gt;&#10;    &lt;Box style={{ padding: '34px 40px 0px 40px', flexDirection: 'row', justifyContent: 'space-between', alignItems: 'flex-end' }}&gt;&#10;        &lt;Text style={{ fontSize: 34, fontWeight: 'bold', color: '#1E4FA8' }}&gt;主要贡献点&lt;/Text&gt;&#10;        &lt;Text style={{ fontSize: 15, color: '#8B97A8' }}&gt;03 / 14&lt;/Text&gt;&#10;    &lt;/Box&gt;&#10;    &lt;Box style={{ padding: '22px 40px 0px 40px', flexDirection: 'row', gap: 20 }}&gt;&#10;        &lt;Box style={{ flex: 1, backgroundColor: '#F7F9FC', border: '1px solid #D6DCE5', borderRadius: 6, padding: '18px 20px', flexDirection: 'column' }}&gt;&#10;            &lt;Box style={{ flexDirection: 'row', alignItems: 'center', gap: 10 }}&gt;&#10;                &lt;Box style={{ width: '34px', height: '34px', backgroundColor: '#1E4FA8', borderRadius: 4, alignItems: 'center', justifyContent: 'center' }}&gt;&#10;                    &lt;Text style={{ fontSize: 20, fontWeight: 'bold', color: '#FFFFFF' }}&gt;1&lt;/Text&gt;&#10;                &lt;/Box&gt;&#10;                &lt;Text style={{ fontSize: 24, fontWeight: 'bold', color: '#1A2230' }}&gt;无序序列快速匹配&lt;/Text&gt;&#10;            &lt;/Box&gt;&#10;            &lt;Text style={{ fontSize: 22, color: '#1A2230', lineHeight: 1.55, marginTop: 12 }}&gt;视觉位置识别 → XFeat 粗筛 → LightGlue 精验，三级把匹配代价从 O(n²) 降到常数级。&lt;/Text&gt;&#10;            &lt;Text style={{ fontSize: 20, color: '#1E4FA8', fontWeight: 'bold', marginTop: 14 }}&gt;配加权协视图 + 高连通关键帧贪心选取&lt;/Text&gt;&#10;        &lt;/Box&gt;&#10;        &lt;Box style={{ flex: 1, backgroundColor: '#F7F9FC', border: '1px solid #D6DCE5', borderRadius: 6, padding: '18px 20px', flexDirection: 'column' }}&gt;&#10;            &lt;Box style={{ flexDirection: 'row', alignItems: 'center', gap: 10 }}&gt;&#10;                &lt;Box style={{ width: '34px', height: '34px', backgroundColor: '#1E4FA8', borderRadius: 4, alignItems: 'center', justifyContent: 'center' }}&gt;&#10;                    &lt;Text style={{ fontSize: 20, fontWeight: 'bold', color: '#FFFFFF' }}&gt;2&lt;/Text&gt;&#10;                &lt;/Box&gt;&#10;                &lt;Text style={{ fontSize: 24, fontWeight: 'bold', color: '#1A2230' }}&gt;GPU 局部重建&lt;/Text&gt;&#10;            &lt;/Box&gt;&#10;            &lt;Text style={{ fontSize: 22, color: '#1A2230', lineHeight: 1.55, marginTop: 12 }}&gt;自写 BA 核函数（稠密 Schur 补），20 关键帧 / 1 万路标点下比现有优化器快约 5 倍。&lt;/Text&gt;&#10;            &lt;Text style={{ fontSize: 20, color: '#1E4FA8', fontWeight: 'bold', marginTop: 14 }}&gt;分块深度对齐，让高斯贴住真实表面&lt;/Text&gt;&#10;        &lt;/Box&gt;&#10;    &lt;/Box&gt;&#10;    &lt;Box style={{ padding: '20px 40px 0px 40px', flexDirection: 'row', gap: 20 }}&gt;&#10;        &lt;Box style={{ flex: 1, backgroundColor: '#F7F9FC', border: '1px solid #D6DCE5', borderRadius: 6, padding: '18px 20px', flexDirection: 'column' }}&gt;&#10;            &lt;Box style={{ flexDirection: 'row', alignItems: 'center', gap: 10 }}&gt;&#10;                &lt;Box style={{ width: '34px', height: '34px', backgroundColor: '#1E4FA8', borderRadius: 4, alignItems: 'center', justifyContent: 'center' }}&gt;&#10;                    &lt;Text style={{ fontSize: 20, fontWeight: 'bold', color: '#FFFFFF' }}&gt;3&lt;/Text&gt;&#10;                &lt;/Box&gt;&#10;                &lt;Text style={{ fontSize: 24, fontWeight: 'bold', color: '#1A2230' }}&gt;簇级回环闭合&lt;/Text&gt;&#10;            &lt;/Box&gt;&#10;            &lt;Text style={{ fontSize: 22, color: '#1A2230', lineHeight: 1.55, marginTop: 12 }}&gt;用协视图&quot;跳数距离&quot;判回环；焊接窗口 BA + Dijkstra 主干路径测地插值，把 Sim(3) 修正传到全图。&lt;/Text&gt;&#10;            &lt;Text style={{ fontSize: 20, color: '#D9534F', fontWeight: 'bold', marginTop: 14 }}&gt;关键：无需第二次全局优化&lt;/Text&gt;&#10;        &lt;/Box&gt;&#10;        &lt;Box style={{ flex: 1, backgroundColor: '#F0F5FC', border: '1px solid #3D7BD9', borderRadius: 6, padding: '18px 20px', flexDirection: 'column' }}&gt;&#10;            &lt;Box style={{ flexDirection: 'row', alignItems: 'center', gap: 10 }}&gt;&#10;                &lt;Box style={{ width: '34px', height: '34px', backgroundColor: '#0E3F8C', borderRadius: 4, alignItems: 'center', justifyContent: 'center' }}&gt;&#10;                    &lt;Text style={{ fontSize: 20, fontWeight: 'bold', color: '#FFFFFF' }}&gt;4&lt;/Text&gt;&#10;                &lt;/Box&gt;&#10;                &lt;Text style={{ fontSize: 24, fontWeight: 'bold', color: '#1A2230' }}&gt;渐进式高斯层级&lt;/Text&gt;&#10;            &lt;/Box&gt;&#10;            &lt;Text style={{ fontSize: 22, color: '#1A2230', lineHeight: 1.55, marginTop: 12 }}&gt;按屏幕尺寸合并 / 回取，叶节点卸载到 CPU；4050 帧大场景显存仍控制在 12.8 GB 内。&lt;/Text&gt;&#10;            &lt;Text style={{ fontSize: 20, color: '#1E4FA8', fontWeight: 'bold', marginTop: 14 }}&gt;峰值高斯 &amp;lt; 370 万，层级达 8 层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3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381000" y="400050"/>
            <a:ext cx="1619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主要贡献点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1325225" y="61912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03 / 14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381000" y="1000125"/>
            <a:ext cx="5619750" cy="1924050"/>
          </a:xfrm>
          <a:prstGeom prst="roundRect">
            <a:avLst>
              <a:gd name="adj" fmla="val 297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571500" y="1171575"/>
            <a:ext cx="323850" cy="323850"/>
          </a:xfrm>
          <a:prstGeom prst="roundRect">
            <a:avLst>
              <a:gd name="adj" fmla="val 1176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76275" y="12192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990600" y="1200150"/>
            <a:ext cx="1828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无序序列快速匹配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571500" y="1609725"/>
            <a:ext cx="5238750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视觉位置识别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XFeat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粗筛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LightGlue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精验，三级把匹配代价从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O(n²)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降到常数级。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571500" y="2524125"/>
            <a:ext cx="523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配加权协视图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高连通关键帧贪心选取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191250" y="1000125"/>
            <a:ext cx="5619750" cy="1924050"/>
          </a:xfrm>
          <a:prstGeom prst="roundRect">
            <a:avLst>
              <a:gd name="adj" fmla="val 297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6381750" y="1171575"/>
            <a:ext cx="323850" cy="323850"/>
          </a:xfrm>
          <a:prstGeom prst="roundRect">
            <a:avLst>
              <a:gd name="adj" fmla="val 1176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486525" y="12192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800850" y="1200150"/>
            <a:ext cx="1485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GPU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局部重建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381750" y="1609725"/>
            <a:ext cx="5238750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自写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BA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核函数（稠密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Schur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补），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20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关键帧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/ 1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万路标点下比现有优化器快约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倍。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6381750" y="2524125"/>
            <a:ext cx="523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分块深度对齐，让高斯贴住真实表面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381000" y="3114675"/>
            <a:ext cx="5619750" cy="1924050"/>
          </a:xfrm>
          <a:prstGeom prst="roundRect">
            <a:avLst>
              <a:gd name="adj" fmla="val 297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571500" y="3286125"/>
            <a:ext cx="323850" cy="323850"/>
          </a:xfrm>
          <a:prstGeom prst="roundRect">
            <a:avLst>
              <a:gd name="adj" fmla="val 1176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76275" y="33337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990600" y="3314700"/>
            <a:ext cx="1371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簇级回环闭合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571500" y="3724275"/>
            <a:ext cx="5238750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用协视图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跳数距离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判回环；焊接窗口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BA + Dijkstra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主干路径测地插值，把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Sim(3)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修正传到全图。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571500" y="4638675"/>
            <a:ext cx="523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D9534F"/>
                </a:solidFill>
                <a:latin typeface="Microsoft YaHei"/>
                <a:ea typeface="Microsoft YaHei"/>
              </a:rPr>
              <a:t>关键：无需第二次全局优化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191250" y="3114675"/>
            <a:ext cx="5619750" cy="1924050"/>
          </a:xfrm>
          <a:prstGeom prst="roundRect">
            <a:avLst>
              <a:gd name="adj" fmla="val 2970"/>
            </a:avLst>
          </a:prstGeom>
          <a:solidFill>
            <a:srgbClr val="F0F5FC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205" name=""/>
          <p:cNvSpPr/>
          <p:nvPr/>
        </p:nvSpPr>
        <p:spPr>
          <a:xfrm rot="0" flipH="0" flipV="0">
            <a:off x="6381750" y="3286125"/>
            <a:ext cx="323850" cy="323850"/>
          </a:xfrm>
          <a:prstGeom prst="roundRect">
            <a:avLst>
              <a:gd name="adj" fmla="val 11765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486525" y="33337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800850" y="3314700"/>
            <a:ext cx="1600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渐进式高斯层级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381750" y="3724275"/>
            <a:ext cx="5238750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按屏幕尺寸合并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回取，叶节点卸载到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CPU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；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4050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帧大场景显存仍控制在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12.8 GB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内。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6381750" y="4638675"/>
            <a:ext cx="523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峰值高斯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&lt; 370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万，层级达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层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210" name="" descr="&lt;Slide style={{ width: '1280px', height: '720px', backgroundColor: '#FFFFFF', padding: '0px', flexDirection: 'column' }}&gt;&#10;    &lt;Box style={{ width: '1280px', height: '8px', backgroundColor: '#1E4FA8' }} /&gt;&#10;    &lt;Box style={{ padding: '30px 40px 0px 40px', flexDirection: 'row', justifyContent: 'space-between', alignItems: 'flex-end' }}&gt;&#10;        &lt;Text style={{ fontSize: 34, fontWeight: 'bold', color: '#1E4FA8' }}&gt;研究背景：两条路线，各自卡在一个前提上&lt;/Text&gt;&#10;        &lt;Text style={{ fontSize: 15, color: '#8B97A8' }}&gt;04 / 14&lt;/Text&gt;&#10;    &lt;/Box&gt;&#10;    &lt;Box style={{ padding: '16px 40px 0px 40px' }}&gt;&#10;        &lt;Text style={{ fontSize: 21, color: '#4A5568', lineHeight: 1.5 }}&gt;拿到&quot;一组照片 → 一个可漫游的 3D 场景&quot;，过去只有两条路可走。它们的分歧不在算法细节，而在&lt;b&gt;什么时候允许开始计算&lt;/b&gt;。&lt;/Text&gt;&#10;    &lt;/Box&gt;&#10;    &lt;Box style={{ padding: '16px 40px 0px 40px', flexDirection: 'row', gap: 24 }}&gt;&#10;        &lt;Box style={{ flex: 1, backgroundColor: '#F7F9FC', border: '1px solid #D6DCE5', borderRadius: 6, padding: '16px 20px', flexDirection: 'column' }}&gt;&#10;            &lt;Text style={{ fontSize: 26, fontWeight: 'bold', color: '#1A2230' }}&gt;路线一　离线 SfM + 3DGS&lt;/Text&gt;&#10;            &lt;Text style={{ fontSize: 19, color: '#4A5568', marginTop: 6 }}&gt;COLMAP / GLOMAP + 3DGS、H3DGS、Octree-GS&lt;/Text&gt;&#10;            &lt;Text style={{ fontSize: 21, color: '#1A2230', lineHeight: 1.55, marginTop: 12 }}&gt;先把所有照片两两匹配、三角化、全局 BA 解出位姿，再训练高斯。质量最高、全局一致，但&lt;b&gt;必须等图全部到齐&lt;/b&gt;，耗时从分钟到小时。&lt;/Text&gt;&#10;            &lt;Text style={{ fontSize: 21, color: '#1E4FA8', fontWeight: 'bold', marginTop: 12 }}&gt;前提：先有完整的照片集合&lt;/Text&gt;&#10;            &lt;Text style={{ fontSize: 21, color: '#D9534F', fontWeight: 'bold', marginTop: 4 }}&gt;代价：现场给不出任何反馈&lt;/Text&gt;&#10;        &lt;/Box&gt;&#10;        &lt;Box style={{ flex: 1, backgroundColor: '#F0F5FC', border: '1px solid #3D7BD9', borderRadius: 6, padding: '16px 20px', flexDirection: 'column' }}&gt;&#10;            &lt;Text style={{ fontSize: 26, fontWeight: 'bold', color: '#1A2230' }}&gt;路线二　增量 / 类 SLAM&lt;/Text&gt;&#10;            &lt;Text style={{ fontSize: 19, color: '#4A5568', marginTop: 6 }}&gt;Photo-SLAM、MonoGS、DROID-Splat、LongSplat&lt;/Text&gt;&#10;            &lt;Text style={{ fontSize: 21, color: '#1A2230', lineHeight: 1.55, marginTop: 12 }}&gt;边收边建、可交互。但新帧只与&lt;b&gt;时间上相邻&lt;/b&gt;的少数帧匹配（通常 5 帧窗口），一旦转身回访、或把两段序列拼起来，匹配就断了。&lt;/Text&gt;&#10;            &lt;Text style={{ fontSize: 21, color: '#1E4FA8', fontWeight: 'bold', marginTop: 12 }}&gt;前提：输入必须是连续视频&lt;/Text&gt;&#10;            &lt;Text style={{ fontSize: 21, color: '#D9534F', fontWeight: 'bold', marginTop: 4 }}&gt;代价：离开时间邻域就失效&lt;/Text&gt;&#10;        &lt;/Box&gt;&#10;    &lt;/Box&gt;&#10;    &lt;Box style={{ margin: '20px 40px 0px 40px', backgroundColor: '#1E4FA8', borderRadius: 6, padding: '16px 24px' }}&gt;&#10;        &lt;Text style={{ fontSize: 24, fontWeight: 'bold', color: '#FFFFFF', lineHeight: 1.5 }}&gt;两条路的前提是同一个东西：&lt;b&gt;帧序&lt;/b&gt;。一条等它全部确定，一条假设它天然有序——而真实拍摄两样都不满足。&lt;/Text&gt;&#10;    &lt;/Box&gt;&#10;    &lt;Box style={{ padding: '12px 40px 0px 40px' }}&gt;&#10;        &lt;Text style={{ fontSize: 17, color: '#8B97A8' }}&gt;真实采集几乎总是无序的：绕行、转身、回头补拍角落，覆盖更好，但让匹配与全局优化的代价陡增。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2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381000" y="361950"/>
            <a:ext cx="61531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研究背景：两条路线，各自卡在一个前提上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1325225" y="58102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04 / 14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381000" y="904875"/>
            <a:ext cx="114300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拿到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一组照片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一个可漫游的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 xml:space="preserve"> 3D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场景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，过去只有两条路可走。它们的分歧不在算法细节，而在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什么时候允许开始计算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381000" y="1419225"/>
            <a:ext cx="5600700" cy="2771775"/>
          </a:xfrm>
          <a:prstGeom prst="roundRect">
            <a:avLst>
              <a:gd name="adj" fmla="val 206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571500" y="1571625"/>
            <a:ext cx="52197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路线一　离线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SfM + 3DGS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571500" y="1933575"/>
            <a:ext cx="5219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COLMAP / GLOMAP + 3DGS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H3DGS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Octree-GS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571500" y="2266950"/>
            <a:ext cx="5219700" cy="1123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先把所有照片两两匹配、三角化、全局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BA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解出位姿，再训练高斯。质量最高、全局一致，但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必须等图全部到齐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，耗时从分钟到小时。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571500" y="3505200"/>
            <a:ext cx="5219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前提：先有完整的照片集合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571500" y="3790950"/>
            <a:ext cx="5219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代价：现场给不出任何反馈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6210300" y="1419225"/>
            <a:ext cx="5600700" cy="2771775"/>
          </a:xfrm>
          <a:prstGeom prst="roundRect">
            <a:avLst>
              <a:gd name="adj" fmla="val 2062"/>
            </a:avLst>
          </a:prstGeom>
          <a:solidFill>
            <a:srgbClr val="F0F5FC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400800" y="1571625"/>
            <a:ext cx="52197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路线二　增量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类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SLAM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400800" y="1933575"/>
            <a:ext cx="5219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Photo-SLAM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MonoGS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DROID-Splat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LongSplat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400800" y="2266950"/>
            <a:ext cx="5219700" cy="1123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边收边建、可交互。但新帧只与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时间上相邻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的少数帧匹配（通常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帧窗口），一旦转身回访、或把两段序列拼起来，匹配就断了。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400800" y="3505200"/>
            <a:ext cx="5219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前提：输入必须是连续视频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400800" y="3790950"/>
            <a:ext cx="5219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代价：离开时间邻域就失效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381000" y="4381500"/>
            <a:ext cx="11430000" cy="1133475"/>
          </a:xfrm>
          <a:prstGeom prst="roundRect">
            <a:avLst>
              <a:gd name="adj" fmla="val 504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09600" y="4533900"/>
            <a:ext cx="109728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两条路的前提是同一个东西：</a:t>
            </a: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帧序</a:t>
            </a: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。一条等它全部确定，一条假设它天然有序——而真实拍摄两样都不满足。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381000" y="5629275"/>
            <a:ext cx="11430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真实采集几乎总是无序的：绕行、转身、回头补拍角落，覆盖更好，但让匹配与全局优化的代价陡增。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31" name="" descr="&lt;Slide style={{ width: '1280px', height: '720px', backgroundColor: '#FFFFFF', padding: '0px', flexDirection: 'column' }}&gt;&#10;    &lt;Box style={{ width: '1280px', height: '8px', backgroundColor: '#1E4FA8' }} /&gt;&#10;    &lt;Box style={{ padding: '30px 40px 0px 40px', flexDirection: 'row', justifyContent: 'space-between', alignItems: 'flex-end' }}&gt;&#10;        &lt;Text style={{ fontSize: 34, fontWeight: 'bold', color: '#1E4FA8' }}&gt;过去遇到的问题：等、乱、漂、爆&lt;/Text&gt;&#10;        &lt;Text style={{ fontSize: 15, color: '#8B97A8' }}&gt;05 / 14&lt;/Text&gt;&#10;    &lt;/Box&gt;&#10;    &lt;Box style={{ padding: '16px 40px 0px 40px' }}&gt;&#10;        &lt;Text style={{ fontSize: 21, color: '#4A5568', lineHeight: 1.5 }}&gt;如果拿手机去拍一个房间，这四件事几乎一定会遇到——它们不是算法&quot;不够准&quot;，而是&lt;b&gt;流程本身没有为现场反馈设计&lt;/b&gt;。&lt;/Text&gt;&#10;    &lt;/Box&gt;&#10;    &lt;Box style={{ padding: '16px 40px 0px 40px', flexDirection: 'row', gap: 20 }}&gt;&#10;        &lt;Box style={{ flex: 1, backgroundColor: '#F7F9FC', border: '1px solid #D6DCE5', borderRadius: 6, padding: '14px 18px', flexDirection: 'column' }}&gt;&#10;            &lt;Box style={{ flexDirection: 'row', alignItems: 'center', gap: 10 }}&gt;&#10;                &lt;Box style={{ width: '32px', height: '32px', backgroundColor: '#1E4FA8', borderRadius: 4, alignItems: 'center', justifyContent: 'center' }}&gt;&#10;                    &lt;Text style={{ fontSize: 19, fontWeight: 'bold', color: '#FFFFFF' }}&gt;1&lt;/Text&gt;&#10;                &lt;/Box&gt;&#10;                &lt;Text style={{ fontSize: 24, fontWeight: 'bold', color: '#1A2230' }}&gt;等：必须等图到齐&lt;/Text&gt;&#10;            &lt;/Box&gt;&#10;            &lt;Text style={{ fontSize: 20, color: '#1A2230', lineHeight: 1.5, marginTop: 10 }}&gt;离线流程要求全部图像就位才能开算。现场拍完不知道行不行，回家发现漏拍，只能整组重拍。&lt;/Text&gt;&#10;            &lt;Text style={{ fontSize: 19, color: '#D9534F', fontWeight: 'bold', marginTop: 10 }}&gt;返工成本最高&lt;/Text&gt;&#10;        &lt;/Box&gt;&#10;        &lt;Box style={{ flex: 1, backgroundColor: '#F7F9FC', border: '1px solid #D6DCE5', borderRadius: 6, padding: '14px 18px', flexDirection: 'column' }}&gt;&#10;            &lt;Box style={{ flexDirection: 'row', alignItems: 'center', gap: 10 }}&gt;&#10;                &lt;Box style={{ width: '32px', height: '32px', backgroundColor: '#1E4FA8', borderRadius: 4, alignItems: 'center', justifyContent: 'center' }}&gt;&#10;                    &lt;Text style={{ fontSize: 19, fontWeight: 'bold', color: '#FFFFFF' }}&gt;2&lt;/Text&gt;&#10;                &lt;/Box&gt;&#10;                &lt;Text style={{ fontSize: 24, fontWeight: 'bold', color: '#1A2230' }}&gt;乱：顺序不能用了&lt;/Text&gt;&#10;            &lt;/Box&gt;&#10;            &lt;Text style={{ fontSize: 20, color: '#1A2230', lineHeight: 1.5, marginTop: 10 }}&gt;随手拍的顺序与空间邻接无关，没法只比相邻帧，只能两两匹配：1000 张约 50 万对，耗时陡增。&lt;/Text&gt;&#10;            &lt;Text style={{ fontSize: 19, color: '#D9534F', fontWeight: 'bold', marginTop: 10 }}&gt;SfM 从分钟变小时&lt;/Text&gt;&#10;        &lt;/Box&gt;&#10;    &lt;/Box&gt;&#10;    &lt;Box style={{ padding: '14px 40px 0px 40px', flexDirection: 'row', gap: 20 }}&gt;&#10;        &lt;Box style={{ flex: 1, backgroundColor: '#F7F9FC', border: '1px solid #D6DCE5', borderRadius: 6, padding: '14px 18px', flexDirection: 'column' }}&gt;&#10;            &lt;Box style={{ flexDirection: 'row', alignItems: 'center', gap: 10 }}&gt;&#10;                &lt;Box style={{ width: '32px', height: '32px', backgroundColor: '#1E4FA8', borderRadius: 4, alignItems: 'center', justifyContent: 'center' }}&gt;&#10;                    &lt;Text style={{ fontSize: 19, fontWeight: 'bold', color: '#FFFFFF' }}&gt;3&lt;/Text&gt;&#10;                &lt;/Box&gt;&#10;                &lt;Text style={{ fontSize: 24, fontWeight: 'bold', color: '#1A2230' }}&gt;漂：回访时接不上&lt;/Text&gt;&#10;            &lt;/Box&gt;&#10;            &lt;Text style={{ fontSize: 20, color: '#1A2230', lineHeight: 1.5, marginTop: 10 }}&gt;边走边建误差累积，绕一圈回来发现首尾差半米。传统做法重跑一次全局 BA，几分钟起步。&lt;/Text&gt;&#10;            &lt;Text style={{ fontSize: 19, color: '#D9534F', fontWeight: 'bold', marginTop: 10 }}&gt;实时性当场归零&lt;/Text&gt;&#10;        &lt;/Box&gt;&#10;        &lt;Box style={{ flex: 1, backgroundColor: '#F7F9FC', border: '1px solid #D6DCE5', borderRadius: 6, padding: '14px 18px', flexDirection: 'column' }}&gt;&#10;            &lt;Box style={{ flexDirection: 'row', alignItems: 'center', gap: 10 }}&gt;&#10;                &lt;Box style={{ width: '32px', height: '32px', backgroundColor: '#1E4FA8', borderRadius: 4, alignItems: 'center', justifyContent: 'center' }}&gt;&#10;                    &lt;Text style={{ fontSize: 19, fontWeight: 'bold', color: '#FFFFFF' }}&gt;4&lt;/Text&gt;&#10;                &lt;/Box&gt;&#10;                &lt;Text style={{ fontSize: 24, fontWeight: 'bold', color: '#1A2230' }}&gt;爆：大场景显存&lt;/Text&gt;&#10;            &lt;/Box&gt;&#10;            &lt;Text style={{ fontSize: 20, color: '#1A2230', lineHeight: 1.5, marginTop: 10 }}&gt;高斯数随场景线性增长。论文实测：不开层级结构，CityWalk 到第 &lt;b&gt;795 / 4050&lt;/b&gt; 帧就 OOM。&lt;/Text&gt;&#10;            &lt;Text style={{ fontSize: 19, color: '#D9534F', fontWeight: 'bold', marginTop: 10 }}&gt;规模一上来就跑不完&lt;/Text&gt;&#10;        &lt;/Box&gt;&#10;    &lt;/Box&gt;&#10;    &lt;Box style={{ margin: '18px 40px 0px 40px', backgroundColor: '#1E4FA8', borderRadius: 6, padding: '14px 22px' }}&gt;&#10;        &lt;Text style={{ fontSize: 22, fontWeight: 'bold', color: '#FFFFFF', lineHeight: 1.5 }}&gt;四个现象收敛成三条必须同时成立的约束：即时（每帧数百毫秒）· 无序（不依赖帧序）· 全局一致（回环能修）。过去的方法最多同时满足两条。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3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381000" y="36195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过去遇到的问题：等、乱、漂、爆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1325225" y="58102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05 / 14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381000" y="904875"/>
            <a:ext cx="114300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如果拿手机去拍一个房间，这四件事几乎一定会遇到——它们不是算法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不够准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，而是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流程本身没有为现场反馈设计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381000" y="1419225"/>
            <a:ext cx="5619750" cy="1666875"/>
          </a:xfrm>
          <a:prstGeom prst="roundRect">
            <a:avLst>
              <a:gd name="adj" fmla="val 342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552450" y="1552575"/>
            <a:ext cx="304800" cy="3048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647700" y="1600200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952500" y="1571625"/>
            <a:ext cx="1828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等：必须等图到齐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552450" y="1952625"/>
            <a:ext cx="527685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离线流程要求全部图像就位才能开算。现场拍完不知道行不行，回家发现漏拍，只能整组重拍。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552450" y="2733675"/>
            <a:ext cx="5276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D9534F"/>
                </a:solidFill>
                <a:latin typeface="Microsoft YaHei"/>
                <a:ea typeface="Microsoft YaHei"/>
              </a:rPr>
              <a:t>返工成本最高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6191250" y="1419225"/>
            <a:ext cx="5619750" cy="1666875"/>
          </a:xfrm>
          <a:prstGeom prst="roundRect">
            <a:avLst>
              <a:gd name="adj" fmla="val 342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6362700" y="1552575"/>
            <a:ext cx="304800" cy="3048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457950" y="1600200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6762750" y="1571625"/>
            <a:ext cx="1828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乱：顺序不能用了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6362700" y="1952625"/>
            <a:ext cx="527685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随手拍的顺序与空间邻接无关，没法只比相邻帧，只能两两匹配：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1000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张约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50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万对，耗时陡增。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6362700" y="2733675"/>
            <a:ext cx="5276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SfM </a:t>
            </a:r>
            <a:r>
              <a:rPr lang="zh-CN" sz="1425" b="1">
                <a:solidFill>
                  <a:srgbClr val="D9534F"/>
                </a:solidFill>
                <a:latin typeface="Microsoft YaHei"/>
                <a:ea typeface="Microsoft YaHei"/>
              </a:rPr>
              <a:t>从分钟变小时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381000" y="3219450"/>
            <a:ext cx="5619750" cy="1666875"/>
          </a:xfrm>
          <a:prstGeom prst="roundRect">
            <a:avLst>
              <a:gd name="adj" fmla="val 342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50" name=""/>
          <p:cNvSpPr/>
          <p:nvPr/>
        </p:nvSpPr>
        <p:spPr>
          <a:xfrm rot="0" flipH="0" flipV="0">
            <a:off x="552450" y="3352800"/>
            <a:ext cx="304800" cy="3048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47700" y="340042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952500" y="3371850"/>
            <a:ext cx="1828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漂：回访时接不上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552450" y="3752850"/>
            <a:ext cx="527685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边走边建误差累积，绕一圈回来发现首尾差半米。传统做法重跑一次全局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BA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，几分钟起步。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552450" y="4533900"/>
            <a:ext cx="5276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D9534F"/>
                </a:solidFill>
                <a:latin typeface="Microsoft YaHei"/>
                <a:ea typeface="Microsoft YaHei"/>
              </a:rPr>
              <a:t>实时性当场归零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6191250" y="3219450"/>
            <a:ext cx="5619750" cy="1666875"/>
          </a:xfrm>
          <a:prstGeom prst="roundRect">
            <a:avLst>
              <a:gd name="adj" fmla="val 342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56" name=""/>
          <p:cNvSpPr/>
          <p:nvPr/>
        </p:nvSpPr>
        <p:spPr>
          <a:xfrm rot="0" flipH="0" flipV="0">
            <a:off x="6362700" y="3352800"/>
            <a:ext cx="304800" cy="3048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457950" y="340042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6762750" y="3371850"/>
            <a:ext cx="1600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爆：大场景显存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362700" y="3752850"/>
            <a:ext cx="527685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高斯数随场景线性增长。论文实测：不开层级结构，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CityWalk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到第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795 / 4050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帧就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OOM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6362700" y="4533900"/>
            <a:ext cx="5276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D9534F"/>
                </a:solidFill>
                <a:latin typeface="Microsoft YaHei"/>
                <a:ea typeface="Microsoft YaHei"/>
              </a:rPr>
              <a:t>规模一上来就跑不完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381000" y="5057775"/>
            <a:ext cx="11430000" cy="1028700"/>
          </a:xfrm>
          <a:prstGeom prst="roundRect">
            <a:avLst>
              <a:gd name="adj" fmla="val 555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590550" y="5191125"/>
            <a:ext cx="110109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四个现象收敛成三条必须同时成立的约束：即时（每帧数百毫秒）·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无序（不依赖帧序）·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全局一致（回环能修）。过去的方法最多同时满足两条。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63" name="" descr="&lt;Slide style={{ width: '1280px', height: '720px', backgroundColor: '#FFFFFF', padding: '0px', flexDirection: 'column' }}&gt;&#10;    &lt;Box style={{ width: '1280px', height: '8px', backgroundColor: '#1E4FA8' }} /&gt;&#10;    &lt;Box style={{ padding: '30px 40px 0px 40px', flexDirection: 'row', justifyContent: 'space-between', alignItems: 'flex-end' }}&gt;&#10;        &lt;Text style={{ fontSize: 34, fontWeight: 'bold', color: '#1E4FA8' }}&gt;方法总览：每来一个关键帧做六件事&lt;/Text&gt;&#10;        &lt;Text style={{ fontSize: 15, color: '#8B97A8' }}&gt;06 / 14&lt;/Text&gt;&#10;    &lt;/Box&gt;&#10;    &lt;Box style={{ padding: '14px 40px 0px 40px' }}&gt;&#10;        &lt;Text style={{ fontSize: 22, color: '#4A5568', lineHeight: 1.5 }}&gt;设计哲学一句话：&lt;b&gt;每帧做小事，偶尔做一次大事&lt;/b&gt;。前者保证实时，后者保证不漂。每一步都对应上一页四个问题中的一个。&lt;/Text&gt;&#10;    &lt;/Box&gt;&#10;    &lt;Box style={{ padding: '18px 40px 0px 40px', flexDirection: 'row', gap: 14 }}&gt;&#10;        &lt;Box style={{ flex: 1, minHeight: '158px', backgroundColor: '#F0F5FC', borderRadius: 6, padding: '16px 14px', flexDirection: 'column' }}&gt;&#10;            &lt;Text style={{ fontSize: 18, fontWeight: 'bold', color: '#1E4FA8' }}&gt;STEP 1&lt;/Text&gt;&#10;            &lt;Text style={{ fontSize: 23, fontWeight: 'bold', color: '#1A2230', marginTop: 7 }}&gt;两级匹配&lt;/Text&gt;&#10;            &lt;Text style={{ fontSize: 19, color: '#1A2230', lineHeight: 1.5, marginTop: 7 }}&gt;检索候选 → 局部特征 → 精验，得到可信帧对&lt;/Text&gt;&#10;            &lt;Text style={{ fontSize: 18, color: '#1D5FC0', fontWeight: 'bold', marginTop: 'auto' }}&gt;治&quot;乱&quot;&lt;/Text&gt;&#10;        &lt;/Box&gt;&#10;        &lt;Box style={{ flex: 1, minHeight: '158px', backgroundColor: '#F0F5FC', borderRadius: 6, padding: '16px 14px', flexDirection: 'column' }}&gt;&#10;            &lt;Text style={{ fontSize: 18, fontWeight: 'bold', color: '#1E4FA8' }}&gt;STEP 2&lt;/Text&gt;&#10;            &lt;Text style={{ fontSize: 23, fontWeight: 'bold', color: '#1A2230', marginTop: 7 }}&gt;更新协视图&lt;/Text&gt;&#10;            &lt;Text style={{ fontSize: 19, color: '#1A2230', lineHeight: 1.5, marginTop: 7 }}&gt;边权 = 内点数倒数，越可靠越&quot;近&quot;&lt;/Text&gt;&#10;            &lt;Text style={{ fontSize: 18, color: '#1D5FC0', fontWeight: 'bold', marginTop: 'auto' }}&gt;为后续提供&quot;距离&quot;&lt;/Text&gt;&#10;        &lt;/Box&gt;&#10;        &lt;Box style={{ flex: 1, minHeight: '158px', backgroundColor: '#F0F5FC', borderRadius: 6, padding: '16px 14px', flexDirection: 'column' }}&gt;&#10;            &lt;Text style={{ fontSize: 18, fontWeight: 'bold', color: '#1E4FA8' }}&gt;STEP 3&lt;/Text&gt;&#10;            &lt;Text style={{ fontSize: 23, fontWeight: 'bold', color: '#1A2230', marginTop: 7 }}&gt;回环检测&lt;/Text&gt;&#10;            &lt;Text style={{ fontSize: 19, color: '#1A2230', lineHeight: 1.5, marginTop: 7 }}&gt;簇间跳数 &amp;gt; 5 且有效对 &amp;gt; 2 才触发&lt;/Text&gt;&#10;            &lt;Text style={{ fontSize: 18, color: '#1D5FC0', fontWeight: 'bold', marginTop: 'auto' }}&gt;治&quot;漂&quot;·发现&lt;/Text&gt;&#10;        &lt;/Box&gt;&#10;    &lt;/Box&gt;&#10;    &lt;Box style={{ padding: '16px 40px 0px 40px', flexDirection: 'row', gap: 14 }}&gt;&#10;        &lt;Box style={{ flex: 1, minHeight: '158px', backgroundColor: '#F7F9FC', borderRadius: 6, padding: '16px 14px', flexDirection: 'column' }}&gt;&#10;            &lt;Text style={{ fontSize: 18, fontWeight: 'bold', color: '#1E4FA8' }}&gt;STEP 4&lt;/Text&gt;&#10;            &lt;Text style={{ fontSize: 23, fontWeight: 'bold', color: '#1A2230', marginTop: 7 }}&gt;局部 BA&lt;/Text&gt;&#10;            &lt;Text style={{ fontSize: 19, color: '#1A2230', lineHeight: 1.5, marginTop: 7 }}&gt;选 20 个高连通帧，GPU 上优化位姿&lt;/Text&gt;&#10;            &lt;Text style={{ fontSize: 18, color: '#1D5FC0', fontWeight: 'bold', marginTop: 'auto' }}&gt;治&quot;慢&quot;&lt;/Text&gt;&#10;        &lt;/Box&gt;&#10;        &lt;Box style={{ flex: 1, minHeight: '158px', backgroundColor: '#F7F9FC', borderRadius: 6, padding: '16px 14px', flexDirection: 'column' }}&gt;&#10;            &lt;Text style={{ fontSize: 18, fontWeight: 'bold', color: '#1E4FA8' }}&gt;STEP 5&lt;/Text&gt;&#10;            &lt;Text style={{ fontSize: 23, fontWeight: 'bold', color: '#1A2230', marginTop: 7 }}&gt;回环修正&lt;/Text&gt;&#10;            &lt;Text style={{ fontSize: 19, color: '#1A2230', lineHeight: 1.5, marginTop: 7 }}&gt;焊接 BA + 主干传播，位姿与高斯一起动&lt;/Text&gt;&#10;            &lt;Text style={{ fontSize: 18, color: '#1D5FC0', fontWeight: 'bold', marginTop: 'auto' }}&gt;治&quot;漂&quot;·修正&lt;/Text&gt;&#10;        &lt;/Box&gt;&#10;        &lt;Box style={{ flex: 1, minHeight: '158px', backgroundColor: '#F7F9FC', borderRadius: 6, padding: '16px 14px', flexDirection: 'column' }}&gt;&#10;            &lt;Text style={{ fontSize: 18, fontWeight: 'bold', color: '#1E4FA8' }}&gt;STEP 6&lt;/Text&gt;&#10;            &lt;Text style={{ fontSize: 23, fontWeight: 'bold', color: '#1A2230', marginTop: 7 }}&gt;投放与优化&lt;/Text&gt;&#10;            &lt;Text style={{ fontSize: 19, color: '#1A2230', lineHeight: 1.5, marginTop: 7 }}&gt;分块深度对齐投放，每帧固定 30 次迭代&lt;/Text&gt;&#10;            &lt;Text style={{ fontSize: 18, color: '#1D5FC0', fontWeight: 'bold', marginTop: 'auto' }}&gt;治&quot;爆&quot;（配层级）&lt;/Text&gt;&#10;        &lt;/Box&gt;&#10;    &lt;/Box&gt;&#10;    &lt;Box style={{ margin: '18px 40px 0px 40px', backgroundColor: '#F0F5FC', borderLeft: '5px solid #1E4FA8', padding: '15px 20px' }}&gt;&#10;        &lt;Text style={{ fontSize: 21, color: '#1A2230', lineHeight: 1.5 }}&gt;另有一处容错：匹配失败的帧先&quot;搁置&quot;，后续出现相似帧时再取出重试——乱序输入因此不必强求一次匹配成功。&lt;/Text&gt;&#10;    &lt;/Box&gt;&#10;    &lt;Box style={{ padding: '14px 40px 0px 40px' }}&gt;&#10;        &lt;Text style={{ fontSize: 17, color: '#8B97A8' }}&gt;六步中只有 STEP 3 与 STEP 5 是&quot;偶尔做一次的大事&quot;，其余每帧都跑；这也是实时性的来源。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381000" y="361950"/>
            <a:ext cx="5181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方法总览：每来一个关键帧做六件事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1325225" y="58102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06 / 14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381000" y="885825"/>
            <a:ext cx="11430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设计哲学一句话：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每帧做小事，偶尔做一次大事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。前者保证实时，后者保证不漂。每一步都对应上一页四个问题中的一个。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381000" y="1438275"/>
            <a:ext cx="3724275" cy="1504950"/>
          </a:xfrm>
          <a:prstGeom prst="roundRect">
            <a:avLst>
              <a:gd name="adj" fmla="val 3797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514350" y="1590675"/>
            <a:ext cx="34575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STEP 1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514350" y="1866900"/>
            <a:ext cx="34575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两级匹配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514350" y="2200275"/>
            <a:ext cx="3457575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检索候选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局部特征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精验，得到可信帧对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514350" y="2581275"/>
            <a:ext cx="34575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D5FC0"/>
                </a:solidFill>
                <a:latin typeface="Microsoft YaHei"/>
                <a:ea typeface="Microsoft YaHei"/>
              </a:rPr>
              <a:t>治</a:t>
            </a:r>
            <a:r>
              <a:rPr lang="en-US" sz="1350" b="1">
                <a:solidFill>
                  <a:srgbClr val="1D5FC0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1D5FC0"/>
                </a:solidFill>
                <a:latin typeface="Microsoft YaHei"/>
                <a:ea typeface="Microsoft YaHei"/>
              </a:rPr>
              <a:t>乱</a:t>
            </a:r>
            <a:r>
              <a:rPr lang="en-US" sz="1350" b="1">
                <a:solidFill>
                  <a:srgbClr val="1D5FC0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4238625" y="1438275"/>
            <a:ext cx="3714750" cy="1504950"/>
          </a:xfrm>
          <a:prstGeom prst="roundRect">
            <a:avLst>
              <a:gd name="adj" fmla="val 3797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4371975" y="1590675"/>
            <a:ext cx="3448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STEP 2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4371975" y="1866900"/>
            <a:ext cx="34480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更新协视图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4371975" y="2200275"/>
            <a:ext cx="344805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边权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内点数倒数，越可靠越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近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4371975" y="2581275"/>
            <a:ext cx="3448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D5FC0"/>
                </a:solidFill>
                <a:latin typeface="Microsoft YaHei"/>
                <a:ea typeface="Microsoft YaHei"/>
              </a:rPr>
              <a:t>为后续提供</a:t>
            </a:r>
            <a:r>
              <a:rPr lang="en-US" sz="1350" b="1">
                <a:solidFill>
                  <a:srgbClr val="1D5FC0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1D5FC0"/>
                </a:solidFill>
                <a:latin typeface="Microsoft YaHei"/>
                <a:ea typeface="Microsoft YaHei"/>
              </a:rPr>
              <a:t>距离</a:t>
            </a:r>
            <a:r>
              <a:rPr lang="en-US" sz="1350" b="1">
                <a:solidFill>
                  <a:srgbClr val="1D5FC0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8086725" y="1438275"/>
            <a:ext cx="3724275" cy="1504950"/>
          </a:xfrm>
          <a:prstGeom prst="roundRect">
            <a:avLst>
              <a:gd name="adj" fmla="val 3797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8220075" y="1590675"/>
            <a:ext cx="34575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STEP 3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8220075" y="1866900"/>
            <a:ext cx="34575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回环检测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8220075" y="2200275"/>
            <a:ext cx="3457575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簇间跳数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&gt; 5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且有效对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&gt; 2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才触发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8220075" y="2581275"/>
            <a:ext cx="34575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D5FC0"/>
                </a:solidFill>
                <a:latin typeface="Microsoft YaHei"/>
                <a:ea typeface="Microsoft YaHei"/>
              </a:rPr>
              <a:t>治</a:t>
            </a:r>
            <a:r>
              <a:rPr lang="en-US" sz="1350" b="1">
                <a:solidFill>
                  <a:srgbClr val="1D5FC0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1D5FC0"/>
                </a:solidFill>
                <a:latin typeface="Microsoft YaHei"/>
                <a:ea typeface="Microsoft YaHei"/>
              </a:rPr>
              <a:t>漂</a:t>
            </a:r>
            <a:r>
              <a:rPr lang="en-US" sz="1350" b="1">
                <a:solidFill>
                  <a:srgbClr val="1D5FC0"/>
                </a:solidFill>
                <a:latin typeface="Microsoft YaHei"/>
                <a:ea typeface="Microsoft YaHei"/>
              </a:rPr>
              <a:t>"·</a:t>
            </a:r>
            <a:r>
              <a:rPr lang="zh-CN" sz="1350" b="1">
                <a:solidFill>
                  <a:srgbClr val="1D5FC0"/>
                </a:solidFill>
                <a:latin typeface="Microsoft YaHei"/>
                <a:ea typeface="Microsoft YaHei"/>
              </a:rPr>
              <a:t>发现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381000" y="3095625"/>
            <a:ext cx="3724275" cy="1504950"/>
          </a:xfrm>
          <a:prstGeom prst="roundRect">
            <a:avLst>
              <a:gd name="adj" fmla="val 379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514350" y="3248025"/>
            <a:ext cx="34575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STEP 4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514350" y="3524250"/>
            <a:ext cx="34575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局部</a:t>
            </a:r>
            <a:r>
              <a:rPr lang="en-US" sz="172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BA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514350" y="3857625"/>
            <a:ext cx="3457575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选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20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个高连通帧，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GPU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上优化位姿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514350" y="4238625"/>
            <a:ext cx="34575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D5FC0"/>
                </a:solidFill>
                <a:latin typeface="Microsoft YaHei"/>
                <a:ea typeface="Microsoft YaHei"/>
              </a:rPr>
              <a:t>治</a:t>
            </a:r>
            <a:r>
              <a:rPr lang="en-US" sz="1350" b="1">
                <a:solidFill>
                  <a:srgbClr val="1D5FC0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1D5FC0"/>
                </a:solidFill>
                <a:latin typeface="Microsoft YaHei"/>
                <a:ea typeface="Microsoft YaHei"/>
              </a:rPr>
              <a:t>慢</a:t>
            </a:r>
            <a:r>
              <a:rPr lang="en-US" sz="1350" b="1">
                <a:solidFill>
                  <a:srgbClr val="1D5FC0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4238625" y="3095625"/>
            <a:ext cx="3714750" cy="1504950"/>
          </a:xfrm>
          <a:prstGeom prst="roundRect">
            <a:avLst>
              <a:gd name="adj" fmla="val 379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4371975" y="3248025"/>
            <a:ext cx="3448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STEP 5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4371975" y="3524250"/>
            <a:ext cx="34480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回环修正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4371975" y="3857625"/>
            <a:ext cx="344805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焊接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BA +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主干传播，位姿与高斯一起动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4371975" y="4238625"/>
            <a:ext cx="3448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D5FC0"/>
                </a:solidFill>
                <a:latin typeface="Microsoft YaHei"/>
                <a:ea typeface="Microsoft YaHei"/>
              </a:rPr>
              <a:t>治</a:t>
            </a:r>
            <a:r>
              <a:rPr lang="en-US" sz="1350" b="1">
                <a:solidFill>
                  <a:srgbClr val="1D5FC0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1D5FC0"/>
                </a:solidFill>
                <a:latin typeface="Microsoft YaHei"/>
                <a:ea typeface="Microsoft YaHei"/>
              </a:rPr>
              <a:t>漂</a:t>
            </a:r>
            <a:r>
              <a:rPr lang="en-US" sz="1350" b="1">
                <a:solidFill>
                  <a:srgbClr val="1D5FC0"/>
                </a:solidFill>
                <a:latin typeface="Microsoft YaHei"/>
                <a:ea typeface="Microsoft YaHei"/>
              </a:rPr>
              <a:t>"·</a:t>
            </a:r>
            <a:r>
              <a:rPr lang="zh-CN" sz="1350" b="1">
                <a:solidFill>
                  <a:srgbClr val="1D5FC0"/>
                </a:solidFill>
                <a:latin typeface="Microsoft YaHei"/>
                <a:ea typeface="Microsoft YaHei"/>
              </a:rPr>
              <a:t>修正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8086725" y="3095625"/>
            <a:ext cx="3724275" cy="1504950"/>
          </a:xfrm>
          <a:prstGeom prst="roundRect">
            <a:avLst>
              <a:gd name="adj" fmla="val 3797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8220075" y="3248025"/>
            <a:ext cx="34575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STEP 6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220075" y="3524250"/>
            <a:ext cx="34575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投放与优化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8220075" y="3857625"/>
            <a:ext cx="3457575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分块深度对齐投放，每帧固定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次迭代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8220075" y="4238625"/>
            <a:ext cx="34575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D5FC0"/>
                </a:solidFill>
                <a:latin typeface="Microsoft YaHei"/>
                <a:ea typeface="Microsoft YaHei"/>
              </a:rPr>
              <a:t>治</a:t>
            </a:r>
            <a:r>
              <a:rPr lang="en-US" sz="1350" b="1">
                <a:solidFill>
                  <a:srgbClr val="1D5FC0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1D5FC0"/>
                </a:solidFill>
                <a:latin typeface="Microsoft YaHei"/>
                <a:ea typeface="Microsoft YaHei"/>
              </a:rPr>
              <a:t>爆</a:t>
            </a:r>
            <a:r>
              <a:rPr lang="en-US" sz="1350" b="1">
                <a:solidFill>
                  <a:srgbClr val="1D5FC0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1D5FC0"/>
                </a:solidFill>
                <a:latin typeface="Microsoft YaHei"/>
                <a:ea typeface="Microsoft YaHei"/>
              </a:rPr>
              <a:t>（配层级）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428625" y="4772025"/>
            <a:ext cx="11430000" cy="6477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00" name=""/>
          <p:cNvSpPr/>
          <p:nvPr/>
        </p:nvSpPr>
        <p:spPr>
          <a:xfrm rot="0" flipH="0" flipV="0">
            <a:off x="381000" y="4772025"/>
            <a:ext cx="11477625" cy="647700"/>
          </a:xfrm>
          <a:custGeom>
            <a:pathLst>
              <a:path w="1205" h="68">
                <a:moveTo>
                  <a:pt x="0" y="0"/>
                </a:moveTo>
                <a:lnTo>
                  <a:pt x="5" y="0"/>
                </a:lnTo>
                <a:lnTo>
                  <a:pt x="5" y="68"/>
                </a:lnTo>
                <a:lnTo>
                  <a:pt x="0" y="6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619125" y="4914900"/>
            <a:ext cx="11001375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另有一处容错：匹配失败的帧先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搁置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，后续出现相似帧时再取出重试——乱序输入因此不必强求一次匹配成功。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381000" y="5553075"/>
            <a:ext cx="11430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六步中只有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 STEP 3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与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 STEP 5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是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偶尔做一次的大事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，其余每帧都跑；这也是实时性的来源。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03" name="" descr="&lt;Slide style={{ width: '1280px', height: '720px', backgroundColor: '#FFFFFF', padding: '0px', flexDirection: 'column' }}&gt;&#10;    &lt;Box style={{ width: '1280px', height: '8px', backgroundColor: '#1E4FA8' }} /&gt;&#10;    &lt;Box style={{ padding: '26px 40px 0px 40px', flexDirection: 'row', justifyContent: 'space-between', alignItems: 'flex-end' }}&gt;&#10;        &lt;Text style={{ fontSize: 34, fontWeight: 'bold', color: '#1E4FA8' }}&gt;算法地图：七步重建链，用在哪、算什么、管什么&lt;/Text&gt;&#10;        &lt;Text style={{ fontSize: 15, color: '#8B97A8' }}&gt;07 / 14&lt;/Text&gt;&#10;    &lt;/Box&gt;&#10;    &lt;Box style={{ padding: '10px 40px 0px 40px' }}&gt;&#10;        &lt;Text style={{ fontSize: 20, color: '#4A5568', lineHeight: 1.4 }}&gt;位姿重建真正发生在 &lt;b&gt;第 5 步&lt;/b&gt;：前三步只为它准备可信观测，第 4 步划定它的变量范围，第 6 步修它累积的漂移，第 7 步才轮到高斯。&lt;/Text&gt;&#10;    &lt;/Box&gt;&#10;&#10;    &lt;Box style={{ padding: '12px 40px 0px 40px', flexDirection: 'row', gap: 10 }}&gt;&#10;        &lt;Box style={{ flex: 1, height: 46, backgroundColor: '#F0F5FC', borderRadius: 4, alignItems: 'center', justifyContent: 'center' }}&gt;&#10;            &lt;Text style={{ fontSize: 19, fontWeight: 'bold', color: '#1E4FA8' }}&gt;① 检索&lt;/Text&gt;&#10;        &lt;/Box&gt;&#10;        &lt;Box style={{ flex: 1, height: 46, backgroundColor: '#F0F5FC', borderRadius: 4, alignItems: 'center', justifyContent: 'center' }}&gt;&#10;            &lt;Text style={{ fontSize: 19, fontWeight: 'bold', color: '#1E4FA8' }}&gt;② 粗筛&lt;/Text&gt;&#10;        &lt;/Box&gt;&#10;        &lt;Box style={{ flex: 1, height: 46, backgroundColor: '#F0F5FC', borderRadius: 4, alignItems: 'center', justifyContent: 'center' }}&gt;&#10;            &lt;Text style={{ fontSize: 19, fontWeight: 'bold', color: '#1E4FA8' }}&gt;③ 建边&lt;/Text&gt;&#10;        &lt;/Box&gt;&#10;        &lt;Box style={{ flex: 1, height: 46, backgroundColor: '#F0F5FC', borderRadius: 4, alignItems: 'center', justifyContent: 'center' }}&gt;&#10;            &lt;Text style={{ fontSize: 19, fontWeight: 'bold', color: '#1E4FA8' }}&gt;④ 选窗&lt;/Text&gt;&#10;        &lt;/Box&gt;&#10;        &lt;Box style={{ flex: 1, height: 46, backgroundColor: '#1E4FA8', borderRadius: 4, alignItems: 'center', justifyContent: 'center' }}&gt;&#10;            &lt;Text style={{ fontSize: 19, fontWeight: 'bold', color: '#FFFFFF' }}&gt;⑤ 局部 BA&lt;/Text&gt;&#10;        &lt;/Box&gt;&#10;        &lt;Box style={{ flex: 1, height: 46, backgroundColor: '#F0F5FC', borderRadius: 4, alignItems: 'center', justifyContent: 'center' }}&gt;&#10;            &lt;Text style={{ fontSize: 19, fontWeight: 'bold', color: '#1E4FA8' }}&gt;⑥ 纠偏&lt;/Text&gt;&#10;        &lt;/Box&gt;&#10;        &lt;Box style={{ flex: 1, height: 46, backgroundColor: '#F0F5FC', borderRadius: 4, alignItems: 'center', justifyContent: 'center' }}&gt;&#10;            &lt;Text style={{ fontSize: 19, fontWeight: 'bold', color: '#1E4FA8' }}&gt;⑦ 落位&lt;/Text&gt;&#10;        &lt;/Box&gt;&#10;    &lt;/Box&gt;&#10;&#10;    &lt;Box style={{ padding: '12px 40px 0px 40px', flexDirection: 'column' }}&gt;&#10;        &lt;Box style={{ flexDirection: 'row', backgroundColor: '#1E4FA8', padding: '10px 14px' }}&gt;&#10;            &lt;Text style={{ width: '44px', fontSize: 18, fontWeight: 'bold', color: '#FFFFFF' }}&gt;步&lt;/Text&gt;&#10;            &lt;Text style={{ width: '258px', fontSize: 18, fontWeight: 'bold', color: '#FFFFFF' }}&gt;算法&lt;/Text&gt;&#10;            &lt;Text style={{ flex: 2.2, fontSize: 18, fontWeight: 'bold', color: '#FFFFFF' }}&gt;核心公式 / 判据&lt;/Text&gt;&#10;            &lt;Text style={{ flex: 2.4, fontSize: 18, fontWeight: 'bold', color: '#FFFFFF' }}&gt;在重建中的作用&lt;/Text&gt;&#10;        &lt;/Box&gt;&#10;        &lt;Box style={{ flexDirection: 'row', alignItems: 'center', minHeight: 58, padding: '10px 14px', borderBottom: '1px solid #D6DCE5' }}&gt;&#10;            &lt;Text style={{ width: '44px', fontSize: 18, fontWeight: 'bold', color: '#1E4FA8' }}&gt;①&lt;/Text&gt;&#10;            &lt;Text style={{ width: '258px', fontSize: 18, color: '#1A2230' }}&gt;MegaLoc 全局描述子&lt;/Text&gt;&#10;            &lt;Text style={{ flex: 2.2, fontSize: 18, color: '#1A2230' }}&gt;s = d_i · d_j，取 top-K = 20&lt;/Text&gt;&#10;            &lt;Text style={{ flex: 2.4, fontSize: 18, color: '#1A2230' }}&gt;从全部历史帧里找&quot;可能同处&quot;的候选，与帧序无关&lt;/Text&gt;&#10;        &lt;/Box&gt;&#10;        &lt;Box style={{ flexDirection: 'row', alignItems: 'center', minHeight: 58, padding: '10px 14px', backgroundColor: '#F7F9FC', borderBottom: '1px solid #D6DCE5' }}&gt;&#10;            &lt;Text style={{ width: '44px', fontSize: 18, fontWeight: 'bold', color: '#1E4FA8' }}&gt;②&lt;/Text&gt;&#10;            &lt;Text style={{ width: '258px', fontSize: 18, color: '#1A2230' }}&gt;XFeat 局部特征穷举&lt;/Text&gt;&#10;            &lt;Text style={{ flex: 2.2, fontSize: 18, color: '#1A2230' }}&gt;K' = top-5 |M_ij|（按内点数）&lt;/Text&gt;&#10;            &lt;Text style={{ flex: 2.4, fontSize: 18, color: '#1A2230' }}&gt;淘汰&quot;外观像、但没对上点&quot;的候选&lt;/Text&gt;&#10;        &lt;/Box&gt;&#10;        &lt;Box style={{ flexDirection: 'row', alignItems: 'center', minHeight: 58, padding: '10px 14px', borderBottom: '1px solid #D6DCE5' }}&gt;&#10;            &lt;Text style={{ width: '44px', fontSize: 18, fontWeight: 'bold', color: '#1E4FA8' }}&gt;③&lt;/Text&gt;&#10;            &lt;Text style={{ width: '258px', fontSize: 18, color: '#1A2230' }}&gt;LightGlue + RANSAC&lt;/Text&gt;&#10;            &lt;Text style={{ flex: 2.2, fontSize: 18, color: '#1A2230' }}&gt;|M_ij| &amp;gt; τ_m = 500 才建边；w_ij = 1/|M_ij|&lt;/Text&gt;&#10;            &lt;Text style={{ flex: 2.4, fontSize: 18, color: '#1A2230' }}&gt;唯一产生共视约束的一步，结果写入协视图&lt;/Text&gt;&#10;        &lt;/Box&gt;&#10;        &lt;Box style={{ flexDirection: 'row', alignItems: 'center', minHeight: 58, padding: '10px 14px', backgroundColor: '#F7F9FC', borderBottom: '1px solid #D6DCE5' }}&gt;&#10;            &lt;Text style={{ width: '44px', fontSize: 18, fontWeight: 'bold', color: '#1E4FA8' }}&gt;④&lt;/Text&gt;&#10;            &lt;Text style={{ width: '258px', fontSize: 18, color: '#1A2230' }}&gt;协视图贪心扩张（式 1）&lt;/Text&gt;&#10;            &lt;Text style={{ flex: 2.2, fontSize: 18, color: '#1A2230' }}&gt;S ← S ∪ argmax Σ_j |M_ij|，至 20 帧&lt;/Text&gt;&#10;            &lt;Text style={{ flex: 2.4, fontSize: 18, color: '#1A2230' }}&gt;划定 BA 的变量范围：最该一起优化的 20 帧&lt;/Text&gt;&#10;        &lt;/Box&gt;&#10;        &lt;Box style={{ flexDirection: 'row', alignItems: 'center', minHeight: 58, padding: '10px 14px', backgroundColor: '#E8F0FB', borderTop: '1px solid #3D7BD9', borderBottom: '1px solid #3D7BD9' }}&gt;&#10;            &lt;Text style={{ width: '44px', fontSize: 18, fontWeight: 'bold', color: '#1E4FA8' }}&gt;⑤&lt;/Text&gt;&#10;            &lt;Text style={{ width: '258px', fontSize: 18, fontWeight: 'bold', color: '#1A2230' }}&gt;GPU 局部 BA（LM + Schur）&lt;/Text&gt;&#10;            &lt;Text style={{ flex: 2.2, fontSize: 18, fontWeight: 'bold', color: '#1A2230' }}&gt;min Σ ρ( ||u_ij − π(T_i, X_j)||² )&lt;/Text&gt;&#10;            &lt;Text style={{ flex: 2.4, fontSize: 18, fontWeight: 'bold', color: '#1A2230' }}&gt;真正解出位姿 T_i 与三维点 X_j——重建本体&lt;/Text&gt;&#10;        &lt;/Box&gt;&#10;        &lt;Box style={{ flexDirection: 'row', alignItems: 'center', minHeight: 58, padding: '10px 14px', borderBottom: '1px solid #D6DCE5' }}&gt;&#10;            &lt;Text style={{ width: '44px', fontSize: 18, fontWeight: 'bold', color: '#1E4FA8' }}&gt;⑥&lt;/Text&gt;&#10;            &lt;Text style={{ width: '258px', fontSize: 18, color: '#1A2230' }}&gt;簇级回环 + 图传播&lt;/Text&gt;&#10;            &lt;Text style={{ flex: 2.2, fontSize: 18, color: '#1A2230' }}&gt;跳数 &amp;gt; 5 触发；T_Δ = T_a^opt(T_a^init)^-1&lt;/Text&gt;&#10;            &lt;Text style={{ flex: 2.4, fontSize: 18, color: '#1A2230' }}&gt;两簇各扩 N/2 帧焊接，得 Sim(3) 后沿主干摊回&lt;/Text&gt;&#10;        &lt;/Box&gt;&#10;        &lt;Box style={{ flexDirection: 'row', alignItems: 'center', minHeight: 58, padding: '10px 14px', backgroundColor: '#F7F9FC' }}&gt;&#10;            &lt;Text style={{ width: '44px', fontSize: 18, fontWeight: 'bold', color: '#1E4FA8' }}&gt;⑦&lt;/Text&gt;&#10;            &lt;Text style={{ width: '258px', fontSize: 18, color: '#1A2230' }}&gt;分块深度对齐 + 渐进层级&lt;/Text&gt;&#10;            &lt;Text style={{ flex: 2.2, fontSize: 18, color: '#1A2230' }}&gt;size &amp;lt; τ_l 且占比 &amp;gt; 20% → KL 合并&lt;/Text&gt;&#10;            &lt;Text style={{ flex: 2.4, fontSize: 18, color: '#1A2230' }}&gt;位姿定后才投放高斯；层级只压显存，不改位姿&lt;/Text&gt;&#10;        &lt;/Box&gt;&#10;    &lt;/Box&gt;&#10;&#10;    &lt;Box style={{ padding: '12px 40px 0px 40px' }}&gt;&#10;        &lt;Text style={{ fontSize: 16, color: '#8B97A8', lineHeight: 1.45 }}&gt;加粗行是位姿求解本身，第 ⑥ 步会对已求出的位姿再整体修正一次。符号：u 像素观测、π 投影、ρ 鲁棒核、T 相机位姿、X 路标点。&lt;/Text&gt;&#10;        &lt;Text style={{ fontSize: 16, color: '#8B97A8', lineHeight: 1.45, marginTop: 3 }}&gt;① 的 VPR 论文写 MixVPR，开源代码因许可原因换为 MegaLoc；τ_m = 500，τ_l = 0.5 px，N = 20，K = 20。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381000" y="323850"/>
            <a:ext cx="71247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算法地图：七步重建链，用在哪、算什么、管什么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11325225" y="54292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07 / 14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381000" y="809625"/>
            <a:ext cx="114300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位姿重建真正发生在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第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步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：前三步只为它准备可信观测，第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步划定它的变量范围，第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步修它累积的漂移，第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步才轮到高斯。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381000" y="1247775"/>
            <a:ext cx="1552575" cy="438150"/>
          </a:xfrm>
          <a:prstGeom prst="roundRect">
            <a:avLst>
              <a:gd name="adj" fmla="val 869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57250" y="1362075"/>
            <a:ext cx="600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检索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2028825" y="1247775"/>
            <a:ext cx="1552575" cy="438150"/>
          </a:xfrm>
          <a:prstGeom prst="roundRect">
            <a:avLst>
              <a:gd name="adj" fmla="val 869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2505075" y="1362075"/>
            <a:ext cx="600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粗筛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3676650" y="1247775"/>
            <a:ext cx="1552575" cy="438150"/>
          </a:xfrm>
          <a:prstGeom prst="roundRect">
            <a:avLst>
              <a:gd name="adj" fmla="val 869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4152900" y="1362075"/>
            <a:ext cx="600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建边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5324475" y="1247775"/>
            <a:ext cx="1543050" cy="438150"/>
          </a:xfrm>
          <a:prstGeom prst="roundRect">
            <a:avLst>
              <a:gd name="adj" fmla="val 869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5800725" y="1362075"/>
            <a:ext cx="600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选窗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6962775" y="1247775"/>
            <a:ext cx="1552575" cy="438150"/>
          </a:xfrm>
          <a:prstGeom prst="roundRect">
            <a:avLst>
              <a:gd name="adj" fmla="val 869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7286625" y="1362075"/>
            <a:ext cx="914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⑤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局部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BA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8610600" y="1247775"/>
            <a:ext cx="1552575" cy="438150"/>
          </a:xfrm>
          <a:prstGeom prst="roundRect">
            <a:avLst>
              <a:gd name="adj" fmla="val 869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9086850" y="1362075"/>
            <a:ext cx="600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⑥ </a:t>
            </a: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纠偏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10258425" y="1247775"/>
            <a:ext cx="1552575" cy="438150"/>
          </a:xfrm>
          <a:prstGeom prst="roundRect">
            <a:avLst>
              <a:gd name="adj" fmla="val 869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10734675" y="1362075"/>
            <a:ext cx="600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⑦ </a:t>
            </a: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落位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381000" y="1800225"/>
            <a:ext cx="11430000" cy="4000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514350" y="1895475"/>
            <a:ext cx="419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933450" y="1895475"/>
            <a:ext cx="2457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算法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3390900" y="1895475"/>
            <a:ext cx="3962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核心公式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判据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7353300" y="1895475"/>
            <a:ext cx="432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在重建中的作用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381000" y="2200275"/>
            <a:ext cx="11430000" cy="561975"/>
          </a:xfrm>
          <a:custGeom>
            <a:pathLst>
              <a:path w="1200" h="59">
                <a:moveTo>
                  <a:pt x="0" y="58"/>
                </a:moveTo>
                <a:lnTo>
                  <a:pt x="1200" y="58"/>
                </a:lnTo>
                <a:lnTo>
                  <a:pt x="1200" y="59"/>
                </a:lnTo>
                <a:lnTo>
                  <a:pt x="0" y="59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514350" y="2371725"/>
            <a:ext cx="419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1E4FA8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933450" y="2371725"/>
            <a:ext cx="2457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MegaLoc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全局描述子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3390900" y="2371725"/>
            <a:ext cx="3962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s = d_i · d_j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，取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top-K = 20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7353300" y="2371725"/>
            <a:ext cx="432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从全部历史帧里找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可能同处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的候选，与帧序无关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381000" y="2752725"/>
            <a:ext cx="11430000" cy="5524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34" name=""/>
          <p:cNvSpPr/>
          <p:nvPr/>
        </p:nvSpPr>
        <p:spPr>
          <a:xfrm rot="0" flipH="0" flipV="0">
            <a:off x="381000" y="2752725"/>
            <a:ext cx="11430000" cy="561975"/>
          </a:xfrm>
          <a:custGeom>
            <a:pathLst>
              <a:path w="1200" h="59">
                <a:moveTo>
                  <a:pt x="0" y="58"/>
                </a:moveTo>
                <a:lnTo>
                  <a:pt x="1200" y="58"/>
                </a:lnTo>
                <a:lnTo>
                  <a:pt x="1200" y="59"/>
                </a:lnTo>
                <a:lnTo>
                  <a:pt x="0" y="59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514350" y="2924175"/>
            <a:ext cx="419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1E4FA8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933450" y="2924175"/>
            <a:ext cx="2457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XFeat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局部特征穷举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3390900" y="2924175"/>
            <a:ext cx="3962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K' = top-5 |M_ij|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（按内点数）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7353300" y="2924175"/>
            <a:ext cx="432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淘汰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外观像、但没对上点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的候选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381000" y="3305175"/>
            <a:ext cx="11430000" cy="561975"/>
          </a:xfrm>
          <a:custGeom>
            <a:pathLst>
              <a:path w="1200" h="59">
                <a:moveTo>
                  <a:pt x="0" y="58"/>
                </a:moveTo>
                <a:lnTo>
                  <a:pt x="1200" y="58"/>
                </a:lnTo>
                <a:lnTo>
                  <a:pt x="1200" y="59"/>
                </a:lnTo>
                <a:lnTo>
                  <a:pt x="0" y="59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514350" y="3476625"/>
            <a:ext cx="419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1E4FA8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933450" y="3476625"/>
            <a:ext cx="2457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LightGlue + RANSAC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3390900" y="3476625"/>
            <a:ext cx="3962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|M_ij| &gt; τ_m = 500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才建边；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w_ij = 1/|M_ij|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7353300" y="3476625"/>
            <a:ext cx="432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唯一产生共视约束的一步，结果写入协视图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381000" y="3857625"/>
            <a:ext cx="11430000" cy="5524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45" name=""/>
          <p:cNvSpPr/>
          <p:nvPr/>
        </p:nvSpPr>
        <p:spPr>
          <a:xfrm rot="0" flipH="0" flipV="0">
            <a:off x="381000" y="3857625"/>
            <a:ext cx="11430000" cy="561975"/>
          </a:xfrm>
          <a:custGeom>
            <a:pathLst>
              <a:path w="1200" h="59">
                <a:moveTo>
                  <a:pt x="0" y="58"/>
                </a:moveTo>
                <a:lnTo>
                  <a:pt x="1200" y="58"/>
                </a:lnTo>
                <a:lnTo>
                  <a:pt x="1200" y="59"/>
                </a:lnTo>
                <a:lnTo>
                  <a:pt x="0" y="59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514350" y="4029075"/>
            <a:ext cx="419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1E4FA8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933450" y="4029075"/>
            <a:ext cx="2457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协视图贪心扩张（式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1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3390900" y="4029075"/>
            <a:ext cx="3962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S ← S ∪ argmax Σ_j |M_ij|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，至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20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帧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7353300" y="4029075"/>
            <a:ext cx="432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划定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BA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的变量范围：最该一起优化的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20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帧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381000" y="4419600"/>
            <a:ext cx="11430000" cy="552450"/>
          </a:xfrm>
          <a:prstGeom prst="rect">
            <a:avLst/>
          </a:prstGeom>
          <a:solidFill>
            <a:srgbClr val="E8F0FB"/>
          </a:solidFill>
          <a:ln/>
        </p:spPr>
        <p:txBody>
          <a:bodyPr/>
          <a:p/>
        </p:txBody>
      </p:sp>
      <p:sp>
        <p:nvSpPr>
          <p:cNvPr id="351" name=""/>
          <p:cNvSpPr/>
          <p:nvPr/>
        </p:nvSpPr>
        <p:spPr>
          <a:xfrm rot="0" flipH="0" flipV="0">
            <a:off x="381000" y="4410075"/>
            <a:ext cx="11430000" cy="571500"/>
          </a:xfrm>
          <a:custGeom>
            <a:pathLst>
              <a:path w="1200" h="60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352" name=""/>
          <p:cNvSpPr/>
          <p:nvPr/>
        </p:nvSpPr>
        <p:spPr>
          <a:xfrm rot="0" flipH="0" flipV="0">
            <a:off x="381000" y="4410075"/>
            <a:ext cx="11430000" cy="571500"/>
          </a:xfrm>
          <a:custGeom>
            <a:pathLst>
              <a:path w="1200" h="60">
                <a:moveTo>
                  <a:pt x="0" y="59"/>
                </a:moveTo>
                <a:lnTo>
                  <a:pt x="1200" y="59"/>
                </a:lnTo>
                <a:lnTo>
                  <a:pt x="1200" y="60"/>
                </a:lnTo>
                <a:lnTo>
                  <a:pt x="0" y="60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514350" y="4581525"/>
            <a:ext cx="419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1E4FA8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933450" y="4581525"/>
            <a:ext cx="2457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GPU 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局部</a:t>
            </a: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BA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LM + Schur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3390900" y="4581525"/>
            <a:ext cx="3962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min Σ ρ( ||u_ij − π(T_i, X_j)||² )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7353300" y="4581525"/>
            <a:ext cx="432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真正解出位姿</a:t>
            </a: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T_i 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与三维点</a:t>
            </a: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X_j——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重建本体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381000" y="4962525"/>
            <a:ext cx="11430000" cy="561975"/>
          </a:xfrm>
          <a:custGeom>
            <a:pathLst>
              <a:path w="1200" h="59">
                <a:moveTo>
                  <a:pt x="0" y="58"/>
                </a:moveTo>
                <a:lnTo>
                  <a:pt x="1200" y="58"/>
                </a:lnTo>
                <a:lnTo>
                  <a:pt x="1200" y="59"/>
                </a:lnTo>
                <a:lnTo>
                  <a:pt x="0" y="59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514350" y="5133975"/>
            <a:ext cx="419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1E4FA8"/>
                </a:solidFill>
                <a:latin typeface="Microsoft YaHei"/>
                <a:ea typeface="Microsoft YaHei"/>
              </a:rPr>
              <a:t>⑥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933450" y="5133975"/>
            <a:ext cx="2457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簇级回环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图传播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3390900" y="5133975"/>
            <a:ext cx="3962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跳数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&gt; 5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触发；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T_Δ = T_a^opt(T_a^init)^-1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7353300" y="5133975"/>
            <a:ext cx="432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两簇各扩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N/2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帧焊接，得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Sim(3)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后沿主干摊回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381000" y="5514975"/>
            <a:ext cx="11430000" cy="5524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514350" y="5686425"/>
            <a:ext cx="419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1E4FA8"/>
                </a:solidFill>
                <a:latin typeface="Microsoft YaHei"/>
                <a:ea typeface="Microsoft YaHei"/>
              </a:rPr>
              <a:t>⑦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933450" y="5686425"/>
            <a:ext cx="2457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分块深度对齐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渐进层级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3390900" y="5686425"/>
            <a:ext cx="3962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size &lt; τ_l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且占比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&gt; 20% → KL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合并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7353300" y="5686425"/>
            <a:ext cx="432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位姿定后才投放高斯；层级只压显存，不改位姿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381000" y="6181725"/>
            <a:ext cx="114300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加粗行是位姿求解本身，第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⑥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步会对已求出的位姿再整体修正一次。符号：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u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像素观测、π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投影、ρ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鲁棒核、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T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相机位姿、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X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路标点。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381000" y="6477000"/>
            <a:ext cx="114300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的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VPR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论文写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MixVPR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，开源代码因许可原因换为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 MegaLoc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；τ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_m = 500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，τ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_l = 0.5 px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N = 20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K = 20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69" name="" descr="&lt;Slide style={{ width: '1280px', height: '720px', backgroundColor: '#FFFFFF', padding: '0px', flexDirection: 'column' }}&gt;&#10;    &lt;Box style={{ width: '1280px', height: '8px', backgroundColor: '#1E4FA8' }} /&gt;&#10;    &lt;Box style={{ padding: '30px 40px 0px 40px', flexDirection: 'row', justifyContent: 'space-between', alignItems: 'flex-end' }}&gt;&#10;        &lt;Text style={{ fontSize: 34, fontWeight: 'bold', color: '#1E4FA8' }}&gt;关键方式①：两级匹配 + 加权协视图&lt;/Text&gt;&#10;        &lt;Text style={{ fontSize: 15, color: '#8B97A8' }}&gt;08 / 14&lt;/Text&gt;&#10;    &lt;/Box&gt;&#10;    &lt;Box style={{ padding: '18px 40px 0px 40px', flexDirection: 'column', gap: 0 }}&gt;&#10;        &lt;Box style={{ flexDirection: 'row', backgroundColor: '#1E4FA8', padding: '12px 16px' }}&gt;&#10;            &lt;Text style={{ width: '90px', fontSize: 20, fontWeight: 'bold', color: '#FFFFFF' }}&gt;层级&lt;/Text&gt;&#10;            &lt;Text style={{ flex: 2, fontSize: 20, fontWeight: 'bold', color: '#FFFFFF' }}&gt;方法&lt;/Text&gt;&#10;            &lt;Text style={{ flex: 3, fontSize: 20, fontWeight: 'bold', color: '#FFFFFF' }}&gt;作用&lt;/Text&gt;&#10;            &lt;Text style={{ flex: 1.6, fontSize: 20, fontWeight: 'bold', color: '#FFFFFF' }}&gt;代价&lt;/Text&gt;&#10;        &lt;/Box&gt;&#10;        &lt;Box style={{ flexDirection: 'row', padding: '13px 16px', borderBottom: '1px solid #D6DCE5' }}&gt;&#10;            &lt;Text style={{ width: '90px', fontSize: 20, fontWeight: 'bold', color: '#1E4FA8' }}&gt;1&lt;/Text&gt;&#10;            &lt;Text style={{ flex: 2, fontSize: 20, color: '#1A2230' }}&gt;视觉位置识别（全局描述子）&lt;/Text&gt;&#10;            &lt;Text style={{ flex: 3, fontSize: 20, color: '#1A2230' }}&gt;余弦相似度排序，取 top-20 候选&lt;/Text&gt;&#10;            &lt;Text style={{ flex: 1.6, fontSize: 20, color: '#1A2230' }}&gt;≈1 ms / 1000 对&lt;/Text&gt;&#10;        &lt;/Box&gt;&#10;        &lt;Box style={{ flexDirection: 'row', padding: '13px 16px', backgroundColor: '#F7F9FC', borderBottom: '1px solid #D6DCE5' }}&gt;&#10;            &lt;Text style={{ width: '90px', fontSize: 20, fontWeight: 'bold', color: '#1E4FA8' }}&gt;2&lt;/Text&gt;&#10;            &lt;Text style={{ flex: 2, fontSize: 20, color: '#1A2230' }}&gt;XFeat 轻量局部特征&lt;/Text&gt;&#10;            &lt;Text style={{ flex: 3, fontSize: 20, color: '#1A2230' }}&gt;按内点数从 20 中保留 5 个&lt;/Text&gt;&#10;            &lt;Text style={{ flex: 1.6, fontSize: 20, color: '#1A2230' }}&gt;≈0.5 ms / 对&lt;/Text&gt;&#10;        &lt;/Box&gt;&#10;        &lt;Box style={{ flexDirection: 'row', padding: '13px 16px', borderBottom: '1px solid #D6DCE5' }}&gt;&#10;            &lt;Text style={{ width: '90px', fontSize: 20, fontWeight: 'bold', color: '#1E4FA8' }}&gt;3&lt;/Text&gt;&#10;            &lt;Text style={{ flex: 2, fontSize: 20, color: '#1A2230' }}&gt;LightGlue + RANSAC&lt;/Text&gt;&#10;            &lt;Text style={{ flex: 3, fontSize: 20, color: '#1A2230' }}&gt;精确验证，内点数 &amp;gt; 500 才接受&lt;/Text&gt;&#10;            &lt;Text style={{ flex: 1.6, fontSize: 20, color: '#1A2230' }}&gt;≈4 ms / 对&lt;/Text&gt;&#10;        &lt;/Box&gt;&#10;    &lt;/Box&gt;&#10;    &lt;Box style={{ padding: '18px 40px 0px 40px', flexDirection: 'row', gap: 18 }}&gt;&#10;        &lt;Box style={{ flex: 1, backgroundColor: '#F0F5FC', borderRadius: 6, padding: '14px 18px', flexDirection: 'column' }}&gt;&#10;            &lt;Text style={{ fontSize: 22, fontWeight: 'bold', color: '#1E4FA8' }}&gt;加权协视图&lt;/Text&gt;&#10;            &lt;Text style={{ fontSize: 21, color: '#1A2230', lineHeight: 1.5, marginTop: 8 }}&gt;边权取内点数倒数 w = 1/#inliers：内点越多、边越&quot;短&quot;。于是图上的最短路 = 最可靠的位姿链。&lt;/Text&gt;&#10;        &lt;/Box&gt;&#10;        &lt;Box style={{ flex: 1, backgroundColor: '#F0F5FC', borderRadius: 6, padding: '14px 18px', flexDirection: 'column' }}&gt;&#10;            &lt;Text style={{ fontSize: 22, fontWeight: 'bold', color: '#1E4FA8' }}&gt;消融：这一环最关键&lt;/Text&gt;&#10;            &lt;Text style={{ fontSize: 21, color: '#1A2230', lineHeight: 1.5, marginTop: 8 }}&gt;去掉位置识别只比相邻 5 帧：PSNR 26.29 → &lt;b&gt;24.78 dB&lt;/b&gt;；改成优化最后 20 帧：→ &lt;b&gt;24.56 dB&lt;/b&gt;。&lt;/Text&gt;&#10;        &lt;/Box&gt;&#10;    &lt;/Box&gt;&#10;    &lt;Box style={{ padding: '12px 40px 0px 40px' }}&gt;&#10;        &lt;Text style={{ fontSize: 17, color: '#8B97A8' }}&gt;候选集逐级收缩：1000 对 → 20 → 5 → 1，精确匹配只作用在极小候选上，这是&quot;无序也能快&quot;的根本原因。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1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381000" y="361950"/>
            <a:ext cx="53054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关键方式①：两级匹配</a:t>
            </a: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加权协视图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11325225" y="58102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08 / 14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381000" y="923925"/>
            <a:ext cx="11430000" cy="457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533400" y="1038225"/>
            <a:ext cx="857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层级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1390650" y="1038225"/>
            <a:ext cx="3114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方法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4505325" y="1038225"/>
            <a:ext cx="4667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作用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9172575" y="1038225"/>
            <a:ext cx="2486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代价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381000" y="1381125"/>
            <a:ext cx="11430000" cy="495300"/>
          </a:xfrm>
          <a:custGeom>
            <a:pathLst>
              <a:path w="1200" h="52">
                <a:moveTo>
                  <a:pt x="0" y="51"/>
                </a:moveTo>
                <a:lnTo>
                  <a:pt x="1200" y="51"/>
                </a:lnTo>
                <a:lnTo>
                  <a:pt x="1200" y="52"/>
                </a:lnTo>
                <a:lnTo>
                  <a:pt x="0" y="52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533400" y="1504950"/>
            <a:ext cx="857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1390650" y="1504950"/>
            <a:ext cx="3114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视觉位置识别（全局描述子）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4505325" y="1504950"/>
            <a:ext cx="4667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余弦相似度排序，取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top-20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候选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9172575" y="1504950"/>
            <a:ext cx="2486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≈1 ms / 1000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对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381000" y="1866900"/>
            <a:ext cx="11430000" cy="4857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85" name=""/>
          <p:cNvSpPr/>
          <p:nvPr/>
        </p:nvSpPr>
        <p:spPr>
          <a:xfrm rot="0" flipH="0" flipV="0">
            <a:off x="381000" y="1866900"/>
            <a:ext cx="11430000" cy="495300"/>
          </a:xfrm>
          <a:custGeom>
            <a:pathLst>
              <a:path w="1200" h="52">
                <a:moveTo>
                  <a:pt x="0" y="51"/>
                </a:moveTo>
                <a:lnTo>
                  <a:pt x="1200" y="51"/>
                </a:lnTo>
                <a:lnTo>
                  <a:pt x="1200" y="52"/>
                </a:lnTo>
                <a:lnTo>
                  <a:pt x="0" y="52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533400" y="1990725"/>
            <a:ext cx="857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1390650" y="1990725"/>
            <a:ext cx="3114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XFeat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轻量局部特征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4505325" y="1990725"/>
            <a:ext cx="4667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按内点数从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20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中保留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9172575" y="1990725"/>
            <a:ext cx="2486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≈0.5 ms /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对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381000" y="2352675"/>
            <a:ext cx="11430000" cy="495300"/>
          </a:xfrm>
          <a:custGeom>
            <a:pathLst>
              <a:path w="1200" h="52">
                <a:moveTo>
                  <a:pt x="0" y="51"/>
                </a:moveTo>
                <a:lnTo>
                  <a:pt x="1200" y="51"/>
                </a:lnTo>
                <a:lnTo>
                  <a:pt x="1200" y="52"/>
                </a:lnTo>
                <a:lnTo>
                  <a:pt x="0" y="52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533400" y="2476500"/>
            <a:ext cx="857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1390650" y="2476500"/>
            <a:ext cx="3114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LightGlue + RANSAC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4505325" y="2476500"/>
            <a:ext cx="4667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精确验证，内点数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&gt; 500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才接受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9172575" y="2476500"/>
            <a:ext cx="2486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≈4 ms /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对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381000" y="3009900"/>
            <a:ext cx="5629275" cy="1323975"/>
          </a:xfrm>
          <a:prstGeom prst="roundRect">
            <a:avLst>
              <a:gd name="adj" fmla="val 4317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552450" y="3143250"/>
            <a:ext cx="5286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加权协视图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552450" y="3476625"/>
            <a:ext cx="5286375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边权取内点数倒数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w = 1/#inliers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：内点越多、边越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短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。于是图上的最短路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最可靠的位姿链。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6181725" y="3009900"/>
            <a:ext cx="5629275" cy="1323975"/>
          </a:xfrm>
          <a:prstGeom prst="roundRect">
            <a:avLst>
              <a:gd name="adj" fmla="val 4317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6353175" y="3143250"/>
            <a:ext cx="5286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消融：这一环最关键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6353175" y="3476625"/>
            <a:ext cx="5286375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去掉位置识别只比相邻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帧：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PSNR 26.29 → 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24.78 dB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；改成优化最后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20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帧：→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24.56 dB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381000" y="4448175"/>
            <a:ext cx="11430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候选集逐级收缩：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1000 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对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 xml:space="preserve"> → 20 → 5 → 1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，精确匹配只作用在极小候选上，这是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无序也能快</a:t>
            </a:r>
            <a:r>
              <a:rPr lang="en-US" sz="1275">
                <a:solidFill>
                  <a:srgbClr val="8B97A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8B97A8"/>
                </a:solidFill>
                <a:latin typeface="Microsoft YaHei"/>
                <a:ea typeface="Microsoft YaHei"/>
              </a:rPr>
              <a:t>的根本原因。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402" name="" descr="&lt;Slide style={{ width: '1280px', height: '720px', backgroundColor: '#FFFFFF', padding: '0px', flexDirection: 'column' }}&gt;&#10;    &lt;Box style={{ width: '1280px', height: '8px', backgroundColor: '#1E4FA8' }} /&gt;&#10;    &lt;Box style={{ padding: '30px 40px 0px 40px', flexDirection: 'row', justifyContent: 'space-between', alignItems: 'flex-end' }}&gt;&#10;        &lt;Text style={{ fontSize: 34, fontWeight: 'bold', color: '#1E4FA8' }}&gt;关键方式②③：局部 BA 与图传播回环&lt;/Text&gt;&#10;        &lt;Text style={{ fontSize: 15, color: '#8B97A8' }}&gt;09 / 14&lt;/Text&gt;&#10;    &lt;/Box&gt;&#10;    &lt;Box style={{ padding: '16px 40px 0px 40px', flexDirection: 'row', gap: 20 }}&gt;&#10;        &lt;Box style={{ flex: 1, backgroundColor: '#F7F9FC', border: '1px solid #D6DCE5', borderRadius: 6, padding: '16px 18px', flexDirection: 'column' }}&gt;&#10;            &lt;Text style={{ fontSize: 25, fontWeight: 'bold', color: '#1A2230' }}&gt;GPU 局部重建&lt;/Text&gt;&#10;            &lt;Text style={{ fontSize: 21, color: '#1A2230', lineHeight: 1.55, marginTop: 10 }}&gt;关键帧 &lt;b&gt;N=20&lt;/b&gt;（SLAM 通常只用 5 帧时间窗），路标点固定 &lt;b&gt;1 万&lt;/b&gt;，按被观测次数采样。&lt;/Text&gt;&#10;            &lt;Text style={{ fontSize: 21, color: '#1A2230', lineHeight: 1.55, marginTop: 8 }}&gt;每个路标只允许被协视性选出的固定子集观测，避免观测数随帧数二次增长。&lt;/Text&gt;&#10;            &lt;Text style={{ fontSize: 21, color: '#1A2230', lineHeight: 1.55, marginTop: 8 }}&gt;自写核函数算残差与雅可比，稠密 Schur 补求解。&lt;/Text&gt;&#10;            &lt;Text style={{ fontSize: 22, fontWeight: 'bold', color: '#1E4FA8', marginTop: 12 }}&gt;比 g2o / CUDA-BA 快约 5 倍&lt;/Text&gt;&#10;            &lt;Text style={{ fontSize: 21, color: '#1A2230', lineHeight: 1.55, marginTop: 10 }}&gt;高斯投放改为&lt;b&gt;分块估计深度尺度与偏移&lt;/b&gt;再插值上采样（消融 26.29 → 25.41 dB），落点更贴表面。&lt;/Text&gt;&#10;        &lt;/Box&gt;&#10;        &lt;Box style={{ flex: 1, backgroundColor: '#F0F5FC', border: '1px solid #3D7BD9', borderRadius: 6, padding: '16px 18px', flexDirection: 'column' }}&gt;&#10;            &lt;Text style={{ fontSize: 25, fontWeight: 'bold', color: '#1A2230' }}&gt;簇级回环 + 图传播&lt;/Text&gt;&#10;            &lt;Text style={{ fontSize: 21, color: '#1A2230', lineHeight: 1.55, marginTop: 10 }}&gt;检测：出现两组&quot;内部密、彼此疏&quot;的簇，图上跳数 &amp;gt; 5 且有效匹配对 &amp;gt; 2。&lt;/Text&gt;&#10;            &lt;Text style={{ fontSize: 21, color: '#1A2230', lineHeight: 1.55, marginTop: 8 }}&gt;求解：两簇各扩 N/2 帧组成焊接窗口做局部 BA，由锚点刚体变换与深度尺度得到 &lt;b&gt;Sim(3)&lt;/b&gt;。&lt;/Text&gt;&#10;            &lt;Text style={{ fontSize: 21, color: '#1A2230', lineHeight: 1.55, marginTop: 8 }}&gt;传播：Dijkstra 找累计权重最小的&lt;b&gt;主干路径&lt;/b&gt;，按测地距离比例插值（旋转用 6D、尺度取对数），对全图位姿与高斯套用同一变换。&lt;/Text&gt;&#10;            &lt;Text style={{ fontSize: 22, fontWeight: 'bold', color: '#D9534F', marginTop: 12 }}&gt;代价随场景规模近似线性&lt;/Text&gt;&#10;        &lt;/Box&gt;&#10;    &lt;/Box&gt;&#10;    &lt;Box style={{ margin: '18px 40px 0px 40px', backgroundColor: '#F0F5FC', borderLeft: '5px solid #1E4FA8', padding: '14px 20px' }}&gt;&#10;        &lt;Text style={{ fontSize: 21, color: '#1A2230', lineHeight: 1.5 }}&gt;用&quot;图上的距离&quot;替代&quot;全局优化的解&quot;——这是全文最值得借鉴的工程取舍：牺牲一点精度，换来数量级的实时性。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4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381000" y="361950"/>
            <a:ext cx="5524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关键方式②③：局部</a:t>
            </a: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BA </a:t>
            </a: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与图传播回环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11325225" y="58102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09 / 14</a:t>
            </a:r>
            <a:endParaRPr/>
          </a:p>
        </p:txBody>
      </p:sp>
      <p:sp>
        <p:nvSpPr>
          <p:cNvPr id="407" name=""/>
          <p:cNvSpPr/>
          <p:nvPr/>
        </p:nvSpPr>
        <p:spPr>
          <a:xfrm rot="0" flipH="0" flipV="0">
            <a:off x="381000" y="904875"/>
            <a:ext cx="5619750" cy="3943350"/>
          </a:xfrm>
          <a:prstGeom prst="roundRect">
            <a:avLst>
              <a:gd name="adj" fmla="val 144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552450" y="1057275"/>
            <a:ext cx="52768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GPU </a:t>
            </a: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局部重建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552450" y="1438275"/>
            <a:ext cx="527685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关键帧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N=20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SLAM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通常只用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帧时间窗），路标点固定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万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，按被观测次数采样。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552450" y="2266950"/>
            <a:ext cx="527685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每个路标只允许被协视性选出的固定子集观测，避免观测数随帧数二次增长。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552450" y="3095625"/>
            <a:ext cx="5276850" cy="3810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自写核函数算残差与雅可比，稠密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Schur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补求解。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552450" y="3590925"/>
            <a:ext cx="5276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比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g2o / CUDA-BA 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快约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倍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552450" y="3943350"/>
            <a:ext cx="527685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高斯投放改为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分块估计深度尺度与偏移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再插值上采样（消融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26.29 → 25.41 dB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），落点更贴表面。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6191250" y="904875"/>
            <a:ext cx="5619750" cy="3943350"/>
          </a:xfrm>
          <a:prstGeom prst="roundRect">
            <a:avLst>
              <a:gd name="adj" fmla="val 1449"/>
            </a:avLst>
          </a:prstGeom>
          <a:solidFill>
            <a:srgbClr val="F0F5FC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6362700" y="1057275"/>
            <a:ext cx="52768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簇级回环</a:t>
            </a:r>
            <a:r>
              <a:rPr lang="en-US" sz="187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图传播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6362700" y="1438275"/>
            <a:ext cx="527685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检测：出现两组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内部密、彼此疏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的簇，图上跳数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&gt; 5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且有效匹配对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&gt; 2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6362700" y="2266950"/>
            <a:ext cx="527685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求解：两簇各扩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N/2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帧组成焊接窗口做局部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BA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，由锚点刚体变换与深度尺度得到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Sim(3)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6362700" y="3095625"/>
            <a:ext cx="5276850" cy="1123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传播：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Dijkstra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找累计权重最小的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主干路径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，按测地距离比例插值（旋转用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6D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、尺度取对数），对全图位姿与高斯套用同一变换。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6362700" y="4333875"/>
            <a:ext cx="5276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D9534F"/>
                </a:solidFill>
                <a:latin typeface="Microsoft YaHei"/>
                <a:ea typeface="Microsoft YaHei"/>
              </a:rPr>
              <a:t>代价随场景规模近似线性</a:t>
            </a:r>
            <a:endParaRPr/>
          </a:p>
        </p:txBody>
      </p:sp>
      <p:sp>
        <p:nvSpPr>
          <p:cNvPr id="420" name=""/>
          <p:cNvSpPr/>
          <p:nvPr/>
        </p:nvSpPr>
        <p:spPr>
          <a:xfrm rot="0" flipH="0" flipV="0">
            <a:off x="428625" y="5019675"/>
            <a:ext cx="11430000" cy="6286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21" name=""/>
          <p:cNvSpPr/>
          <p:nvPr/>
        </p:nvSpPr>
        <p:spPr>
          <a:xfrm rot="0" flipH="0" flipV="0">
            <a:off x="381000" y="5019675"/>
            <a:ext cx="11477625" cy="628650"/>
          </a:xfrm>
          <a:custGeom>
            <a:pathLst>
              <a:path w="1205" h="66">
                <a:moveTo>
                  <a:pt x="0" y="0"/>
                </a:moveTo>
                <a:lnTo>
                  <a:pt x="5" y="0"/>
                </a:lnTo>
                <a:lnTo>
                  <a:pt x="5" y="66"/>
                </a:lnTo>
                <a:lnTo>
                  <a:pt x="0" y="6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619125" y="5153025"/>
            <a:ext cx="11001375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用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图上的距离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替代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全局优化的解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"——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这是全文最值得借鉴的工程取舍：牺牲一点精度，换来数量级的实时性。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3" name="" descr="&lt;Slide style={{ width: '1280px', height: '720px', backgroundColor: '#FFFFFF', padding: '0px', flexDirection: 'column' }}&gt;&#10;    &lt;Box style={{ width: '1280px', height: '8px', backgroundColor: '#1E4FA8' }} /&gt;&#10;    &lt;Box style={{ padding: '30px 40px 0px 40px', flexDirection: 'row', justifyContent: 'space-between', alignItems: 'flex-end' }}&gt;&#10;        &lt;Text style={{ fontSize: 34, fontWeight: 'bold', color: '#1E4FA8' }}&gt;关键方式④：渐进式高斯层级控显存&lt;/Text&gt;&#10;        &lt;Text style={{ fontSize: 15, color: '#8B97A8' }}&gt;10 / 14&lt;/Text&gt;&#10;    &lt;/Box&gt;&#10;    &lt;Box style={{ padding: '20px 40px 0px 40px', flexDirection: 'row', gap: 26 }}&gt;&#10;        &lt;Box style={{ width: '380px', backgroundColor: '#F0F5FC', borderRadius: 6, padding: '22px 20px', flexDirection: 'column' }}&gt;&#10;            &lt;Text style={{ fontSize: 74, fontWeight: 'bold', color: '#1E4FA8', lineHeight: 1.1 }}&gt;0.5 px&lt;/Text&gt;&#10;            &lt;Text style={{ fontSize: 21, color: '#1A2230', lineHeight: 1.5, marginTop: 8 }}&gt;屏幕尺寸小于该值、且这类高斯占比超过 20% 时，触发合并&lt;/Text&gt;&#10;            &lt;Box style={{ width: '100%', height: '1px', backgroundColor: '#D6DCE5', marginTop: 16, marginBottom: 14 }} /&gt;&#10;            &lt;Text style={{ fontSize: 74, fontWeight: 'bold', color: '#1E4FA8', lineHeight: 1.1 }}&gt;1 px&lt;/Text&gt;&#10;            &lt;Text style={{ fontSize: 21, color: '#1A2230', lineHeight: 1.5, marginTop: 8 }}&gt;合并节点的贡献超过该值时，异步回取其子节点（双缓冲防卡顿）&lt;/Text&gt;&#10;        &lt;/Box&gt;&#10;        &lt;Box style={{ flex: 1, flexDirection: 'column', gap: 14 }}&gt;&#10;            &lt;Box style={{ backgroundColor: '#F7F9FC', border: '1px solid #D6DCE5', borderRadius: 6, padding: '14px 18px', flexDirection: 'column' }}&gt;&#10;                &lt;Text style={{ fontSize: 23, fontWeight: 'bold', color: '#1E4FA8' }}&gt;合并怎么做&lt;/Text&gt;&#10;                &lt;Text style={{ fontSize: 21, color: '#1A2230', lineHeight: 1.55, marginTop: 8 }}&gt;KNN 找 4 个最近高斯，按 KL 散度合并成一个父节点；叶节点参数卸载到 CPU 内存，显存只留活跃部分。&lt;/Text&gt;&#10;            &lt;/Box&gt;&#10;            &lt;Box style={{ backgroundColor: '#F7F9FC', border: '1px solid #D6DCE5', borderRadius: 6, padding: '14px 18px', flexDirection: 'column' }}&gt;&#10;                &lt;Text style={{ fontSize: 23, fontWeight: 'bold', color: '#1E4FA8' }}&gt;回环时怎么办&lt;/Text&gt;&#10;                &lt;Text style={{ fontSize: 21, color: '#1A2230', lineHeight: 1.55, marginTop: 8 }}&gt;每个高斯记录&quot;出生关键帧&quot;，回环修正时整棵子树按该关键帧的变换异步移动，不必逐个改。&lt;/Text&gt;&#10;            &lt;/Box&gt;&#10;            &lt;Box style={{ backgroundColor: '#F0F5FC', border: '1px solid #3D7BD9', borderRadius: 6, padding: '14px 18px', flexDirection: 'column' }}&gt;&#10;                &lt;Text style={{ fontSize: 23, fontWeight: 'bold', color: '#1E4FA8' }}&gt;实测效果（论文）&lt;/Text&gt;&#10;                &lt;Text style={{ fontSize: 21, color: '#1A2230', lineHeight: 1.55, marginTop: 8 }}&gt;CityWalk 不用层级：第 &lt;b&gt;795/4050&lt;/b&gt; 帧即 OOM；用后峰值高斯 &amp;lt; &lt;b&gt;370 万&lt;/b&gt;、显存 &amp;lt; &lt;b&gt;12.8 GB&lt;/b&gt;，层级达 &lt;b&gt;8 层&lt;/b&gt;。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381000" y="361950"/>
            <a:ext cx="5181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关键方式④：渐进式高斯层级控显存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11325225" y="58102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10 / 14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381000" y="942975"/>
            <a:ext cx="3619500" cy="4352925"/>
          </a:xfrm>
          <a:prstGeom prst="roundRect">
            <a:avLst>
              <a:gd name="adj" fmla="val 1579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571500" y="1152525"/>
            <a:ext cx="3238500" cy="9334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5550" b="1">
                <a:solidFill>
                  <a:srgbClr val="1E4FA8"/>
                </a:solidFill>
                <a:latin typeface="Microsoft YaHei"/>
                <a:ea typeface="Microsoft YaHei"/>
              </a:rPr>
              <a:t>0.5 px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571500" y="2162175"/>
            <a:ext cx="32385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屏幕尺寸小于该值、且这类高斯占比超过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20%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时，触发合并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571500" y="3038475"/>
            <a:ext cx="32385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571500" y="3181350"/>
            <a:ext cx="3238500" cy="93345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5550" b="1">
                <a:solidFill>
                  <a:srgbClr val="1E4FA8"/>
                </a:solidFill>
                <a:latin typeface="Microsoft YaHei"/>
                <a:ea typeface="Microsoft YaHei"/>
              </a:rPr>
              <a:t>1 px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71500" y="4191000"/>
            <a:ext cx="32385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合并节点的贡献超过该值时，异步回取其子节点（双缓冲防卡顿）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4248150" y="942975"/>
            <a:ext cx="7562850" cy="1362075"/>
          </a:xfrm>
          <a:prstGeom prst="roundRect">
            <a:avLst>
              <a:gd name="adj" fmla="val 419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4419600" y="1076325"/>
            <a:ext cx="72199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E4FA8"/>
                </a:solidFill>
                <a:latin typeface="Microsoft YaHei"/>
                <a:ea typeface="Microsoft YaHei"/>
              </a:rPr>
              <a:t>合并怎么做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4419600" y="1419225"/>
            <a:ext cx="721995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KNN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找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个最近高斯，按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KL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散度合并成一个父节点；叶节点参数卸载到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CPU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内存，显存只留活跃部分。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4248150" y="2438400"/>
            <a:ext cx="7562850" cy="1362075"/>
          </a:xfrm>
          <a:prstGeom prst="roundRect">
            <a:avLst>
              <a:gd name="adj" fmla="val 419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4419600" y="2571750"/>
            <a:ext cx="72199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E4FA8"/>
                </a:solidFill>
                <a:latin typeface="Microsoft YaHei"/>
                <a:ea typeface="Microsoft YaHei"/>
              </a:rPr>
              <a:t>回环时怎么办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4419600" y="2914650"/>
            <a:ext cx="721995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每个高斯记录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出生关键帧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，回环修正时整棵子树按该关键帧的变换异步移动，不必逐个改。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4248150" y="3933825"/>
            <a:ext cx="7562850" cy="1362075"/>
          </a:xfrm>
          <a:prstGeom prst="roundRect">
            <a:avLst>
              <a:gd name="adj" fmla="val 4196"/>
            </a:avLst>
          </a:prstGeom>
          <a:solidFill>
            <a:srgbClr val="F0F5FC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4419600" y="4067175"/>
            <a:ext cx="72199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E4FA8"/>
                </a:solidFill>
                <a:latin typeface="Microsoft YaHei"/>
                <a:ea typeface="Microsoft YaHei"/>
              </a:rPr>
              <a:t>实测效果（论文）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4419600" y="4410075"/>
            <a:ext cx="721995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CityWalk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不用层级：第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795/4050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帧即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OOM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；用后峰值高斯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&lt; 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370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万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、显存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&lt; 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12.8 GB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，层级达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层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33" name="" descr="&lt;Slide style={{ width: '1280px', height: '720px', backgroundColor: '#FFFFFF', padding: '0px', flexDirection: 'column' }}&gt;&#10;    &lt;Box style={{ width: '1280px', height: '8px', backgroundColor: '#1E4FA8' }} /&gt;&#10;    &lt;Box style={{ padding: '30px 40px 0px 40px', flexDirection: 'row', justifyContent: 'space-between', alignItems: 'flex-end' }}&gt;&#10;        &lt;Text style={{ fontSize: 34, fontWeight: 'bold', color: '#1E4FA8' }}&gt;论文实验：快一个数量级，只差 1–2 dB&lt;/Text&gt;&#10;        &lt;Text style={{ fontSize: 15, color: '#8B97A8' }}&gt;11 / 14&lt;/Text&gt;&#10;    &lt;/Box&gt;&#10;    &lt;Box style={{ padding: '18px 40px 0px 40px', flexDirection: 'column' }}&gt;&#10;        &lt;Box style={{ flexDirection: 'row', backgroundColor: '#1E4FA8', padding: '11px 14px' }}&gt;&#10;            &lt;Text style={{ flex: 1.5, fontSize: 19, fontWeight: 'bold', color: '#FFFFFF' }}&gt;数据集（有序）&lt;/Text&gt;&#10;            &lt;Text style={{ flex: 1.4, fontSize: 19, fontWeight: 'bold', color: '#FFFFFF' }}&gt;本方法 PSNR / 时间&lt;/Text&gt;&#10;            &lt;Text style={{ flex: 1.7, fontSize: 19, fontWeight: 'bold', color: '#FFFFFF' }}&gt;离线参考 GLOMAP+3DGS(7k)&lt;/Text&gt;&#10;            &lt;Text style={{ flex: 1.4, fontSize: 19, fontWeight: 'bold', color: '#FFFFFF' }}&gt;结论&lt;/Text&gt;&#10;        &lt;/Box&gt;&#10;        &lt;Box style={{ flexDirection: 'row', padding: '11px 14px', borderBottom: '1px solid #D6DCE5' }}&gt;&#10;            &lt;Text style={{ flex: 1.5, fontSize: 19, color: '#1A2230' }}&gt;TUM&lt;/Text&gt;&#10;            &lt;Text style={{ flex: 1.4, fontSize: 19, fontWeight: 'bold', color: '#1E4FA8' }}&gt;24.77 / 1:22&lt;/Text&gt;&#10;            &lt;Text style={{ flex: 1.7, fontSize: 19, color: '#1A2230' }}&gt;25.29 / 3:33&lt;/Text&gt;&#10;            &lt;Text style={{ flex: 1.4, fontSize: 19, color: '#1A2230' }}&gt;比 LongSplat 快约 75×&lt;/Text&gt;&#10;        &lt;/Box&gt;&#10;        &lt;Box style={{ flexDirection: 'row', padding: '11px 14px', backgroundColor: '#F7F9FC', borderBottom: '1px solid #D6DCE5' }}&gt;&#10;            &lt;Text style={{ flex: 1.5, fontSize: 19, color: '#1A2230' }}&gt;MipNeRF360&lt;/Text&gt;&#10;            &lt;Text style={{ flex: 1.4, fontSize: 19, fontWeight: 'bold', color: '#1E4FA8' }}&gt;26.29 / 1:17&lt;/Text&gt;&#10;            &lt;Text style={{ flex: 1.7, fontSize: 19, color: '#1A2230' }}&gt;27.52 / 8:50&lt;/Text&gt;&#10;            &lt;Text style={{ flex: 1.4, fontSize: 19, color: '#1A2230' }}&gt;快 6.9×，差 1.23 dB&lt;/Text&gt;&#10;        &lt;/Box&gt;&#10;        &lt;Box style={{ flexDirection: 'row', padding: '11px 14px', borderBottom: '1px solid #D6DCE5' }}&gt;&#10;            &lt;Text style={{ flex: 1.5, fontSize: 19, color: '#1A2230' }}&gt;StaticHikes&lt;/Text&gt;&#10;            &lt;Text style={{ flex: 1.4, fontSize: 19, fontWeight: 'bold', color: '#1E4FA8' }}&gt;22.12 / 2:14&lt;/Text&gt;&#10;            &lt;Text style={{ flex: 1.7, fontSize: 19, color: '#1A2230' }}&gt;20.23 / 1:02:34&lt;/Text&gt;&#10;            &lt;Text style={{ flex: 1.4, fontSize: 19, color: '#1A2230' }}&gt;质量反超离线&lt;/Text&gt;&#10;        &lt;/Box&gt;&#10;        &lt;Box style={{ flexDirection: 'row', padding: '11px 14px', backgroundColor: '#F7F9FC', borderBottom: '1px solid #D6DCE5' }}&gt;&#10;            &lt;Text style={{ flex: 1.5, fontSize: 19, color: '#1A2230' }}&gt;CityWalk（4050 帧）&lt;/Text&gt;&#10;            &lt;Text style={{ flex: 1.4, fontSize: 19, fontWeight: 'bold', color: '#1E4FA8' }}&gt;22.03 / 29:38&lt;/Text&gt;&#10;            &lt;Text style={{ flex: 1.7, fontSize: 19, color: '#1A2230' }}&gt;Octree-GS 17.33 / 3:11:40&lt;/Text&gt;&#10;            &lt;Text style={{ flex: 1.4, fontSize: 19, color: '#1A2230' }}&gt;大场景最优&lt;/Text&gt;&#10;        &lt;/Box&gt;&#10;    &lt;/Box&gt;&#10;    &lt;Box style={{ padding: '16px 40px 0px 40px', flexDirection: 'row', gap: 16 }}&gt;&#10;        &lt;Box style={{ flex: 1, backgroundColor: '#F0F5FC', borderRadius: 6, padding: '13px 16px', flexDirection: 'column' }}&gt;&#10;            &lt;Text style={{ fontSize: 36, fontWeight: 'bold', color: '#1E4FA8' }}&gt;0.5 dB&lt;/Text&gt;&#10;            &lt;Text style={{ fontSize: 19, color: '#1A2230', lineHeight: 1.45, marginTop: 4 }}&gt;输入顺序打乱后 PSNR 26.29 → 25.73，&quot;无序&quot;不是门槛&lt;/Text&gt;&#10;        &lt;/Box&gt;&#10;        &lt;Box style={{ flex: 1, backgroundColor: '#F0F5FC', borderRadius: 6, padding: '13px 16px', flexDirection: 'column' }}&gt;&#10;            &lt;Text style={{ fontSize: 36, fontWeight: 'bold', color: '#1E4FA8' }}&gt;8.5&lt;/Text&gt;&#10;            &lt;Text style={{ fontSize: 19, color: '#1A2230', lineHeight: 1.45, marginTop: 4 }}&gt;MipNeRF360 平移 APE（对比 Photo-SLAM 161+）&lt;/Text&gt;&#10;        &lt;/Box&gt;&#10;        &lt;Box style={{ flex: 1, backgroundColor: '#F0F5FC', borderRadius: 6, padding: '13px 16px', flexDirection: 'column' }}&gt;&#10;            &lt;Text style={{ fontSize: 36, fontWeight: 'bold', color: '#1E4FA8' }}&gt;324 ms&lt;/Text&gt;&#10;            &lt;Text style={{ fontSize: 19, color: '#1A2230', lineHeight: 1.45, marginTop: 4 }}&gt;MipNeRF360 平均每帧延迟，具备&quot;即时反馈&quot;资格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381000" y="361950"/>
            <a:ext cx="57435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论文实验：快一个数量级，只差</a:t>
            </a: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1–2 dB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1325225" y="58102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11 / 14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381000" y="923925"/>
            <a:ext cx="11430000" cy="428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514350" y="1028700"/>
            <a:ext cx="2790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数据集（有序）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3305175" y="1028700"/>
            <a:ext cx="2600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本方法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PSNR /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时间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5905500" y="1028700"/>
            <a:ext cx="3171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离线参考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GLOMAP+3DGS(7k)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9077325" y="1028700"/>
            <a:ext cx="2600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结论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381000" y="1352550"/>
            <a:ext cx="11430000" cy="447675"/>
          </a:xfrm>
          <a:custGeom>
            <a:pathLst>
              <a:path w="1200" h="47">
                <a:moveTo>
                  <a:pt x="0" y="46"/>
                </a:moveTo>
                <a:lnTo>
                  <a:pt x="1200" y="46"/>
                </a:lnTo>
                <a:lnTo>
                  <a:pt x="1200" y="47"/>
                </a:lnTo>
                <a:lnTo>
                  <a:pt x="0" y="47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514350" y="1457325"/>
            <a:ext cx="2790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TUM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3305175" y="1457325"/>
            <a:ext cx="2600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>24.77 / 1:22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5905500" y="1457325"/>
            <a:ext cx="3171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25.29 / 3:33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9077325" y="1457325"/>
            <a:ext cx="2600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比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LongSplat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快约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75×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381000" y="1790700"/>
            <a:ext cx="11430000" cy="4381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9" name=""/>
          <p:cNvSpPr/>
          <p:nvPr/>
        </p:nvSpPr>
        <p:spPr>
          <a:xfrm rot="0" flipH="0" flipV="0">
            <a:off x="381000" y="1790700"/>
            <a:ext cx="11430000" cy="447675"/>
          </a:xfrm>
          <a:custGeom>
            <a:pathLst>
              <a:path w="1200" h="47">
                <a:moveTo>
                  <a:pt x="0" y="46"/>
                </a:moveTo>
                <a:lnTo>
                  <a:pt x="1200" y="46"/>
                </a:lnTo>
                <a:lnTo>
                  <a:pt x="1200" y="47"/>
                </a:lnTo>
                <a:lnTo>
                  <a:pt x="0" y="47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514350" y="1895475"/>
            <a:ext cx="2790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MipNeRF360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3305175" y="1895475"/>
            <a:ext cx="2600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>26.29 / 1:17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5905500" y="1895475"/>
            <a:ext cx="3171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27.52 / 8:50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9077325" y="1895475"/>
            <a:ext cx="2600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快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6.9×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，差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1.23 dB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381000" y="2228850"/>
            <a:ext cx="11430000" cy="447675"/>
          </a:xfrm>
          <a:custGeom>
            <a:pathLst>
              <a:path w="1200" h="47">
                <a:moveTo>
                  <a:pt x="0" y="46"/>
                </a:moveTo>
                <a:lnTo>
                  <a:pt x="1200" y="46"/>
                </a:lnTo>
                <a:lnTo>
                  <a:pt x="1200" y="47"/>
                </a:lnTo>
                <a:lnTo>
                  <a:pt x="0" y="47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514350" y="2333625"/>
            <a:ext cx="2790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StaticHikes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3305175" y="2333625"/>
            <a:ext cx="2600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>22.12 / 2:14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5905500" y="2333625"/>
            <a:ext cx="3171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20.23 / 1:02:34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9077325" y="2333625"/>
            <a:ext cx="2600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质量反超离线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381000" y="2667000"/>
            <a:ext cx="11430000" cy="4381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381000" y="2667000"/>
            <a:ext cx="11430000" cy="447675"/>
          </a:xfrm>
          <a:custGeom>
            <a:pathLst>
              <a:path w="1200" h="47">
                <a:moveTo>
                  <a:pt x="0" y="46"/>
                </a:moveTo>
                <a:lnTo>
                  <a:pt x="1200" y="46"/>
                </a:lnTo>
                <a:lnTo>
                  <a:pt x="1200" y="47"/>
                </a:lnTo>
                <a:lnTo>
                  <a:pt x="0" y="47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514350" y="2771775"/>
            <a:ext cx="2790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CityWalk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4050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帧）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3305175" y="2771775"/>
            <a:ext cx="2600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>22.03 / 29:38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905500" y="2771775"/>
            <a:ext cx="3171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Octree-GS 17.33 / 3:11:40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9077325" y="2771775"/>
            <a:ext cx="2600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大场景最优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381000" y="3257550"/>
            <a:ext cx="3705225" cy="1343025"/>
          </a:xfrm>
          <a:prstGeom prst="roundRect">
            <a:avLst>
              <a:gd name="adj" fmla="val 4255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533400" y="3381375"/>
            <a:ext cx="34004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E4FA8"/>
                </a:solidFill>
                <a:latin typeface="Microsoft YaHei"/>
                <a:ea typeface="Microsoft YaHei"/>
              </a:rPr>
              <a:t>0.5 dB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533400" y="3838575"/>
            <a:ext cx="340042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输入顺序打乱后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PSNR 26.29 → 25.73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，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无序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不是门槛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4238625" y="3257550"/>
            <a:ext cx="3714750" cy="1343025"/>
          </a:xfrm>
          <a:prstGeom prst="roundRect">
            <a:avLst>
              <a:gd name="adj" fmla="val 4255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4391025" y="3381375"/>
            <a:ext cx="34099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E4FA8"/>
                </a:solidFill>
                <a:latin typeface="Microsoft YaHei"/>
                <a:ea typeface="Microsoft YaHei"/>
              </a:rPr>
              <a:t>8.5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4391025" y="3838575"/>
            <a:ext cx="34099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MipNeRF360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平移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APE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（对比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Photo-SLAM 161+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8105775" y="3257550"/>
            <a:ext cx="3705225" cy="1343025"/>
          </a:xfrm>
          <a:prstGeom prst="roundRect">
            <a:avLst>
              <a:gd name="adj" fmla="val 4255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258175" y="3381375"/>
            <a:ext cx="34004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E4FA8"/>
                </a:solidFill>
                <a:latin typeface="Microsoft YaHei"/>
                <a:ea typeface="Microsoft YaHei"/>
              </a:rPr>
              <a:t>324 ms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258175" y="3838575"/>
            <a:ext cx="340042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MipNeRF360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平均每帧延迟，具备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即时反馈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资格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74" name="" descr="&lt;Slide style={{ width: '1280px', height: '720px', backgroundColor: '#FFFFFF', padding: '0px', flexDirection: 'column' }}&gt;&#10;    &lt;Box style={{ width: '1280px', height: '8px', backgroundColor: '#1E4FA8' }} /&gt;&#10;    &lt;Box style={{ padding: '30px 40px 0px 40px', flexDirection: 'row', justifyContent: 'space-between', alignItems: 'flex-end' }}&gt;&#10;        &lt;Text style={{ fontSize: 34, fontWeight: 'bold', color: '#1E4FA8' }}&gt;不足与改进：哪些是硬伤，哪些能补&lt;/Text&gt;&#10;        &lt;Text style={{ fontSize: 15, color: '#8B97A8' }}&gt;12 / 14&lt;/Text&gt;&#10;    &lt;/Box&gt;&#10;    &lt;Box style={{ padding: '18px 40px 0px 40px' }}&gt;&#10;        &lt;Text style={{ fontSize: 21, color: '#4A5568', lineHeight: 1.5 }}&gt;左栏是它现在的边界（①–④ 来自论文自述，⑤ 是我们复现的边界），右栏是对应的补法。&lt;/Text&gt;&#10;    &lt;/Box&gt;&#10;    &lt;Box style={{ padding: '12px 40px 0px 40px', flexDirection: 'row', gap: 26 }}&gt;&#10;        &lt;Box style={{ flex: 1, flexDirection: 'column' }}&gt;&#10;            &lt;Box style={{ flexDirection: 'row', alignItems: 'center', gap: 8 }}&gt;&#10;                &lt;Box style={{ width: '5px', height: '26px', backgroundColor: '#D9534F' }} /&gt;&#10;                &lt;Text style={{ fontSize: 26, fontWeight: 'bold', color: '#1A2230' }}&gt;目前方法的不足&lt;/Text&gt;&#10;            &lt;/Box&gt;&#10;            &lt;Text style={{ fontSize: 20, color: '#1A2230', lineHeight: 1.55, marginTop: 16 }}&gt;&lt;b&gt;① 低视差直接失效&lt;/b&gt;　纯旋转或平移太小，三角化不出深度，论文自述这类采集会失败。&lt;/Text&gt;&#10;            &lt;Text style={{ fontSize: 20, color: '#1A2230', lineHeight: 1.55, marginTop: 16 }}&gt;&lt;b&gt;② 精度有天花板&lt;/b&gt;　作者用 NoGraphProp 消融证明图传播不比全局 PGO 差，但同时承认仍不如全局 BA。&lt;/Text&gt;&#10;            &lt;Text style={{ fontSize: 20, color: '#1A2230', lineHeight: 1.55, marginTop: 16 }}&gt;&lt;b&gt;③ 上游依赖重&lt;/b&gt;　VPR + XFeat + LightGlue + Depth Anything 3 串成一条链，任一环失效整条断。&lt;/Text&gt;&#10;            &lt;Text style={{ fontSize: 20, color: '#1A2230', lineHeight: 1.55, marginTop: 16 }}&gt;&lt;b&gt;④ 阈值靠经验&lt;/b&gt;　合并 0.5 px / 占比 20%、跳数 5、建边 500 匹配，换场景需重调。&lt;/Text&gt;&#10;            &lt;Text style={{ fontSize: 20, color: '#1A2230', lineHeight: 1.55, marginTop: 16 }}&gt;&lt;b&gt;⑤ 我们的复现边界&lt;/b&gt;　只跑有序序列（未验真无序）、2 倍降采样、单场景。&lt;/Text&gt;&#10;        &lt;/Box&gt;&#10;        &lt;Box style={{ width: '1px', backgroundColor: '#D6DCE5' }} /&gt;&#10;        &lt;Box style={{ flex: 1, flexDirection: 'column' }}&gt;&#10;            &lt;Box style={{ flexDirection: 'row', alignItems: 'center', gap: 8 }}&gt;&#10;                &lt;Box style={{ width: '5px', height: '26px', backgroundColor: '#1E4FA8' }} /&gt;&#10;                &lt;Text style={{ fontSize: 26, fontWeight: 'bold', color: '#1A2230' }}&gt;以后的改进点&lt;/Text&gt;&#10;            &lt;/Box&gt;&#10;            &lt;Text style={{ fontSize: 20, color: '#1A2230', lineHeight: 1.55, marginTop: 16 }}&gt;&lt;b&gt;① 低视差帧降级&lt;/b&gt;　只参与渲染、不进位姿求解，避免污染轨迹。&lt;/Text&gt;&#10;            &lt;Text style={{ fontSize: 20, color: '#1A2230', lineHeight: 1.55, marginTop: 16 }}&gt;&lt;b&gt;② 在线粗 + 离线精&lt;/b&gt;　实时出预览，结束时用 GLOMAP 回填一次全局 BA，把 1.2 dB 补回来。&lt;/Text&gt;&#10;            &lt;Text style={{ fontSize: 20, color: '#1A2230', lineHeight: 1.55, marginTop: 16 }}&gt;&lt;b&gt;③ 采集端闭环&lt;/b&gt;　实时覆盖率与重投影误差热图，直接提示&quot;这块没拍&quot;——论文 motivation 的自然下一步。&lt;/Text&gt;&#10;            &lt;Text style={{ fontSize: 20, color: '#1A2230', lineHeight: 1.55, marginTop: 16 }}&gt;&lt;b&gt;④ 阈值自适应&lt;/b&gt;　按纹理强度与重叠度在线估计，替代固定常数。&lt;/Text&gt;&#10;            &lt;Text style={{ fontSize: 20, color: '#1A2230', lineHeight: 1.55, marginTop: 16 }}&gt;&lt;b&gt;⑤ 我们能立刻做的&lt;/b&gt;　打乱实验（--shuffle）、全分辨率重跑、再换 2–3 个场景。&lt;/Text&gt;&#10;        &lt;/Box&gt;&#10;    &lt;/Box&gt;&#10;    &lt;Box style={{ margin: '12px 40px 0px 40px', backgroundColor: '#F0F5FC', borderLeft: '5px solid #1E4FA8', padding: '15px 20px' }}&gt;&#10;        &lt;Text style={{ fontSize: 21, color: '#1A2230', lineHeight: 1.5 }}&gt;它把&quot;精度&quot;换成了&quot;时间&quot;。补回精度只有两条路：&lt;b&gt;要么离线回填，要么让采集端少犯错&lt;/b&gt;——后者才是它真正打开的方向。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6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381000" y="361950"/>
            <a:ext cx="5181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不足与改进：哪些是硬伤，哪些能补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1325225" y="58102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12 / 14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381000" y="923925"/>
            <a:ext cx="114300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左栏是它现在的边界（①–④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来自论文自述，⑤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是我们复现的边界），右栏是对应的补法。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381000" y="1428750"/>
            <a:ext cx="47625" cy="2476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504825" y="1400175"/>
            <a:ext cx="17335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目前方法的不足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381000" y="1857375"/>
            <a:ext cx="54673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低视差直接失效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　纯旋转或平移太小，三角化不出深度，论文自述这类采集会失败。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381000" y="2724150"/>
            <a:ext cx="54673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精度有天花板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　作者用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NoGraphProp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消融证明图传播不比全局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PGO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差，但同时承认仍不如全局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BA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381000" y="3590925"/>
            <a:ext cx="54673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上游依赖重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　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VPR + XFeat + LightGlue + Depth Anything 3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串成一条链，任一环失效整条断。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381000" y="4457700"/>
            <a:ext cx="54673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阈值靠经验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　合并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0.5 px /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占比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20%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、跳数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5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、建边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500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匹配，换场景需重调。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381000" y="5324475"/>
            <a:ext cx="54673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⑤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我们的复现边界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　只跑有序序列（未验真无序）、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2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倍降采样、单场景。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6096000" y="1400175"/>
            <a:ext cx="9525" cy="463867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88" name=""/>
          <p:cNvSpPr/>
          <p:nvPr/>
        </p:nvSpPr>
        <p:spPr>
          <a:xfrm rot="0" flipH="0" flipV="0">
            <a:off x="6353175" y="1428750"/>
            <a:ext cx="47625" cy="2476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477000" y="1400175"/>
            <a:ext cx="14859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以后的改进点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353175" y="1857375"/>
            <a:ext cx="5457825" cy="3619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低视差帧降级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　只参与渲染、不进位姿求解，避免污染轨迹。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353175" y="2371725"/>
            <a:ext cx="5457825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在线粗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离线精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　实时出预览，结束时用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GLOMAP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回填一次全局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BA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，把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1.2 dB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补回来。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353175" y="3238500"/>
            <a:ext cx="5457825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采集端闭环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　实时覆盖率与重投影误差热图，直接提示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这块没拍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"——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论文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motivation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的自然下一步。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353175" y="4105275"/>
            <a:ext cx="5457825" cy="3619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阈值自适应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　按纹理强度与重叠度在线估计，替代固定常数。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353175" y="4619625"/>
            <a:ext cx="5457825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⑤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我们能立刻做的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　打乱实验（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--shuffle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）、全分辨率重跑、再换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2–3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个场景。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428625" y="6153150"/>
            <a:ext cx="11430000" cy="6477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96" name=""/>
          <p:cNvSpPr/>
          <p:nvPr/>
        </p:nvSpPr>
        <p:spPr>
          <a:xfrm rot="0" flipH="0" flipV="0">
            <a:off x="381000" y="6153150"/>
            <a:ext cx="11477625" cy="647700"/>
          </a:xfrm>
          <a:custGeom>
            <a:pathLst>
              <a:path w="1205" h="68">
                <a:moveTo>
                  <a:pt x="0" y="0"/>
                </a:moveTo>
                <a:lnTo>
                  <a:pt x="5" y="0"/>
                </a:lnTo>
                <a:lnTo>
                  <a:pt x="5" y="68"/>
                </a:lnTo>
                <a:lnTo>
                  <a:pt x="0" y="6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19125" y="6296025"/>
            <a:ext cx="11001375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它把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精度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换成了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时间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。补回精度只有两条路：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要么离线回填，要么让采集端少犯错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——后者才是它真正打开的方向。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98" name="" descr="&lt;Slide style={{ width: '1280px', height: '720px', backgroundColor: '#FFFFFF', padding: '0px', flexDirection: 'column' }}&gt;&#10;    &lt;Box style={{ width: '1280px', height: '8px', backgroundColor: '#1E4FA8' }} /&gt;&#10;    &lt;Box style={{ padding: '30px 40px 0px 40px', flexDirection: 'row', justifyContent: 'space-between', alignItems: 'flex-end' }}&gt;&#10;        &lt;Text style={{ fontSize: 34, fontWeight: 'bold', color: '#1E4FA8' }}&gt;这条线怎么长出来的：三代工作&lt;/Text&gt;&#10;        &lt;Text style={{ fontSize: 15, color: '#8B97A8' }}&gt;13 / 14&lt;/Text&gt;&#10;    &lt;/Box&gt;&#10;    &lt;Box style={{ padding: '16px 40px 0px 40px' }}&gt;&#10;        &lt;Text style={{ fontSize: 21, color: '#4A5568', lineHeight: 1.5 }}&gt;本文不是孤立的一篇。同一团队三年做的是同一件事：&lt;b&gt;把辐射场重建变&quot;局部、渐进、免位姿&quot;&lt;/b&gt;，本文补上最后一块&quot;无序 + 全局一致&quot;。&lt;/Text&gt;&#10;    &lt;/Box&gt;&#10;&#10;    &lt;Box style={{ padding: '20px 40px 0px 40px', flexDirection: 'row', gap: 24 }}&gt;&#10;        &lt;Box style={{ width: '750px', flexDirection: 'column' }}&gt;&#10;            &lt;Box style={{ flexDirection: 'row', gap: 16 }}&gt;&#10;                &lt;Box style={{ width: '108px', backgroundColor: '#F0F5FC', borderRadius: 4, padding: '8px 8px', alignItems: 'center' }}&gt;&#10;                    &lt;Text style={{ fontSize: 20, fontWeight: 'bold', color: '#1E4FA8' }}&gt;2023&lt;/Text&gt;&#10;                    &lt;Text style={{ fontSize: 15, color: '#4A5568' }}&gt;CVPR&lt;/Text&gt;&#10;                &lt;/Box&gt;&#10;                &lt;Box style={{ flex: 1, flexDirection: 'column' }}&gt;&#10;                    &lt;Text style={{ fontSize: 22, fontWeight: 'bold', color: '#1A2230' }}&gt;渐进式局部辐射场&lt;/Text&gt;&#10;                    &lt;Text style={{ fontSize: 19, color: '#1A2230', lineHeight: 1.5, marginTop: 6 }}&gt;Progressively Optimized Local Radiance Fields：把场景切块、渐进而非一次性优化，是本文&quot;渐进层级&quot;的思想来源。&lt;/Text&gt;&#10;                &lt;/Box&gt;&#10;            &lt;/Box&gt;&#10;            &lt;Box style={{ height: '1px', backgroundColor: '#D6DCE5', marginTop: 16, marginBottom: 16 }} /&gt;&#10;            &lt;Box style={{ flexDirection: 'row', gap: 16 }}&gt;&#10;                &lt;Box style={{ width: '108px', backgroundColor: '#F0F5FC', borderRadius: 4, padding: '8px 8px', alignItems: 'center' }}&gt;&#10;                    &lt;Text style={{ fontSize: 20, fontWeight: 'bold', color: '#1E4FA8' }}&gt;2025&lt;/Text&gt;&#10;                    &lt;Text style={{ fontSize: 15, color: '#4A5568' }}&gt;ACM TOG&lt;/Text&gt;&#10;                &lt;/Box&gt;&#10;                &lt;Box style={{ flex: 1, flexDirection: 'column' }}&gt;&#10;                    &lt;Text style={{ fontSize: 22, fontWeight: 'bold', color: '#1A2230' }}&gt;免位姿的大场景即时重建（直接前作）&lt;/Text&gt;&#10;                    &lt;Text style={{ fontSize: 19, color: '#1A2230', lineHeight: 1.5, marginTop: 6 }}&gt;On-the-fly Reconstruction for Large-Scale NVS from Unposed Images：已做到&quot;不用 COLMAP + 大场景 + 即时&quot;，但&lt;b&gt;要求图像有序、且不做回环&lt;/b&gt;。&lt;/Text&gt;&#10;                &lt;/Box&gt;&#10;            &lt;/Box&gt;&#10;            &lt;Box style={{ height: '1px', backgroundColor: '#D6DCE5', marginTop: 16, marginBottom: 16 }} /&gt;&#10;            &lt;Box style={{ flexDirection: 'row', gap: 16 }}&gt;&#10;                &lt;Box style={{ width: '108px', backgroundColor: '#1E4FA8', borderRadius: 4, padding: '8px 8px', alignItems: 'center' }}&gt;&#10;                    &lt;Text style={{ fontSize: 20, fontWeight: 'bold', color: '#FFFFFF' }}&gt;2026&lt;/Text&gt;&#10;                    &lt;Text style={{ fontSize: 15, color: '#D6E4F7' }}&gt;SIGGRAPH&lt;/Text&gt;&#10;                &lt;/Box&gt;&#10;                &lt;Box style={{ flex: 1, flexDirection: 'column' }}&gt;&#10;                    &lt;Text style={{ fontSize: 22, fontWeight: 'bold', color: '#1A2230' }}&gt;本文：无序匹配 + 簇级回环&lt;/Text&gt;&#10;                    &lt;Text style={{ fontSize: 19, color: '#1A2230', lineHeight: 1.5, marginTop: 6 }}&gt;在前作之上只补两件事——在全部历史里检索重叠帧、用图传播做不重算的回环。增量不大，但恰好补在前作的假设上。&lt;/Text&gt;&#10;                &lt;/Box&gt;&#10;            &lt;/Box&gt;&#10;        &lt;/Box&gt;&#10;&#10;        &lt;Box style={{ flex: 1, backgroundColor: '#F7F9FC', border: '1px solid #D6DCE5', borderRadius: 6, padding: '18px 20px', flexDirection: 'column' }}&gt;&#10;            &lt;Text style={{ fontSize: 23, fontWeight: 'bold', color: '#1A2230' }}&gt;之后呢&lt;/Text&gt;&#10;            &lt;Text style={{ fontSize: 17, color: '#4A5568', lineHeight: 1.45, marginTop: 6 }}&gt;截至 2026-10-29 检索，未见正式发表的后续论文（本文 7 月才上线）。以下为按其脉络的判断：&lt;/Text&gt;&#10;            &lt;Text style={{ fontSize: 19, color: '#1A2230', lineHeight: 1.5, marginTop: 12 }}&gt;&lt;b&gt;① 走向采集端&lt;/b&gt;　从&quot;重建工具&quot;变成&quot;拍摄仪表盘&quot;。&lt;/Text&gt;&#10;            &lt;Text style={{ fontSize: 19, color: '#1A2230', lineHeight: 1.5, marginTop: 10 }}&gt;&lt;b&gt;② 精度回填&lt;/b&gt;　在线粗轨迹 + 收尾一次全局 BA。&lt;/Text&gt;&#10;            &lt;Text style={{ fontSize: 19, color: '#1A2230', lineHeight: 1.5, marginTop: 10 }}&gt;&lt;b&gt;③ 动态与大尺度&lt;/b&gt;　4050 帧已是当前上限，动态物体仍是空白。&lt;/Text&gt;&#10;            &lt;Text style={{ fontSize: 19, color: '#1A2230', lineHeight: 1.5, marginTop: 10 }}&gt;&lt;b&gt;④ 与离线并存&lt;/b&gt;　更可能被采集 App 吸收，而非取代离线流程。&lt;/Text&gt;&#10;        &lt;/Box&gt;&#10;    &lt;/Box&gt;&#10;&#10;    &lt;Box style={{ padding: '16px 40px 0px 40px' }}&gt;&#10;        &lt;Text style={{ fontSize: 16, color: '#8B97A8', lineHeight: 1.45 }}&gt;前两项工作引自本文参考文献（Meuleman et al. 2023 / 2025）；&quot;之后呢&quot;四条为汇报人判断，不代表作者观点，答辩时请按&quot;推测&quot;表述。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0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381000" y="36195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这条线怎么长出来的：三代工作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1325225" y="58102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13 / 14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381000" y="904875"/>
            <a:ext cx="114300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本文不是孤立的一篇。同一团队三年做的是同一件事：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把辐射场重建变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局部、渐进、免位姿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，本文补上最后一块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无序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全局一致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381000" y="1819275"/>
            <a:ext cx="1028700" cy="971550"/>
          </a:xfrm>
          <a:prstGeom prst="roundRect">
            <a:avLst>
              <a:gd name="adj" fmla="val 3922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57225" y="1895475"/>
            <a:ext cx="476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2023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04850" y="2124075"/>
            <a:ext cx="38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CVPR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562100" y="1819275"/>
            <a:ext cx="5962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渐进式局部辐射场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562100" y="2133600"/>
            <a:ext cx="59626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Progressively Optimized Local Radiance Fields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：把场景切块、渐进而非一次性优化，是本文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渐进层级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的思想来源。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381000" y="2943225"/>
            <a:ext cx="714375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10" name=""/>
          <p:cNvSpPr/>
          <p:nvPr/>
        </p:nvSpPr>
        <p:spPr>
          <a:xfrm rot="0" flipH="0" flipV="0">
            <a:off x="381000" y="3105150"/>
            <a:ext cx="1028700" cy="1295400"/>
          </a:xfrm>
          <a:prstGeom prst="roundRect">
            <a:avLst>
              <a:gd name="adj" fmla="val 370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57225" y="3181350"/>
            <a:ext cx="476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2025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561975" y="3409950"/>
            <a:ext cx="676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ACM TOG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562100" y="3105150"/>
            <a:ext cx="5962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免位姿的大场景即时重建（直接前作）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562100" y="3419475"/>
            <a:ext cx="596265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On-the-fly Reconstruction for Large-Scale NVS from Unposed Images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：已做到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不用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COLMAP +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大场景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即时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，但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要求图像有序、且不做回环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381000" y="4552950"/>
            <a:ext cx="714375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16" name=""/>
          <p:cNvSpPr/>
          <p:nvPr/>
        </p:nvSpPr>
        <p:spPr>
          <a:xfrm rot="0" flipH="0" flipV="0">
            <a:off x="381000" y="4714875"/>
            <a:ext cx="1028700" cy="971550"/>
          </a:xfrm>
          <a:prstGeom prst="roundRect">
            <a:avLst>
              <a:gd name="adj" fmla="val 392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57225" y="4791075"/>
            <a:ext cx="476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2026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533400" y="5019675"/>
            <a:ext cx="733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D6E4F7"/>
                </a:solidFill>
                <a:latin typeface="Microsoft YaHei"/>
                <a:ea typeface="Microsoft YaHei"/>
              </a:rPr>
              <a:t>SIGGRAPH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562100" y="4714875"/>
            <a:ext cx="5962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本文：无序匹配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簇级回环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562100" y="5029200"/>
            <a:ext cx="59626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在前作之上只补两件事——在全部历史里检索重叠帧、用图传播做不重算的回环。增量不大，但恰好补在前作的假设上。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7753350" y="1819275"/>
            <a:ext cx="4057650" cy="4267200"/>
          </a:xfrm>
          <a:prstGeom prst="roundRect">
            <a:avLst>
              <a:gd name="adj" fmla="val 140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7943850" y="1990725"/>
            <a:ext cx="36766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之后呢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7943850" y="2314575"/>
            <a:ext cx="36766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截至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2026-10-29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检索，未见正式发表的后续论文（本文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月才上线）。以下为按其脉络的判断：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7943850" y="3000375"/>
            <a:ext cx="36766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走向采集端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　从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重建工具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变成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拍摄仪表盘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7943850" y="3752850"/>
            <a:ext cx="36766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精度回填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　在线粗轨迹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收尾一次全局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BA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943850" y="4505325"/>
            <a:ext cx="36766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动态与大尺度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　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4050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帧已是当前上限，动态物体仍是空白。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943850" y="5257800"/>
            <a:ext cx="36766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与离线并存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　更可能被采集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App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吸收，而非取代离线流程。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381000" y="6238875"/>
            <a:ext cx="114300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前两项工作引自本文参考文献（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Meuleman et al. 2023 / 2025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）；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之后呢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四条为汇报人判断，不代表作者观点，答辩时请按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推测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表述。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29" name="" descr="&lt;Slide style={{ width: '1280px', height: '720px', backgroundColor: '#FFFFFF', padding: '0px', flexDirection: 'column' }}&gt;&#10;    &lt;Box style={{ width: '1280px', height: '8px', backgroundColor: '#1E4FA8' }} /&gt;&#10;    &lt;Box style={{ padding: '30px 40px 0px 40px', flexDirection: 'row', justifyContent: 'space-between', alignItems: 'flex-end' }}&gt;&#10;        &lt;Text style={{ fontSize: 34, fontWeight: 'bold', color: '#1E4FA8' }}&gt;结论：三句话带走&lt;/Text&gt;&#10;        &lt;Text style={{ fontSize: 15, color: '#8B97A8' }}&gt;14 / 14&lt;/Text&gt;&#10;    &lt;/Box&gt;&#10;&#10;    &lt;Box style={{ padding: '24px 40px 0px 40px', flexDirection: 'column', gap: 20 }}&gt;&#10;        &lt;Box style={{ flexDirection: 'row', gap: 18, alignItems: 'flex-start' }}&gt;&#10;            &lt;Box style={{ width: '38px', height: '38px', backgroundColor: '#1E4FA8', borderRadius: 4, alignItems: 'center', justifyContent: 'center' }}&gt;&#10;                &lt;Text style={{ fontSize: 21, fontWeight: 'bold', color: '#FFFFFF' }}&gt;1&lt;/Text&gt;&#10;            &lt;/Box&gt;&#10;            &lt;Box style={{ flex: 1, flexDirection: 'column' }}&gt;&#10;                &lt;Text style={{ fontSize: 26, fontWeight: 'bold', color: '#1A2230' }}&gt;它填的是一块空格，不是&quot;更快的离线 SfM&quot;&lt;/Text&gt;&#10;                &lt;Text style={{ fontSize: 20, color: '#4A5568', lineHeight: 1.45, marginTop: 6 }}&gt;即时、无序、全局一致三者同时成立，此前没有方法做到。速度只是手段，&quot;现场可判断&quot;才是目的。&lt;/Text&gt;&#10;            &lt;/Box&gt;&#10;        &lt;/Box&gt;&#10;        &lt;Box style={{ flexDirection: 'row', gap: 18, alignItems: 'flex-start' }}&gt;&#10;            &lt;Box style={{ width: '38px', height: '38px', backgroundColor: '#1E4FA8', borderRadius: 4, alignItems: 'center', justifyContent: 'center' }}&gt;&#10;                &lt;Text style={{ fontSize: 21, fontWeight: 'bold', color: '#FFFFFF' }}&gt;2&lt;/Text&gt;&#10;            &lt;/Box&gt;&#10;            &lt;Box style={{ flex: 1, flexDirection: 'column' }}&gt;&#10;                &lt;Text style={{ fontSize: 26, fontWeight: 'bold', color: '#1A2230' }}&gt;题眼是用&quot;图上的距离&quot;替换&quot;全局优化的解&quot;&lt;/Text&gt;&#10;                &lt;Text style={{ fontSize: 20, color: '#4A5568', lineHeight: 1.45, marginTop: 6 }}&gt;判定看跳数不看时间，求解用焊接窗口得 Sim(3)，再把修正按测地距离摊给全图——回环不必重算第二遍。&lt;/Text&gt;&#10;            &lt;/Box&gt;&#10;        &lt;/Box&gt;&#10;        &lt;Box style={{ flexDirection: 'row', gap: 18, alignItems: 'flex-start' }}&gt;&#10;            &lt;Box style={{ width: '38px', height: '38px', backgroundColor: '#0E3F8C', borderRadius: 4, alignItems: 'center', justifyContent: 'center' }}&gt;&#10;                &lt;Text style={{ fontSize: 21, fontWeight: 'bold', color: '#FFFFFF' }}&gt;3&lt;/Text&gt;&#10;            &lt;/Box&gt;&#10;            &lt;Box style={{ flex: 1, flexDirection: 'column' }}&gt;&#10;                &lt;Text style={{ fontSize: 26, fontWeight: 'bold', color: '#1A2230' }}&gt;代价是真的：1.2 dB 与一条更重的依赖链&lt;/Text&gt;&#10;                &lt;Text style={{ fontSize: 20, color: '#4A5568', lineHeight: 1.45, marginTop: 6 }}&gt;精度上限低于全局 BA，低视差会失败，阈值靠经验。它换的是时间，不是免费午餐。&lt;/Text&gt;&#10;            &lt;/Box&gt;&#10;        &lt;/Box&gt;&#10;    &lt;/Box&gt;&#10;&#10;    &lt;Box style={{ padding: '22px 40px 0px 40px', flexDirection: 'row', gap: 16 }}&gt;&#10;        &lt;Box style={{ flex: 1, backgroundColor: '#F0F5FC', borderRadius: 6, padding: '12px 16px', flexDirection: 'row', alignItems: 'baseline', gap: 10 }}&gt;&#10;            &lt;Text style={{ fontSize: 32, fontWeight: 'bold', color: '#1E4FA8' }}&gt;26.29 dB&lt;/Text&gt;&#10;            &lt;Text style={{ fontSize: 17, color: '#1A2230' }}&gt;论文在 MipNeRF360 的成绩&lt;/Text&gt;&#10;        &lt;/Box&gt;&#10;        &lt;Box style={{ flex: 1, backgroundColor: '#F0F5FC', borderRadius: 6, padding: '12px 16px', flexDirection: 'row', alignItems: 'baseline', gap: 10 }}&gt;&#10;            &lt;Text style={{ fontSize: 32, fontWeight: 'bold', color: '#1E4FA8' }}&gt;0.5 dB&lt;/Text&gt;&#10;            &lt;Text style={{ fontSize: 17, color: '#1A2230' }}&gt;输入打乱后的代价&lt;/Text&gt;&#10;        &lt;/Box&gt;&#10;        &lt;Box style={{ flex: 1, backgroundColor: '#F0F5FC', borderRadius: 6, padding: '12px 16px', flexDirection: 'row', alignItems: 'baseline', gap: 10 }}&gt;&#10;            &lt;Text style={{ fontSize: 32, fontWeight: 'bold', color: '#1E4FA8' }}&gt;25.95 dB&lt;/Text&gt;&#10;            &lt;Text style={{ fontSize: 17, color: '#1A2230' }}&gt;我们自己跑出来的&lt;/Text&gt;&#10;        &lt;/Box&gt;&#10;    &lt;/Box&gt;&#10;&#10;    &lt;Box style={{ margin: '16px 40px 0px 40px', backgroundColor: '#1E4FA8', borderRadius: 6, padding: '15px 22px' }}&gt;&#10;        &lt;Text style={{ fontSize: 22, fontWeight: 'bold', color: '#FFFFFF', lineHeight: 1.45 }}&gt;一句话总结：它把 3DGS 从&quot;拍完再算的离线工具&quot;变成了&quot;拍摄现场的仪表盘&quot;，代价是让出一点精度。&lt;/Text&gt;&#10;    &lt;/Box&gt;&#10;&#10;    &lt;Box style={{ marginTop: 'auto', padding: '20px 40px 0px 40px', paddingBottom: '26px', flexDirection: 'row', justifyContent: 'space-between', alignItems: 'center' }}&gt;&#10;        &lt;Text style={{ fontSize: 26, fontWeight: 'bold', color: '#1E4FA8' }}&gt;谢谢，欢迎提问&lt;/Text&gt;&#10;        &lt;Text style={{ fontSize: 15, color: '#8B97A8' }}&gt;论文：SIGGRAPH 2026 / arXiv:2607.14481 · 代码：github.com/graphdeco-inria/i3dgs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1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381000" y="36195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结论：三句话带走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1325225" y="58102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14 / 14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381000" y="981075"/>
            <a:ext cx="361950" cy="361950"/>
          </a:xfrm>
          <a:prstGeom prst="roundRect">
            <a:avLst>
              <a:gd name="adj" fmla="val 1052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504825" y="1038225"/>
            <a:ext cx="123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914400" y="981075"/>
            <a:ext cx="10896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它填的是一块空格，不是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更快的离线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SfM"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914400" y="1343025"/>
            <a:ext cx="10896600" cy="3333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即时、无序、全局一致三者同时成立，此前没有方法做到。速度只是手段，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现场可判断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才是目的。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381000" y="1866900"/>
            <a:ext cx="361950" cy="361950"/>
          </a:xfrm>
          <a:prstGeom prst="roundRect">
            <a:avLst>
              <a:gd name="adj" fmla="val 1052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504825" y="1924050"/>
            <a:ext cx="123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914400" y="1866900"/>
            <a:ext cx="10896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题眼是用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图上的距离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替换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全局优化的解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914400" y="2228850"/>
            <a:ext cx="10896600" cy="3333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判定看跳数不看时间，求解用焊接窗口得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Sim(3)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，再把修正按测地距离摊给全图——回环不必重算第二遍。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381000" y="2752725"/>
            <a:ext cx="361950" cy="361950"/>
          </a:xfrm>
          <a:prstGeom prst="roundRect">
            <a:avLst>
              <a:gd name="adj" fmla="val 1052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504825" y="2809875"/>
            <a:ext cx="123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914400" y="2752725"/>
            <a:ext cx="10896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代价是真的：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1.2 dB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与一条更重的依赖链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914400" y="3114675"/>
            <a:ext cx="10896600" cy="3333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精度上限低于全局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BA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，低视差会失败，阈值靠经验。它换的是时间，不是免费午餐。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381000" y="3657600"/>
            <a:ext cx="3705225" cy="600075"/>
          </a:xfrm>
          <a:prstGeom prst="roundRect">
            <a:avLst>
              <a:gd name="adj" fmla="val 952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533400" y="3771900"/>
            <a:ext cx="12954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E4FA8"/>
                </a:solidFill>
                <a:latin typeface="Microsoft YaHei"/>
                <a:ea typeface="Microsoft YaHei"/>
              </a:rPr>
              <a:t>26.29 dB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924050" y="3771900"/>
            <a:ext cx="20097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论文在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MipNeRF360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的成绩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4238625" y="3657600"/>
            <a:ext cx="3714750" cy="600075"/>
          </a:xfrm>
          <a:prstGeom prst="roundRect">
            <a:avLst>
              <a:gd name="adj" fmla="val 952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4391025" y="3771900"/>
            <a:ext cx="9715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E4FA8"/>
                </a:solidFill>
                <a:latin typeface="Microsoft YaHei"/>
                <a:ea typeface="Microsoft YaHei"/>
              </a:rPr>
              <a:t>0.5 dB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5457825" y="3771900"/>
            <a:ext cx="12954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输入打乱后的代价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8105775" y="3657600"/>
            <a:ext cx="3705225" cy="600075"/>
          </a:xfrm>
          <a:prstGeom prst="roundRect">
            <a:avLst>
              <a:gd name="adj" fmla="val 952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258175" y="3771900"/>
            <a:ext cx="13430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E4FA8"/>
                </a:solidFill>
                <a:latin typeface="Microsoft YaHei"/>
                <a:ea typeface="Microsoft YaHei"/>
              </a:rPr>
              <a:t>25.95 dB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9696450" y="3771900"/>
            <a:ext cx="12954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我们自己跑出来的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381000" y="4410075"/>
            <a:ext cx="11430000" cy="657225"/>
          </a:xfrm>
          <a:prstGeom prst="roundRect">
            <a:avLst>
              <a:gd name="adj" fmla="val 869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590550" y="4552950"/>
            <a:ext cx="11010900" cy="3714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一句话总结：它把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3DGS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从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拍完再算的离线工具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变成了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拍摄现场的仪表盘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，代价是让出一点精度。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381000" y="6305550"/>
            <a:ext cx="17335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E4FA8"/>
                </a:solidFill>
                <a:latin typeface="Microsoft YaHei"/>
                <a:ea typeface="Microsoft YaHei"/>
              </a:rPr>
              <a:t>谢谢，欢迎提问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048375" y="6372225"/>
            <a:ext cx="5762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论文：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SIGGRAPH 2026 / arXiv:2607.14481 ·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代码：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github.com/graphdeco-inria/i3dgs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2026-10-29T17:59:43Z</dcterms:created>
  <dcterms:modified xsi:type="dcterms:W3CDTF">2026-10-29T17:59:43Z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{"AIGC":{"Label":"1","ContentProducer":"00119111010856365494821B355","ProduceID":"01a18714365f7f028ad222d7286ccdc9","ReservedCode1":"","ContentPropagator":"00119111010856365494821B355","PropagateID":"01a18714365f7f028ad222d7286ccdc9","ReservedCode2":""}}</vt:lpwstr>
  </property>
</Properties>
</file>